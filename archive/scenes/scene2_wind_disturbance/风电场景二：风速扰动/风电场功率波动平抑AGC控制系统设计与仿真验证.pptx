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2208" y="8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/专家好，今天我汇报的主题是风电场功率波动平抑AGC控制系统的设计与仿真验证。本次汇报将从项目背景、系统原理、核心算法、仿真验证、风光对比几个方面，完整介绍这套符合工业现场标准的功率平抑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本次汇报我将按照这个目录展开，先从项目的背景和意义入手，讲解这套系统的设计初衷，再逐步拆解系统的控制逻辑、核心算法，最后通过仿真验证方案的有效性，并对比风光电场AGC的核心差异。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项目背景，风电作为新能源主力，其并网稳定性一直是行业核心问题。风速的随机波动会直接导致发电功率大幅波动，不仅会触发电网的考核罚款，还会损耗风机设备，甚至导致弃风。而传统的纯反馈控制，总是等波动发生了才补救，滞后性很强。因此我们设计了这套前馈+反馈的AGC系统，提前预判、提前准备，精准平抑功率波动，同时兼顾发电收益和设备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这是整套系统的核心控制时序，也是我们方案的核心设计逻辑。整个流程分为三个阶段：首先是预控阶段，我们通过预测模块提前预判风速波动，提前预留调节空间，解决传统方案的滞后性；然后是闭环调节阶段，波动发生后，我们以50ms的工业级周期执行高频闭环调节，精准平抑功率偏差；最后是恢复阶段，波动平息后，我们切回经济模式，最大化发电收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套系统采用四层分层协同架构，完全匹配工业现场风电场的控制标准，权责清晰。最上层的预测模块是我们的「眼睛」，负责提前预判风况；第二层AGC是全场的「大脑」，负责核心决策；第三层风机群控是承上启下的调度中枢，负责把全场指令拆解为单台风机的任务；最下层的单机控制器是最终的执行者，负责物理调节和设备安全。四层协同，完成整个功率平抑的全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套系统的核心控制算法，是双PID串级闭环控制，这也是风电行业的工业级标准架构。我们分为内外两层PID：外层是场级PID，管全场的总功率，保证符合电网的考核要求；内层是单机PID，管每台风机的精准执行，同时兼顾设备安全。两层PID协同工作，既保证了全场的合规性，又避免了单台风机调节过度，完美适配风电场的分级控制逻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除了双PID闭环，这套系统还有两个核心的控制策略：裕度预留和差异化调节。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首先是裕度预留，简单来说，就是给风电场留好「提速和刹车的余量」，提前预判风速变化，提前把调节空间留出来，等波动真的来了，我们有足够的能力快速调整，不会手忙脚乱。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是差异化调节，针对风速上升和下降的不同场景，我们匹配不同的调节优先级，风速上升优先调桨距快速限功率，风速下降优先释放转子动能快速补功率，同时按每台风机的调节裕度分配任务，既保证了调节速度，又保护了风机设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风速上升的阵风场景，我们可以看到，哪怕风速从8m/s持续上升到13m/s，涨幅超过60%，但通过我们的系统调节，全场的实际发电功率始终稳定在电网要求的10MW附近，最大偏差不超过0.05MW，远优于国标要求。同时系统提前10s就完成了模式切换和裕度预留，没有出现功率超调，完美实现了阵风场景的功率平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风速下降的衰减场景，同样，哪怕风速从12m/s下跌到7m/s，我们的系统依然能让全场功率稳定在10MW附近，没有出现功率缺额。这得益于我们提前预留的上调裕度，以及风速下降时优先释放转子动能的调节策略，完美解决了风速下跌带来的功率缺口问题。通过两个场景的验证，我们可以确认，这套系统对风速的双向波动，都有非常优异的平抑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很多人会问，风电的AGC和光伏的AGC有什么区别？这里我给大家做了一个完整的对比。最核心的区别是，风电是机械+电力电子的混合调节，而光伏是纯电力电子调节。风电的风速波动是持续渐变的，所以我们需要前馈预控提前准备；而光伏的辐照度波动是瞬时突变的，依赖逆变器的快速响应。同时风电的裕度预留靠机械动作，没有发电量损失，而光伏的裕度预留只能靠弃光，这也是两者最核心的差异之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总结与展望。通过本次项目，我们完成了一套完整的、符合工业现场标准的风电场功率平抑AGC系统，通过前馈+反馈的控制逻辑，完美解决了风速波动带来的功率不稳定问题，仿真结果验证了方案的有效性。未来我们还会从三个方向优化：一是用深度学习提升风速预测精度，二是加入尾流优化提升发电效率，三是拓展风储协同的场景，适配更严苛的电网要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我的汇报到此结束，感谢各位老师和专家的聆听，欢迎大家提出宝贵的意见和建议。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Relationship Id="rId9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16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9.svg"/><Relationship Id="rId10" Type="http://schemas.openxmlformats.org/officeDocument/2006/relationships/image" Target="../media/image31.svg"/><Relationship Id="rId4" Type="http://schemas.openxmlformats.org/officeDocument/2006/relationships/image" Target="../media/image18.svg"/><Relationship Id="rId9" Type="http://schemas.openxmlformats.org/officeDocument/2006/relationships/image" Target="../media/image3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2385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风电场功率波动平抑AGC控制系统设计与仿真验证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800100" y="1670050"/>
            <a:ext cx="3810000" cy="406400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2563EB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4500" y="2540000"/>
            <a:ext cx="1905000" cy="190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4953000" y="1778000"/>
            <a:ext cx="673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核心技术：双PID串级闭环</a:t>
            </a:r>
            <a:r>
              <a:rPr lang="en-US" sz="22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22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前馈预控策略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6486">
            <a:off x="4953006" y="2406650"/>
            <a:ext cx="673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5524500" y="2667000"/>
            <a:ext cx="2032000" cy="1778000"/>
          </a:xfrm>
          <a:prstGeom prst="roundRect">
            <a:avLst>
              <a:gd name="adj" fmla="val 7142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00" y="2984500"/>
            <a:ext cx="635000" cy="635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588000" y="3746500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双PID串级闭环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精准功率跟踪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289925" y="2667000"/>
            <a:ext cx="2032000" cy="1778000"/>
          </a:xfrm>
          <a:prstGeom prst="roundRect">
            <a:avLst>
              <a:gd name="adj" fmla="val 7142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8425" y="29845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353425" y="3746500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前馈预控机制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快速波动抑制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4953000" y="4826000"/>
            <a:ext cx="6350000" cy="889000"/>
          </a:xfrm>
          <a:prstGeom prst="roundRect">
            <a:avLst>
              <a:gd name="adj" fmla="val 14285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0" y="5080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905500" y="4978400"/>
            <a:ext cx="508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卓世杰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| 汇报日期：</a:t>
            </a:r>
            <a:r>
              <a:rPr lang="en-US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2026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年4月7日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ABE2E5-0D4E-18CC-CE0B-AEB011C5716A}"/>
              </a:ext>
            </a:extLst>
          </p:cNvPr>
          <p:cNvSpPr txBox="1"/>
          <p:nvPr/>
        </p:nvSpPr>
        <p:spPr>
          <a:xfrm>
            <a:off x="4125912" y="1073349"/>
            <a:ext cx="863917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场景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：应对湍流与风速渐变波动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汇报目录 | 风电场AGC控制系统设计与验证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6604000" cy="584200"/>
          </a:xfrm>
          <a:prstGeom prst="roundRect">
            <a:avLst>
              <a:gd name="adj" fmla="val 2173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952500" y="1498600"/>
            <a:ext cx="381000" cy="342900"/>
          </a:xfrm>
          <a:prstGeom prst="roundRect">
            <a:avLst>
              <a:gd name="adj" fmla="val 18518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524000" y="14351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62000" y="2133600"/>
            <a:ext cx="6604000" cy="584200"/>
          </a:xfrm>
          <a:prstGeom prst="roundRect">
            <a:avLst>
              <a:gd name="adj" fmla="val 2173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2235200"/>
            <a:ext cx="381000" cy="381000"/>
          </a:xfrm>
          <a:prstGeom prst="roundRect">
            <a:avLst>
              <a:gd name="adj" fmla="val 16666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1717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系统核心控制全流程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762000" y="2870200"/>
            <a:ext cx="6604000" cy="584200"/>
          </a:xfrm>
          <a:prstGeom prst="roundRect">
            <a:avLst>
              <a:gd name="adj" fmla="val 2173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2500" y="2971800"/>
            <a:ext cx="381000" cy="381000"/>
          </a:xfrm>
          <a:prstGeom prst="roundRect">
            <a:avLst>
              <a:gd name="adj" fmla="val 16666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524000" y="29083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系统分层架构与模块职责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762000" y="3606800"/>
            <a:ext cx="6604000" cy="584200"/>
          </a:xfrm>
          <a:prstGeom prst="roundRect">
            <a:avLst>
              <a:gd name="adj" fmla="val 2173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52500" y="3708400"/>
            <a:ext cx="381000" cy="381000"/>
          </a:xfrm>
          <a:prstGeom prst="roundRect">
            <a:avLst>
              <a:gd name="adj" fmla="val 16666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36449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核心控制算法详解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343400"/>
            <a:ext cx="6604000" cy="584200"/>
          </a:xfrm>
          <a:prstGeom prst="roundRect">
            <a:avLst>
              <a:gd name="adj" fmla="val 2173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52500" y="4445000"/>
            <a:ext cx="381000" cy="381000"/>
          </a:xfrm>
          <a:prstGeom prst="roundRect">
            <a:avLst>
              <a:gd name="adj" fmla="val 16666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24000" y="43815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系统仿真与结果验证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080000"/>
            <a:ext cx="6604000" cy="584200"/>
          </a:xfrm>
          <a:prstGeom prst="roundRect">
            <a:avLst>
              <a:gd name="adj" fmla="val 2173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52500" y="5181600"/>
            <a:ext cx="381000" cy="381000"/>
          </a:xfrm>
          <a:prstGeom prst="roundRect">
            <a:avLst>
              <a:gd name="adj" fmla="val 16666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524000" y="51181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风/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光伏电场AGC模式对比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762000" y="5816600"/>
            <a:ext cx="6604000" cy="584200"/>
          </a:xfrm>
          <a:prstGeom prst="roundRect">
            <a:avLst>
              <a:gd name="adj" fmla="val 2173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52500" y="5918200"/>
            <a:ext cx="381000" cy="381000"/>
          </a:xfrm>
          <a:prstGeom prst="roundRect">
            <a:avLst>
              <a:gd name="adj" fmla="val 16666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7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524000" y="58547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747000" y="1397000"/>
            <a:ext cx="3683000" cy="5003800"/>
          </a:xfrm>
          <a:prstGeom prst="roundRect">
            <a:avLst>
              <a:gd name="adj" fmla="val 5172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2563EB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445500" y="1841500"/>
            <a:ext cx="2286000" cy="22860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 cap="flat" cmpd="sng">
            <a:solidFill>
              <a:srgbClr val="FFF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99500" y="2095500"/>
            <a:ext cx="1778000" cy="1778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747000" y="4318000"/>
            <a:ext cx="368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智能AGC控制技术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7188">
            <a:off x="8318516" y="4819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7937500" y="5016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基于模型预测控制的风光电场协同调度方案，提升电网调频精度与稳定性。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11"/>
          <p:cNvSpPr/>
          <p:nvPr/>
        </p:nvSpPr>
        <p:spPr>
          <a:xfrm>
            <a:off x="254000" y="1006475"/>
            <a:ext cx="5207000" cy="4953000"/>
          </a:xfrm>
          <a:prstGeom prst="roundRect">
            <a:avLst>
              <a:gd name="adj" fmla="val 2564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563EB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AutoShape 2"/>
          <p:cNvSpPr/>
          <p:nvPr/>
        </p:nvSpPr>
        <p:spPr>
          <a:xfrm>
            <a:off x="254000" y="1524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508000" y="21082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现状与挑战</a:t>
            </a:r>
            <a:r>
              <a:rPr lang="en-US" sz="14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>
              <a:solidFill>
                <a:schemeClr val="bg1"/>
              </a:solidFill>
            </a:endParaRP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2025年风电装机破4亿千瓦，但风速随机波动导致功率不稳，引发电网考核罚款、设备寿命缩短及弃风风险。</a:t>
            </a:r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 dirty="0" err="1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现有方案局限：纯反馈控制滞后性强，无法应对持续波动</a:t>
            </a:r>
            <a:r>
              <a:rPr lang="en-US" sz="1300" b="1" i="0" u="none" strike="noStrike" dirty="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254000" y="1006475"/>
            <a:ext cx="5207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08000" y="4108451"/>
            <a:ext cx="4699000" cy="1031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核心技术突破</a:t>
            </a:r>
            <a:r>
              <a:rPr lang="en-US" sz="1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DBEAFE"/>
                </a:solidFill>
                <a:latin typeface="Noto Sans SC"/>
                <a:ea typeface="Noto Sans SC"/>
                <a:cs typeface="Noto Sans SC"/>
                <a:sym typeface="Noto Sans SC"/>
              </a:rPr>
              <a:t>设计「前馈预控+双PID闭环」场级AGC，提前10s预判波动，预留调节裕度，解决滞后性。</a:t>
            </a:r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 dirty="0">
                <a:solidFill>
                  <a:srgbClr val="FEF3C7"/>
                </a:solidFill>
                <a:latin typeface="Noto Sans SC"/>
                <a:ea typeface="Noto Sans SC"/>
                <a:cs typeface="Noto Sans SC"/>
                <a:sym typeface="Noto Sans SC"/>
              </a:rPr>
              <a:t>50ms高频调节，精准平抑功率波动，兼顾安全与收益。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F6219DD-5212-70C4-5CA5-9890B2A3A5F9}"/>
              </a:ext>
            </a:extLst>
          </p:cNvPr>
          <p:cNvSpPr txBox="1"/>
          <p:nvPr/>
        </p:nvSpPr>
        <p:spPr>
          <a:xfrm>
            <a:off x="635000" y="1104900"/>
            <a:ext cx="444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从痛点到解决方案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813F5A0D-9557-5361-82E9-5EDB683DC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200" y="836369"/>
            <a:ext cx="6341052" cy="50913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系统核心控制全流程时序逻辑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558800"/>
          </a:xfrm>
          <a:prstGeom prst="roundRect">
            <a:avLst>
              <a:gd name="adj" fmla="val 22727"/>
            </a:avLst>
          </a:prstGeom>
          <a:solidFill>
            <a:srgbClr val="2563EB">
              <a:alpha val="10000"/>
            </a:srgbClr>
          </a:solidFill>
          <a:ln w="12700" cap="flat" cmpd="sng">
            <a:solidFill>
              <a:srgbClr val="2563EB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核心思想：前馈预控提前布局</a:t>
            </a:r>
            <a:r>
              <a:rPr lang="en-US" sz="1800" b="1" i="0" u="none" strike="noStrike" dirty="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800" b="1" i="0" u="none" strike="noStrike" dirty="0" err="1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反馈闭环精准修正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3937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2563EB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714500" y="2413000"/>
            <a:ext cx="1397000" cy="13970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8500" y="2667000"/>
            <a:ext cx="889000" cy="889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952500" y="3937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预控阶段</a:t>
            </a:r>
            <a:r>
              <a:rPr lang="en-US" sz="20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提前布局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952500" y="4445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提前10s发出风速波动预警，AGC切换平抑模式，预留调节裕度，解决滞后问题。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4445000" y="2032000"/>
            <a:ext cx="3302000" cy="3937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2563EB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45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397500" y="2413000"/>
            <a:ext cx="1397000" cy="13970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1500" y="2667000"/>
            <a:ext cx="889000" cy="889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635500" y="3937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闭环调节 · 精准平抑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35500" y="4445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波动发生后，以50ms为周期高频循环：偏差监测→指令下发→差异化调节→状态反馈。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8128000" y="2032000"/>
            <a:ext cx="3302000" cy="3937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2563EB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128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080500" y="2413000"/>
            <a:ext cx="1397000" cy="13970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4500" y="2667000"/>
            <a:ext cx="889000" cy="889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318500" y="3937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恢复优化 · 收益最大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18500" y="4445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风速稳定后，切回经济分配模式，重新优化全场功率，确保发电收益最大化回归。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0" y="6413500"/>
            <a:ext cx="12192000" cy="444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0" y="6413500"/>
            <a:ext cx="1219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时序逻辑闭环：预判风险 → 精准控制 → 效益回归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系统分层架构与模块职责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2540000" cy="431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7200" y="1714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762000" y="2667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第一层 · 感知层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预测模块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556000"/>
            <a:ext cx="2286000" cy="508000"/>
          </a:xfrm>
          <a:prstGeom prst="roundRect">
            <a:avLst>
              <a:gd name="adj" fmla="val 12500"/>
            </a:avLst>
          </a:prstGeom>
          <a:solidFill>
            <a:srgbClr val="E3F2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89000" y="36576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前馈预判的「眼睛」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4191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超短期风速预测，提前发出风速波动/稳定预警，是整个流程的触发源。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67100" y="1524000"/>
            <a:ext cx="2540000" cy="431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467100" y="1524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2300" y="1714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467100" y="2667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第二层 · 决策层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467100" y="304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AGC中枢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594100" y="3556000"/>
            <a:ext cx="2286000" cy="508000"/>
          </a:xfrm>
          <a:prstGeom prst="roundRect">
            <a:avLst>
              <a:gd name="adj" fmla="val 12500"/>
            </a:avLst>
          </a:prstGeom>
          <a:solidFill>
            <a:srgbClr val="E3F2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3594100" y="36576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全场控制的「大脑</a:t>
            </a:r>
            <a:r>
              <a:rPr lang="en-US" sz="13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」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3594100" y="4191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模式切换、全场功率闭环计算、调节指令下发与效果评估，是控制逻辑核心。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172200" y="1524000"/>
            <a:ext cx="2540000" cy="431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172200" y="1524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00" y="1714500"/>
            <a:ext cx="609600" cy="609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172200" y="2667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第三层 · 调度层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172200" y="304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风机群控</a:t>
            </a: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6299200" y="3556000"/>
            <a:ext cx="2286000" cy="508000"/>
          </a:xfrm>
          <a:prstGeom prst="roundRect">
            <a:avLst>
              <a:gd name="adj" fmla="val 12500"/>
            </a:avLst>
          </a:prstGeom>
          <a:solidFill>
            <a:srgbClr val="E3F2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299200" y="36576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承上启下的「中枢」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99200" y="4191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差异化功率任务分配、全场风机状态汇总及调节余量评估，对接AGC与单机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8877300" y="1524000"/>
            <a:ext cx="2540000" cy="431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877300" y="1524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42500" y="1714500"/>
            <a:ext cx="609600" cy="609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8877300" y="2667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第四层 · 执行层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877300" y="304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单机控制器</a:t>
            </a:r>
            <a:endParaRPr lang="en-US" sz="1100" dirty="0"/>
          </a:p>
        </p:txBody>
      </p:sp>
      <p:sp>
        <p:nvSpPr>
          <p:cNvPr id="32" name="AutoShape 32"/>
          <p:cNvSpPr/>
          <p:nvPr/>
        </p:nvSpPr>
        <p:spPr>
          <a:xfrm>
            <a:off x="9004300" y="3556000"/>
            <a:ext cx="2286000" cy="508000"/>
          </a:xfrm>
          <a:prstGeom prst="roundRect">
            <a:avLst>
              <a:gd name="adj" fmla="val 12500"/>
            </a:avLst>
          </a:prstGeom>
          <a:solidFill>
            <a:srgbClr val="E3F2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9004300" y="36576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终端执行的「手脚」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004300" y="4191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桨距角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转速物理调节、实时状态采集及设备安全兜底，是指令的最终执行者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5" name="AutoShape 35"/>
          <p:cNvSpPr/>
          <p:nvPr/>
        </p:nvSpPr>
        <p:spPr>
          <a:xfrm>
            <a:off x="762000" y="6096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762000" y="61976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四层协同架构：权责清晰，精准匹配工业现场风电场控制标准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核心控制算法：双PID串级闭环控制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095500"/>
          </a:xfrm>
          <a:prstGeom prst="roundRect">
            <a:avLst>
              <a:gd name="adj" fmla="val 606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2563EB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01600" cy="20955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1968500"/>
            <a:ext cx="812800" cy="812800"/>
          </a:xfrm>
          <a:prstGeom prst="ellipse">
            <a:avLst/>
          </a:prstGeom>
          <a:solidFill>
            <a:srgbClr val="2563E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400" y="21209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159000" y="1841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场级外环 PID (全局控制)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159000" y="2286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目标：跟踪电网下发功率，满足并网考核。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000500"/>
            <a:ext cx="5207000" cy="2095500"/>
          </a:xfrm>
          <a:prstGeom prst="roundRect">
            <a:avLst>
              <a:gd name="adj" fmla="val 606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2563EB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4000500"/>
            <a:ext cx="101600" cy="2095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143000" y="4318000"/>
            <a:ext cx="812800" cy="8128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5400" y="44704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159000" y="4191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单机内环 PID (精准执行)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159000" y="46355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目标：执行群控指令，兼顾精度与设备安全。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651000"/>
            <a:ext cx="5207000" cy="4445000"/>
          </a:xfrm>
          <a:prstGeom prst="roundRect">
            <a:avLst>
              <a:gd name="adj" fmla="val 2857"/>
            </a:avLst>
          </a:prstGeom>
          <a:solidFill>
            <a:srgbClr val="E6EFFE">
              <a:alpha val="100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223000" y="18415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控制信号闭环流向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2413000"/>
            <a:ext cx="4699000" cy="508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00" y="25146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2476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电网下发：全场目标总功率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36000" y="29591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477000" y="3238500"/>
            <a:ext cx="4699000" cy="508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33401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12000" y="3302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场级运算：输出总调节量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ΔP</a:t>
            </a:r>
            <a:endParaRPr lang="en-US" sz="1100" dirty="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36000" y="3784600"/>
            <a:ext cx="254000" cy="254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477000" y="4064000"/>
            <a:ext cx="4699000" cy="508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41656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112000" y="4127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群控分配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单机执行：桨距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转速调节</a:t>
            </a:r>
            <a:endParaRPr lang="en-US" sz="1100" dirty="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36000" y="4610100"/>
            <a:ext cx="254000" cy="254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6477000" y="4889500"/>
            <a:ext cx="4699000" cy="508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49911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112000" y="4953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闭环反馈：实时功率回传与偏差修正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62000" y="6223000"/>
            <a:ext cx="106680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核心价值：分层控制，兼顾全场考核合规性与单机设备安全性，调节精度提升30%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核心控制策略：裕度预留与差异化调节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2563EB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79500" y="1778000"/>
            <a:ext cx="762000" cy="762000"/>
          </a:xfrm>
          <a:prstGeom prst="ellipse">
            <a:avLst/>
          </a:prstGeom>
          <a:solidFill>
            <a:srgbClr val="2563E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1900" y="19304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68500" y="1879600"/>
            <a:ext cx="368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调节裕度预留机制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" y="2730500"/>
            <a:ext cx="4572000" cy="1016000"/>
          </a:xfrm>
          <a:prstGeom prst="roundRect">
            <a:avLst>
              <a:gd name="adj" fmla="val 625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裕度核心定义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预留功率调节的“备用空间”，分为上调裕度（可增发）和下调裕度（可减发）。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1079500" y="3873500"/>
            <a:ext cx="4572000" cy="1206500"/>
          </a:xfrm>
          <a:prstGeom prst="roundRect">
            <a:avLst>
              <a:gd name="adj" fmla="val 5263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4064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44650" y="4038600"/>
            <a:ext cx="184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风速上升预警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预留下调裕度，限制桨距角下限，保留减发空间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2500" y="4064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873500" y="4038600"/>
            <a:ext cx="165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风速下降预警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预留上调裕度，限制满发，保留增发空间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79500" y="5207000"/>
            <a:ext cx="4572000" cy="584200"/>
          </a:xfrm>
          <a:prstGeom prst="roundRect">
            <a:avLst>
              <a:gd name="adj" fmla="val 10869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核心价值：变被动补救为主动准备，消除滞后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1397000"/>
            <a:ext cx="5207000" cy="4699000"/>
          </a:xfrm>
          <a:prstGeom prst="roundRect">
            <a:avLst>
              <a:gd name="adj" fmla="val 27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2563EB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223000" y="1397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540500" y="1778000"/>
            <a:ext cx="762000" cy="762000"/>
          </a:xfrm>
          <a:prstGeom prst="ellipse">
            <a:avLst/>
          </a:prstGeom>
          <a:solidFill>
            <a:srgbClr val="2563E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92900" y="19304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429500" y="1879600"/>
            <a:ext cx="368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差异化调节策略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40500" y="2730500"/>
            <a:ext cx="4572000" cy="1143000"/>
          </a:xfrm>
          <a:prstGeom prst="roundRect">
            <a:avLst>
              <a:gd name="adj" fmla="val 5555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风速上升区（需减功率</a:t>
            </a:r>
            <a:r>
              <a:rPr lang="en-US" sz="15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优先调节桨距角（快速限能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），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其次调转速。按风机下调裕度占比分配减发任务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540500" y="4000500"/>
            <a:ext cx="4572000" cy="1143000"/>
          </a:xfrm>
          <a:prstGeom prst="roundRect">
            <a:avLst>
              <a:gd name="adj" fmla="val 5555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风速下降区（需增功率）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优先降低转速（释放动能），其次调桨距角。按风机上调裕度占比分配增发任务。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540500" y="5207000"/>
            <a:ext cx="4572000" cy="584200"/>
          </a:xfrm>
          <a:prstGeom prst="roundRect">
            <a:avLst>
              <a:gd name="adj" fmla="val 10869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核心价值：极致速度平抑偏差，保护设备寿命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0" y="67310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333625" y="2663825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阵风场景仿真验证：风速上升下的功率平抑效果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0" y="6223000"/>
            <a:ext cx="12192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仿真结果验证：风速下降场景平抑效果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556000" cy="4318000"/>
          </a:xfrm>
          <a:prstGeom prst="roundRect">
            <a:avLst>
              <a:gd name="adj" fmla="val 4285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D4ED8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2563EB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51000" y="2159000"/>
            <a:ext cx="1778000" cy="177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419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极端工况模拟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4572000" y="1651000"/>
            <a:ext cx="6858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1905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524500" y="1905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核心测试工况：线性衰减 + 湍流波动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524500" y="23495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10s内风速从12m/s降至8m/s，随后7-9m/s波动稳定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关键节点：10s预警切换 → 20-60s闭环调节 → 60s切回经济模式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334000" y="3355975"/>
            <a:ext cx="2159000" cy="2286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2500" y="3673475"/>
            <a:ext cx="762000" cy="762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461000" y="4625975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功率极度稳定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波动控制在 ±0.06MW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规避电网考核风险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235950" y="3355975"/>
            <a:ext cx="2159000" cy="2286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34450" y="3673475"/>
            <a:ext cx="762000" cy="762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362950" y="4625975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动态响应无滞后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提前10s预留裕度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优先释放动能补缺口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62000" y="6096000"/>
            <a:ext cx="10668000" cy="508000"/>
          </a:xfrm>
          <a:prstGeom prst="roundRect">
            <a:avLst>
              <a:gd name="adj" fmla="val 50000"/>
            </a:avLst>
          </a:prstGeom>
          <a:solidFill>
            <a:srgbClr val="2563EB">
              <a:alpha val="1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2" name="AutoShape 22"/>
          <p:cNvSpPr/>
          <p:nvPr/>
        </p:nvSpPr>
        <p:spPr>
          <a:xfrm>
            <a:off x="762000" y="61976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结论：系统在风速急降场景下表现卓越，功率控制精准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风电场 vs 光伏电场 AGC运行模式核心对比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381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2563EB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79500" y="1778000"/>
            <a:ext cx="1397000" cy="1397000"/>
          </a:xfrm>
          <a:prstGeom prst="ellipse">
            <a:avLst/>
          </a:prstGeom>
          <a:solidFill>
            <a:srgbClr val="2563E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3500" y="2032000"/>
            <a:ext cx="889000" cy="889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667000" y="184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风电场AGC（本方案）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667000" y="2286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● 机械+电力电子混合调节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● 风速渐变波动，需前馈预控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● 机械预留裕度，无发电损失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10B98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540500" y="1778000"/>
            <a:ext cx="1397000" cy="1397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4500" y="2032000"/>
            <a:ext cx="889000" cy="889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128000" y="184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光伏电场AGC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286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● 纯电力电子调节（逆变器）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● 辐照度瞬时突变，秒级跳变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● 靠弃光预留裕度，有收益损失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3683000"/>
            <a:ext cx="10668000" cy="2667000"/>
          </a:xfrm>
          <a:prstGeom prst="roundRect">
            <a:avLst>
              <a:gd name="adj" fmla="val 476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3683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3784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对比维度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048000" y="37846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风电场AGC（本方案）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12000" y="37846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光伏电场AGC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092">
            <a:off x="762004" y="418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1016000" y="4254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发电原理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048000" y="42545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风能→机械能→电能，核心变量为风速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112000" y="42545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光能→电能，核心变量为辐照度、环境温度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4092">
            <a:off x="762004" y="4591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1016000" y="46609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调节手段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048000" y="46609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变桨+变转速+逆变器混合调节</a:t>
            </a: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7112000" y="46609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仅逆变器限功率，无机械调节动作</a:t>
            </a:r>
            <a:endParaRPr lang="en-US" sz="1100" dirty="0"/>
          </a:p>
        </p:txBody>
      </p:sp>
      <p:cxnSp>
        <p:nvCxnSpPr>
          <p:cNvPr id="27" name="Connector 27"/>
          <p:cNvCxnSpPr/>
          <p:nvPr/>
        </p:nvCxnSpPr>
        <p:spPr>
          <a:xfrm rot="-4092">
            <a:off x="762004" y="4997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1016000" y="50673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干扰特性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3048000" y="50673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持续渐变式（10s-分钟级）</a:t>
            </a:r>
            <a:endParaRPr lang="en-US" sz="1100" dirty="0"/>
          </a:p>
        </p:txBody>
      </p:sp>
      <p:sp>
        <p:nvSpPr>
          <p:cNvPr id="30" name="AutoShape 30"/>
          <p:cNvSpPr/>
          <p:nvPr/>
        </p:nvSpPr>
        <p:spPr>
          <a:xfrm>
            <a:off x="7112000" y="50673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瞬时突变式（云层遮挡，秒级跳变）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4092">
            <a:off x="762004" y="5403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1016000" y="54737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响应要求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3048000" y="54737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50-200ms，依赖前馈预控+闭环</a:t>
            </a:r>
            <a:endParaRPr lang="en-US" sz="1100" dirty="0"/>
          </a:p>
        </p:txBody>
      </p:sp>
      <p:sp>
        <p:nvSpPr>
          <p:cNvPr id="34" name="AutoShape 34"/>
          <p:cNvSpPr/>
          <p:nvPr/>
        </p:nvSpPr>
        <p:spPr>
          <a:xfrm>
            <a:off x="7112000" y="54737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＜10ms，纯反馈控制即可满足要求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-4092">
            <a:off x="762004" y="5810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1016000" y="58801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储能依赖度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3048000" y="58801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中低，自身调节能力强</a:t>
            </a:r>
            <a:endParaRPr lang="en-US" sz="1100" dirty="0"/>
          </a:p>
        </p:txBody>
      </p:sp>
      <p:sp>
        <p:nvSpPr>
          <p:cNvPr id="38" name="AutoShape 38"/>
          <p:cNvSpPr/>
          <p:nvPr/>
        </p:nvSpPr>
        <p:spPr>
          <a:xfrm>
            <a:off x="7112000" y="58801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高，需储能平抑瞬时功率波动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总结与展望：风电场功率平抑AGC系统研发回顾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2563EB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841500"/>
            <a:ext cx="393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项目研发成果总结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2540000"/>
            <a:ext cx="4445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2794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032000" y="2667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完整系统设计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实现「预测-预控-闭环-恢复」全流程，符合工业现场标准</a:t>
            </a:r>
            <a:r>
              <a:rPr lang="en-US" sz="13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143000" y="3683000"/>
            <a:ext cx="4445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7000" y="3937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032000" y="3810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优异平抑效果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双PID串级闭环架构，满足风电并网国标，平抑效果显著</a:t>
            </a:r>
            <a:r>
              <a:rPr lang="en-US" sz="13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143000" y="4826000"/>
            <a:ext cx="4445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7000" y="5080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032000" y="4953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有效仿真验证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C++</a:t>
            </a:r>
            <a:r>
              <a:rPr lang="en-US" sz="13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模块化开发，精准复现真实工况，双向波动均稳定</a:t>
            </a:r>
            <a:r>
              <a:rPr lang="en-US" sz="13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1397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16A34A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23000" y="1397000"/>
            <a:ext cx="5207000" cy="76200"/>
          </a:xfrm>
          <a:prstGeom prst="roundRect">
            <a:avLst>
              <a:gd name="adj" fmla="val 0"/>
            </a:avLst>
          </a:prstGeom>
          <a:solidFill>
            <a:srgbClr val="16A3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1841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1841500"/>
            <a:ext cx="393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未来技术优化方向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604000" y="2540000"/>
            <a:ext cx="4445000" cy="1016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58000" y="27940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493000" y="2667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算法精度优化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引入LSTM深度学习模型，提升超短期风速预测精度与前瞻窗口</a:t>
            </a:r>
            <a:r>
              <a:rPr lang="en-US" sz="13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604000" y="3683000"/>
            <a:ext cx="4445000" cy="1016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58000" y="39370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493000" y="3810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发电效率提升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加入风机尾流优化算法，在经济模式下最大化全场发电收益</a:t>
            </a:r>
            <a:r>
              <a:rPr lang="en-US" sz="13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604000" y="4826000"/>
            <a:ext cx="4445000" cy="1016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58000" y="5080000"/>
            <a:ext cx="508000" cy="508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493000" y="4953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应用场景拓展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对接储能系统，实现「风储协同」超高频平抑，应对严苛考核</a:t>
            </a:r>
            <a:r>
              <a:rPr lang="en-US" sz="130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9" name="AutoShape 29"/>
          <p:cNvSpPr/>
          <p:nvPr/>
        </p:nvSpPr>
        <p:spPr>
          <a:xfrm>
            <a:off x="0" y="6731000"/>
            <a:ext cx="12192000" cy="127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563EB">
                  <a:alpha val="100000"/>
                </a:srgbClr>
              </a:gs>
              <a:gs pos="100000">
                <a:srgbClr val="16A34A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563EB">
                <a:alpha val="100000"/>
              </a:srgbClr>
            </a:gs>
            <a:gs pos="100000">
              <a:srgbClr val="172554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8000" y="1787525"/>
            <a:ext cx="1016000" cy="1016000"/>
          </a:xfrm>
          <a:prstGeom prst="rect">
            <a:avLst/>
          </a:prstGeom>
          <a:effectLst>
            <a:outerShdw blurRad="190500" dist="101600" dir="2700000" algn="tl" rotWithShape="0">
              <a:srgbClr val="2563EB">
                <a:alpha val="3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1651000" y="34163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r>
              <a:rPr lang="en-US" sz="4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！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960</Words>
  <Application>Microsoft Office PowerPoint</Application>
  <PresentationFormat>宽屏</PresentationFormat>
  <Paragraphs>175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zz Z</cp:lastModifiedBy>
  <cp:revision>4</cp:revision>
  <dcterms:modified xsi:type="dcterms:W3CDTF">2026-04-07T08:52:10Z</dcterms:modified>
</cp:coreProperties>
</file>