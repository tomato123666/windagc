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5" r:id="rId15"/>
    <p:sldId id="268" r:id="rId16"/>
    <p:sldId id="269" r:id="rId17"/>
    <p:sldId id="270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6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参加本次关于风电AGC系统场景一的详细设计方案介绍。今天我们将重点探讨稳态计划跟踪模式，也就是经济调度模式下的具体设计和实现。这份方案是我们团队经过深入研究和测试后制定的，希望能为大家提供清晰的技术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八个部分。首先，我们会概述场景定位和设计目标；接着详细介绍系统的总体架构；然后深入讲解核心的控制策略，包括前馈-反馈复合控制和经济分配优化算法；之后会介绍关键模块的设计细节；展示控制流程和异常处理机制；列出关键参数配置和性能评估指标；说明仿真与测试方案；最后给出实施部署计划。希望能让大家对整个方案有一个全面的了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首先我们来看场景概述。这个场景主要针对通信正常、电网稳定的日常运行情况，核心任务是精准跟踪调度下发的中长期发电计划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在实际运行中，我们面临着风速随机波动、风机调节滞后以及多机组协调等挑战。因此，我们设定了三个层面的设计目标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：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主目标是确保95%的时间内计划跟踪误差不超过±2%的额定功率；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次目标是实现综合经济收益最大化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；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同时，所有控制指令都必须满足设备载荷、爬坡率等约束条件，确保设备安全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右侧的图片展示了该稳态计划跟踪场景下的详细控制目标和策略，供大家参考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我们的系统采用“三层两网”的架构设计。从顶层的调度主站到底层的单机控制器，通过不同的通信协议确保数据传输的稳定和高效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在功能上，系统分为四个层次：计划解析与校验层负责处理调度计划的合法性；全场优化层进行经济分配和预测融合；实时控制层执行核心的控制算法；设备管理层则负责设备状态的监视和故障处理。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这种分层架构确保了系统的模块化和可扩展性，能够灵活应对不同的运行场景和调度需求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核心控制策略采用了前馈-反馈复合控制结构。简单来说，我们将调度计划与超短期功率预测相结合，计算出前馈补偿量，以提前应对风速变化。同时，通过对比实际功率与计划值，利用模糊自适应PID算法进行反馈调节，消除误差。最终的控制指令是前馈量和反馈量的合成，这使得系统既有前瞻性，又能保证控制精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前馈补偿算法的核心目的是“未雨绸缪”。我们通过超短期功率预测，提前计算出计划与预测的偏差，并经过滤波和可信度加权处理，得到前馈量。这个前馈量会被限制在额定功率的15%以内，以防止过度调节。通过这种方式，系统可以提前响应风速变化，有效减少了后续反馈调节的负担，提升了整体的动态跟踪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反馈控制部分，我们采用了模糊自适应PID算法。传统PID参数固定，难以适应复杂多变的工况。而模糊自适应PID可以根据功率误差的大小，实时调整比例、积分、微分系数。例如，当误差较大时，增大比例系数以快速响应；当误差较小时，增大积分系数以消除静差。同时，我们还加入了抗积分饱和措施，防止积分项过大导致系统不稳定。这些改进使得系统的阶跃响应超调量控制在3%以内，稳态误差小于0.5%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在得到全场总功率指令后，我们需要将其经济地分配到每一台风机。这是一个典型的优化问题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我们的目标是最小化综合成本，包括电气损耗、疲劳损耗和效率偏离成本。同时，分配过程必须满足功率平衡、单机功率限制、爬坡率限制等一系列约束条件。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我们采用等微增率法结合动态规划来求解这个优化问题，确保在满足所有约束的前提下，实现全场经济效益最大化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优化目标中的各项成本并非固定不变，我们通过权重系数来平衡它们之间的关系。例如，电气损耗权重为0.4，疲劳损耗和效率偏离各占0.3。更重要的是，这些权重可以根据实际情况动态调整。比如在大风季节，为了追求更高的发电量，可以适当降低疲劳损耗的权重；而对于寿命末期的设备，则可以放宽其疲劳限制，允许更多的调节。这种灵活性使得经济分配策略更具适应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预测融合器是系统的“眼睛”，它负责整合来自不同来源的功率预测数据，包括超短期、短期、数值天气预报等。我们采用自适应加权、卡尔曼滤波和贝叶斯模型平均等多种算法，对这些多源数据进行融合处理。最终输出不仅是一条融合后的功率曲线，还包括其置信区间和各预测源的实时权重，为前馈控制和经济分配提供了可靠的决策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 err="1">
                <a:solidFill>
                  <a:srgbClr val="000000"/>
                </a:solidFill>
              </a:rPr>
              <a:t>风机管理器是系统与风机之间的桥梁。它负责实时采集每台风机的运行状态，计算其可调功率范围，并将优化后的功率指令下发给风机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保证系统的实时性和可靠性，我们要求全站200台风机的状态刷新周期不超过1秒，指令下发成功率达到99.9%以上。同时，风机管理器还支持按风向、位置或机型进行分组管理，方便进行分组启停和功率分配操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张时序图详细展示了整个控制流程。从调度下发计划开始，AGC系统获取预测数据，计算前馈和反馈量，进行经济分配，最后将指令下发给风机，并收集反馈信息。整个流程以2秒为一个控制周期，确保了控制的实时性。其中，经济分配优化则以3分钟为周期进行，在保证经济性的同时，避免了过于频繁的调节对设备造成的影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系统的可靠性至关重要。我们设计了完善的异常处理和容错机制。针对调度计划超限、预测数据丢失、单机通信故障等常见异常，系统都有明确的检测方式和处理动作。例如，当预测数据丢失时，系统会自动切换到纯反馈控制模式；当通信完全中断时，系统会冻结最后一条有效指令，并切换到本地查表控制模式，确保风机的安全稳定运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里列出了系统运行的关键参数配置表。这些参数包括控制周期、死区、前馈系数、最大爬坡率等，每个参数都有其典型值和可调范围。在实际部署时，可以根据风电场的具体情况和运行需求，对这些参数进行精细化整定，以达到最佳的控制效果和经济效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评估系统的性能，我们设定了三个维度的指标。在计划跟踪方面，要求均方根误差不超过2%，合格率达到95%以上。在经济性方面，全场发电效率要高于97%，电气损耗控制在3%以内。在设备友好性方面，要限制功率变化率和单机调节次数，以延长设备寿命。这些指标将作为系统验收和持续优化的重要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总结一下，本方案的核心优势在于高精度、高经济性和高可靠性。通过采用复合控制和经济分配算法，我们预计可以将年收益提升2-3%，同时延长风机寿命10-15%。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展望未来，我们计划引入更先进的深度学习预测模型，并将系统功能扩展到一次调频和惯量响应领域，最终实现参与电力现货市场的优化运行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17.sv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svg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svg"/><Relationship Id="rId5" Type="http://schemas.openxmlformats.org/officeDocument/2006/relationships/image" Target="../media/image29.svg"/><Relationship Id="rId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3.jpe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svg"/><Relationship Id="rId5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sv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40.svg"/><Relationship Id="rId4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svg"/><Relationship Id="rId5" Type="http://schemas.openxmlformats.org/officeDocument/2006/relationships/image" Target="../media/image17.svg"/><Relationship Id="rId4" Type="http://schemas.openxmlformats.org/officeDocument/2006/relationships/image" Target="../media/image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101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62100" y="1778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风电AGC系统场景一详细设计方案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260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921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稳态计划跟踪（经济调度模式）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4445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22600" y="4648200"/>
            <a:ext cx="317500" cy="3175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340100" y="46482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汇报人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王翰铭</a:t>
            </a:r>
            <a:endParaRPr lang="en-US" sz="20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1350" y="4673600"/>
            <a:ext cx="317500" cy="3175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308850" y="46736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2026年4月7</a:t>
            </a:r>
            <a:r>
              <a:rPr lang="zh-CN" alt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目录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070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01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场景概述与设计目标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762000" y="3024717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53317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215217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02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系统总体架构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762000" y="4229099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457699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419599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03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核心控制策略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1301750" y="4832349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• </a:t>
            </a:r>
            <a:r>
              <a:rPr lang="en-US" sz="1800" b="0" i="0" u="none" strike="noStrike" dirty="0" err="1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前馈-反馈复合控制</a:t>
            </a:r>
            <a:r>
              <a:rPr lang="en-US" sz="1800" b="0" i="0" u="none" strike="noStrike" dirty="0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 • </a:t>
            </a:r>
            <a:r>
              <a:rPr lang="en-US" sz="1800" b="0" i="0" u="none" strike="noStrike" dirty="0" err="1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经济分配优化算法</a:t>
            </a:r>
            <a:endParaRPr lang="en-US" sz="1800" dirty="0"/>
          </a:p>
        </p:txBody>
      </p:sp>
      <p:sp>
        <p:nvSpPr>
          <p:cNvPr id="16" name="AutoShape 16"/>
          <p:cNvSpPr/>
          <p:nvPr/>
        </p:nvSpPr>
        <p:spPr>
          <a:xfrm>
            <a:off x="6350000" y="1841500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20701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03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04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关键模块设计</a:t>
            </a:r>
            <a:endParaRPr lang="en-US" sz="1100" dirty="0"/>
          </a:p>
        </p:txBody>
      </p:sp>
      <p:sp>
        <p:nvSpPr>
          <p:cNvPr id="19" name="AutoShape 19"/>
          <p:cNvSpPr/>
          <p:nvPr/>
        </p:nvSpPr>
        <p:spPr>
          <a:xfrm>
            <a:off x="6350000" y="3024717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40500" y="3253317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215217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05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控制流程与异常处理</a:t>
            </a:r>
            <a:endParaRPr lang="en-US" sz="1100" dirty="0"/>
          </a:p>
        </p:txBody>
      </p:sp>
      <p:sp>
        <p:nvSpPr>
          <p:cNvPr id="22" name="AutoShape 22"/>
          <p:cNvSpPr/>
          <p:nvPr/>
        </p:nvSpPr>
        <p:spPr>
          <a:xfrm>
            <a:off x="6350000" y="4229099"/>
            <a:ext cx="508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457699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419599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06 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参数配置与性能指标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场景概述与设计目标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46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30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87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场景定位：日常运行模式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97000" y="2286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通信正常、电网稳定，执行调度下发的</a:t>
            </a:r>
            <a:r>
              <a:rPr lang="en-US" sz="1600" b="0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中长期发电计划曲线</a:t>
            </a:r>
            <a:r>
              <a:rPr lang="en-US" sz="16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（15min~24h）。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762000" y="3048000"/>
            <a:ext cx="5588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2004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14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核心挑战：波动与协调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97000" y="3556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应对风速随机性导致的功率波动；克服风机大惯性调节滞后；实现多机组经济协调。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318000"/>
            <a:ext cx="558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4704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4196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设计目标：精准与收益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200150" y="4800600"/>
            <a:ext cx="50673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主目标：跟踪误差</a:t>
            </a:r>
            <a:r>
              <a:rPr lang="en-US" sz="16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≤ ±2%Pn (95%时间)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次目标：综合经济收益最大化；满足载荷</a:t>
            </a:r>
            <a:r>
              <a:rPr lang="en-US" sz="16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/</a:t>
            </a:r>
            <a:r>
              <a:rPr lang="en-US" sz="16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爬坡率约束</a:t>
            </a:r>
            <a:r>
              <a:rPr lang="en-US" sz="16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7112000" y="1778000"/>
            <a:ext cx="4318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24" r="24"/>
          <a:stretch>
            <a:fillRect/>
          </a:stretch>
        </p:blipFill>
        <p:spPr>
          <a:xfrm>
            <a:off x="7239000" y="1905000"/>
            <a:ext cx="4064000" cy="3314700"/>
          </a:xfrm>
          <a:prstGeom prst="roundRect">
            <a:avLst>
              <a:gd name="adj" fmla="val 383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0" y="5461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场景一：稳态计划跟踪（经济调度模式）详情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系统总体架构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 flipV="1">
            <a:off x="762000" y="1649731"/>
            <a:ext cx="1365250" cy="45719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98755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▍</a:t>
            </a:r>
            <a:r>
              <a:rPr lang="en-US" sz="28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三层两网通信架构</a:t>
            </a:r>
            <a:endParaRPr lang="en-US" sz="2800" dirty="0"/>
          </a:p>
        </p:txBody>
      </p:sp>
      <p:sp>
        <p:nvSpPr>
          <p:cNvPr id="7" name="AutoShape 7"/>
          <p:cNvSpPr/>
          <p:nvPr/>
        </p:nvSpPr>
        <p:spPr>
          <a:xfrm>
            <a:off x="800100" y="26289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调度主站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通过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IEC104/DNP3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协议与风电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AGC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服务器（双机热备）通信，AGC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服务器经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Modbus TCP/OPC UA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连接集群协调层，最终通过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CAN/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以太网与</a:t>
            </a:r>
            <a:r>
              <a:rPr lang="en-US" sz="2000" b="1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单机控制器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交互，实现全链路数据贯通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  <a:endParaRPr lang="en-US" sz="2000" dirty="0"/>
          </a:p>
        </p:txBody>
      </p:sp>
      <p:sp>
        <p:nvSpPr>
          <p:cNvPr id="8" name="AutoShape 8"/>
          <p:cNvSpPr/>
          <p:nvPr/>
        </p:nvSpPr>
        <p:spPr>
          <a:xfrm>
            <a:off x="762000" y="37084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▍</a:t>
            </a:r>
            <a:r>
              <a:rPr lang="en-US" sz="28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四层功能体系</a:t>
            </a:r>
            <a:endParaRPr lang="en-US" sz="2800" dirty="0"/>
          </a:p>
        </p:txBody>
      </p:sp>
      <p:sp>
        <p:nvSpPr>
          <p:cNvPr id="9" name="AutoShape 9"/>
          <p:cNvSpPr/>
          <p:nvPr/>
        </p:nvSpPr>
        <p:spPr>
          <a:xfrm>
            <a:off x="762000" y="442595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455295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55295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计划解析与校验</a:t>
            </a:r>
            <a:endParaRPr lang="en-US" sz="2000" dirty="0"/>
          </a:p>
        </p:txBody>
      </p:sp>
      <p:sp>
        <p:nvSpPr>
          <p:cNvPr id="12" name="AutoShape 12"/>
          <p:cNvSpPr/>
          <p:nvPr/>
        </p:nvSpPr>
        <p:spPr>
          <a:xfrm>
            <a:off x="952500" y="493395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安全边界校验、死区处理，确保指令合法</a:t>
            </a:r>
            <a:endParaRPr lang="en-US" sz="1500" dirty="0"/>
          </a:p>
        </p:txBody>
      </p:sp>
      <p:sp>
        <p:nvSpPr>
          <p:cNvPr id="13" name="AutoShape 13"/>
          <p:cNvSpPr/>
          <p:nvPr/>
        </p:nvSpPr>
        <p:spPr>
          <a:xfrm>
            <a:off x="3467100" y="442595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455295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038600" y="455295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全场优化层</a:t>
            </a:r>
            <a:endParaRPr lang="en-US" sz="2000" dirty="0"/>
          </a:p>
        </p:txBody>
      </p:sp>
      <p:sp>
        <p:nvSpPr>
          <p:cNvPr id="16" name="AutoShape 16"/>
          <p:cNvSpPr/>
          <p:nvPr/>
        </p:nvSpPr>
        <p:spPr>
          <a:xfrm>
            <a:off x="3657600" y="493395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经济分配、预测融合，周期</a:t>
            </a:r>
            <a:r>
              <a:rPr lang="en-US" sz="1500" b="0" i="0" u="none" strike="noStrike" dirty="0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 1~5min</a:t>
            </a:r>
            <a:endParaRPr lang="en-US" sz="1500" dirty="0"/>
          </a:p>
        </p:txBody>
      </p:sp>
      <p:sp>
        <p:nvSpPr>
          <p:cNvPr id="17" name="AutoShape 17"/>
          <p:cNvSpPr/>
          <p:nvPr/>
        </p:nvSpPr>
        <p:spPr>
          <a:xfrm>
            <a:off x="6172200" y="442595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62700" y="455295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43700" y="455295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实时控制层</a:t>
            </a:r>
            <a:endParaRPr lang="en-US" sz="2000" dirty="0"/>
          </a:p>
        </p:txBody>
      </p:sp>
      <p:sp>
        <p:nvSpPr>
          <p:cNvPr id="20" name="AutoShape 20"/>
          <p:cNvSpPr/>
          <p:nvPr/>
        </p:nvSpPr>
        <p:spPr>
          <a:xfrm>
            <a:off x="6362700" y="493395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前馈-反馈复合控制，周期</a:t>
            </a:r>
            <a:r>
              <a:rPr lang="en-US" sz="1500" b="0" i="0" u="none" strike="noStrike" dirty="0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 1~4s</a:t>
            </a:r>
            <a:endParaRPr lang="en-US" sz="1500" dirty="0"/>
          </a:p>
        </p:txBody>
      </p:sp>
      <p:sp>
        <p:nvSpPr>
          <p:cNvPr id="21" name="AutoShape 21"/>
          <p:cNvSpPr/>
          <p:nvPr/>
        </p:nvSpPr>
        <p:spPr>
          <a:xfrm>
            <a:off x="8890000" y="4425950"/>
            <a:ext cx="2540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80500" y="455295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461500" y="455295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设备管理层</a:t>
            </a:r>
            <a:endParaRPr lang="en-US" sz="2000" dirty="0"/>
          </a:p>
        </p:txBody>
      </p:sp>
      <p:sp>
        <p:nvSpPr>
          <p:cNvPr id="24" name="AutoShape 24"/>
          <p:cNvSpPr/>
          <p:nvPr/>
        </p:nvSpPr>
        <p:spPr>
          <a:xfrm>
            <a:off x="9080500" y="493395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rgbClr val="B4B4B4"/>
                </a:solidFill>
                <a:latin typeface="SimHei"/>
                <a:ea typeface="SimHei"/>
                <a:cs typeface="SimHei"/>
                <a:sym typeface="SimHei"/>
              </a:rPr>
              <a:t>状态监视、指令下发及故障处理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4521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核心控制策略总览</a:t>
            </a:r>
            <a:endParaRPr lang="en-US" sz="4000" dirty="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2032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控制律数学模型</a:t>
            </a:r>
            <a:endParaRPr lang="en-US" sz="2400" dirty="0"/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P_set</a:t>
            </a:r>
            <a:r>
              <a:rPr lang="en-US" sz="1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(t) =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P_schedule</a:t>
            </a:r>
            <a:r>
              <a:rPr lang="en-US" sz="1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(t) +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P_ff</a:t>
            </a:r>
            <a:r>
              <a:rPr lang="en-US" sz="1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(t) + 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P_fb</a:t>
            </a:r>
            <a:r>
              <a:rPr lang="en-US" sz="1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(t)</a:t>
            </a:r>
            <a:endParaRPr lang="en-US" sz="1600" dirty="0"/>
          </a:p>
        </p:txBody>
      </p:sp>
      <p:sp>
        <p:nvSpPr>
          <p:cNvPr id="8" name="AutoShape 8"/>
          <p:cNvSpPr/>
          <p:nvPr/>
        </p:nvSpPr>
        <p:spPr>
          <a:xfrm>
            <a:off x="889000" y="298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• P_ff：超短期预测前馈量 • P_fb：模糊自适应PID反馈量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810000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4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复合控制逻辑</a:t>
            </a:r>
            <a:r>
              <a:rPr lang="en-US" sz="24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endParaRPr lang="en-US" sz="2400" dirty="0"/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调度计划经前馈补偿生成参考值，实际功率通过反馈调节消除误差。两者合成最终指令，经经济分配下发至单机执行</a:t>
            </a:r>
            <a:r>
              <a:rPr lang="en-US" sz="18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1905000"/>
            <a:ext cx="4826000" cy="3689350"/>
          </a:xfrm>
          <a:prstGeom prst="roundRect">
            <a:avLst>
              <a:gd name="adj" fmla="val 3703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032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复合控制结构流程</a:t>
            </a:r>
            <a:endParaRPr lang="en-US" sz="2400" dirty="0"/>
          </a:p>
        </p:txBody>
      </p:sp>
      <p:sp>
        <p:nvSpPr>
          <p:cNvPr id="12" name="AutoShape 12"/>
          <p:cNvSpPr/>
          <p:nvPr/>
        </p:nvSpPr>
        <p:spPr>
          <a:xfrm>
            <a:off x="6604000" y="2540000"/>
            <a:ext cx="1270000" cy="508000"/>
          </a:xfrm>
          <a:prstGeom prst="roundRect">
            <a:avLst>
              <a:gd name="adj" fmla="val 125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26670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048500" y="264160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调度计划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9645650" y="2546350"/>
            <a:ext cx="1270000" cy="508000"/>
          </a:xfrm>
          <a:prstGeom prst="roundRect">
            <a:avLst>
              <a:gd name="adj" fmla="val 125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2650" y="267335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090150" y="2647950"/>
            <a:ext cx="76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实际功率</a:t>
            </a: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5285450">
            <a:off x="7048500" y="3232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20" name="Connector 20"/>
          <p:cNvCxnSpPr/>
          <p:nvPr/>
        </p:nvCxnSpPr>
        <p:spPr>
          <a:xfrm rot="5285450">
            <a:off x="10115550" y="3232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22" name="AutoShape 22"/>
          <p:cNvSpPr/>
          <p:nvPr/>
        </p:nvSpPr>
        <p:spPr>
          <a:xfrm>
            <a:off x="8064486" y="3429000"/>
            <a:ext cx="1397014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8000" y="3556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445500" y="35306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指令合成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285450">
            <a:off x="8572500" y="4121256"/>
            <a:ext cx="38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26" name="AutoShape 26"/>
          <p:cNvSpPr/>
          <p:nvPr/>
        </p:nvSpPr>
        <p:spPr>
          <a:xfrm>
            <a:off x="8001000" y="4318000"/>
            <a:ext cx="1524000" cy="508000"/>
          </a:xfrm>
          <a:prstGeom prst="roundRect">
            <a:avLst>
              <a:gd name="adj" fmla="val 125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28000" y="44450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445500" y="4419600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经济分配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228255">
            <a:off x="8636000" y="4946809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sp>
        <p:nvSpPr>
          <p:cNvPr id="30" name="AutoShape 30"/>
          <p:cNvSpPr/>
          <p:nvPr/>
        </p:nvSpPr>
        <p:spPr>
          <a:xfrm>
            <a:off x="8001000" y="5080000"/>
            <a:ext cx="1524000" cy="381000"/>
          </a:xfrm>
          <a:prstGeom prst="roundRect">
            <a:avLst>
              <a:gd name="adj" fmla="val 16666"/>
            </a:avLst>
          </a:prstGeom>
          <a:solidFill>
            <a:srgbClr val="00B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001000" y="51181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单机下发执行</a:t>
            </a:r>
            <a:endParaRPr lang="en-US" sz="1100"/>
          </a:p>
        </p:txBody>
      </p:sp>
      <p:sp>
        <p:nvSpPr>
          <p:cNvPr id="32" name="AutoShape 12">
            <a:extLst>
              <a:ext uri="{FF2B5EF4-FFF2-40B4-BE49-F238E27FC236}">
                <a16:creationId xmlns:a16="http://schemas.microsoft.com/office/drawing/2014/main" id="{82782C02-DB77-3B2A-6A0E-B1D2108172DC}"/>
              </a:ext>
            </a:extLst>
          </p:cNvPr>
          <p:cNvSpPr/>
          <p:nvPr/>
        </p:nvSpPr>
        <p:spPr>
          <a:xfrm>
            <a:off x="6616693" y="3422650"/>
            <a:ext cx="1193807" cy="508000"/>
          </a:xfrm>
          <a:prstGeom prst="roundRect">
            <a:avLst>
              <a:gd name="adj" fmla="val 125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6B0C13D3-F399-9BB7-89E3-CD36D28C7161}"/>
              </a:ext>
            </a:extLst>
          </p:cNvPr>
          <p:cNvSpPr/>
          <p:nvPr/>
        </p:nvSpPr>
        <p:spPr>
          <a:xfrm>
            <a:off x="9715485" y="3422650"/>
            <a:ext cx="1193821" cy="508000"/>
          </a:xfrm>
          <a:prstGeom prst="roundRect">
            <a:avLst>
              <a:gd name="adj" fmla="val 12500"/>
            </a:avLst>
          </a:prstGeom>
          <a:solidFill>
            <a:srgbClr val="1E293B">
              <a:alpha val="80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9" name="AutoShape 19"/>
          <p:cNvSpPr/>
          <p:nvPr/>
        </p:nvSpPr>
        <p:spPr>
          <a:xfrm>
            <a:off x="6731000" y="354965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dirty="0" err="1">
                <a:solidFill>
                  <a:srgbClr val="FFFFFF"/>
                </a:solidFill>
                <a:latin typeface="SimHei"/>
                <a:ea typeface="SimHei"/>
                <a:sym typeface="SimHei"/>
              </a:rPr>
              <a:t>前馈补偿</a:t>
            </a:r>
            <a:endParaRPr lang="en-US" dirty="0">
              <a:solidFill>
                <a:srgbClr val="FFFFFF"/>
              </a:solidFill>
              <a:latin typeface="SimHei"/>
              <a:ea typeface="SimHei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944100" y="3524250"/>
            <a:ext cx="101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dirty="0" err="1">
                <a:solidFill>
                  <a:srgbClr val="FFFFFF"/>
                </a:solidFill>
                <a:latin typeface="SimHei"/>
                <a:ea typeface="SimHei"/>
                <a:sym typeface="SimHei"/>
              </a:rPr>
              <a:t>反馈调节</a:t>
            </a:r>
            <a:endParaRPr lang="en-US" dirty="0">
              <a:solidFill>
                <a:srgbClr val="FFFFFF"/>
              </a:solidFill>
              <a:latin typeface="SimHei"/>
              <a:ea typeface="SimHei"/>
            </a:endParaRPr>
          </a:p>
        </p:txBody>
      </p:sp>
      <p:cxnSp>
        <p:nvCxnSpPr>
          <p:cNvPr id="34" name="Connector 18">
            <a:extLst>
              <a:ext uri="{FF2B5EF4-FFF2-40B4-BE49-F238E27FC236}">
                <a16:creationId xmlns:a16="http://schemas.microsoft.com/office/drawing/2014/main" id="{12C3073C-64D8-C1E3-6AC1-9678730ED552}"/>
              </a:ext>
            </a:extLst>
          </p:cNvPr>
          <p:cNvCxnSpPr>
            <a:cxnSpLocks/>
            <a:stCxn id="32" idx="3"/>
            <a:endCxn id="22" idx="1"/>
          </p:cNvCxnSpPr>
          <p:nvPr/>
        </p:nvCxnSpPr>
        <p:spPr>
          <a:xfrm>
            <a:off x="7810500" y="3676650"/>
            <a:ext cx="253986" cy="635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  <p:cxnSp>
        <p:nvCxnSpPr>
          <p:cNvPr id="35" name="Connector 18">
            <a:extLst>
              <a:ext uri="{FF2B5EF4-FFF2-40B4-BE49-F238E27FC236}">
                <a16:creationId xmlns:a16="http://schemas.microsoft.com/office/drawing/2014/main" id="{5F3B53D6-B65C-B2E2-A22B-D6BDC4F63993}"/>
              </a:ext>
            </a:extLst>
          </p:cNvPr>
          <p:cNvCxnSpPr>
            <a:cxnSpLocks/>
            <a:stCxn id="33" idx="1"/>
            <a:endCxn id="22" idx="3"/>
          </p:cNvCxnSpPr>
          <p:nvPr/>
        </p:nvCxnSpPr>
        <p:spPr>
          <a:xfrm flipH="1">
            <a:off x="9461500" y="3676650"/>
            <a:ext cx="253985" cy="635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  <a:headEnd type="none" w="med" len="med"/>
            <a:tailEnd type="arrow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5179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前馈补偿算法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核心目的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4384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SimHei"/>
                <a:ea typeface="SimHei"/>
                <a:cs typeface="SimHei"/>
                <a:sym typeface="SimHei"/>
              </a:rPr>
              <a:t>提前应对风速变化引起的功率趋势，减少反馈调节压力，实现“未雨绸缪”。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905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095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20574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算法优势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24384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DCDC"/>
                </a:solidFill>
                <a:latin typeface="SimHei"/>
                <a:ea typeface="SimHei"/>
                <a:cs typeface="SimHei"/>
                <a:sym typeface="SimHei"/>
              </a:rPr>
              <a:t>显著减少反馈调节负担，提升功率跟踪的动态响应性能，优化控制品质。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10668000" cy="1651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417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4417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计算流程与公式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990600" y="409575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>
              <a:lnSpc>
                <a:spcPct val="125000"/>
              </a:lnSpc>
              <a:buClr>
                <a:srgbClr val="DCDCDC"/>
              </a:buClr>
              <a:buFont typeface="Arial"/>
              <a:buChar char="•"/>
              <a:defRPr/>
            </a:pP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输入：读取超短期预测功率</a:t>
            </a:r>
            <a:r>
              <a:rPr lang="en-US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 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P_pred_ultrashort</a:t>
            </a:r>
            <a:r>
              <a:rPr lang="en-US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(未来4h, 15min分辨率)，</a:t>
            </a: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计算偏差</a:t>
            </a:r>
            <a:r>
              <a:rPr lang="en-US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 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ΔP_pred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 = 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P_schedule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 - 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P_pred_ultrashort</a:t>
            </a:r>
            <a:endParaRPr lang="en-US" altLang="zh-CN" sz="1600" dirty="0">
              <a:solidFill>
                <a:srgbClr val="DCDCDC"/>
              </a:solidFill>
              <a:latin typeface="SimHei"/>
              <a:ea typeface="SimHei"/>
            </a:endParaRPr>
          </a:p>
          <a:p>
            <a:pPr marL="203200" indent="-203200">
              <a:lnSpc>
                <a:spcPct val="125000"/>
              </a:lnSpc>
              <a:buClr>
                <a:srgbClr val="DCDCDC"/>
              </a:buClr>
              <a:buFont typeface="Arial"/>
              <a:buChar char="•"/>
            </a:pP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处理：一阶低通滤波</a:t>
            </a:r>
            <a:r>
              <a:rPr lang="en-US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(5min)</a:t>
            </a: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去噪，乘以</a:t>
            </a:r>
            <a:r>
              <a:rPr lang="zh-CN" altLang="en-US" sz="1600" dirty="0">
                <a:solidFill>
                  <a:srgbClr val="DCDCDC"/>
                </a:solidFill>
                <a:latin typeface="SimHei"/>
                <a:ea typeface="SimHei"/>
              </a:rPr>
              <a:t>前馈系数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α</a:t>
            </a:r>
            <a:r>
              <a:rPr lang="zh-CN" altLang="en-US" sz="1600" dirty="0">
                <a:solidFill>
                  <a:srgbClr val="DCDCDC"/>
                </a:solidFill>
                <a:latin typeface="SimHei"/>
                <a:ea typeface="SimHei"/>
              </a:rPr>
              <a:t>（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α</a:t>
            </a:r>
            <a:r>
              <a:rPr lang="zh-CN" altLang="en-US" sz="1600" dirty="0">
                <a:solidFill>
                  <a:srgbClr val="DCDCDC"/>
                </a:solidFill>
                <a:latin typeface="SimHei"/>
                <a:ea typeface="SimHei"/>
              </a:rPr>
              <a:t>∈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(0~1)</a:t>
            </a:r>
            <a:r>
              <a:rPr lang="zh-CN" altLang="en-US" sz="1600" dirty="0">
                <a:solidFill>
                  <a:srgbClr val="DCDCDC"/>
                </a:solidFill>
                <a:latin typeface="SimHei"/>
                <a:ea typeface="SimHei"/>
              </a:rPr>
              <a:t>）</a:t>
            </a: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与置信度</a:t>
            </a:r>
            <a:r>
              <a:rPr lang="en-US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 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c</a:t>
            </a:r>
          </a:p>
          <a:p>
            <a:pPr marL="203200" indent="-203200">
              <a:lnSpc>
                <a:spcPct val="125000"/>
              </a:lnSpc>
              <a:buClr>
                <a:srgbClr val="DCDCDC"/>
              </a:buClr>
              <a:buFont typeface="Arial"/>
              <a:buChar char="•"/>
            </a:pPr>
            <a:r>
              <a:rPr lang="en-US" sz="16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公式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P_ff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 = </a:t>
            </a:r>
            <a:r>
              <a:rPr lang="en-US" altLang="zh-CN" sz="1600" dirty="0" err="1">
                <a:solidFill>
                  <a:srgbClr val="DCDCDC"/>
                </a:solidFill>
                <a:latin typeface="SimHei"/>
                <a:ea typeface="SimHei"/>
              </a:rPr>
              <a:t>ΔP_filtered</a:t>
            </a:r>
            <a:r>
              <a:rPr lang="en-US" altLang="zh-CN" sz="1600" dirty="0">
                <a:solidFill>
                  <a:srgbClr val="DCDCDC"/>
                </a:solidFill>
                <a:latin typeface="SimHei"/>
                <a:ea typeface="SimHei"/>
              </a:rPr>
              <a:t> * c * α</a:t>
            </a:r>
          </a:p>
          <a:p>
            <a:pPr marL="203200" indent="-203200" algn="l">
              <a:lnSpc>
                <a:spcPct val="125000"/>
              </a:lnSpc>
              <a:buClr>
                <a:srgbClr val="DCDCDC"/>
              </a:buClr>
              <a:buChar char="•"/>
            </a:pPr>
            <a:endParaRPr lang="en-US" sz="1600" b="0" i="0" u="none" strike="noStrike" dirty="0">
              <a:solidFill>
                <a:srgbClr val="DCDCDC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20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461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54864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安全限幅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878667" y="5486400"/>
            <a:ext cx="8297333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800" dirty="0">
                <a:solidFill>
                  <a:srgbClr val="DCDCDC"/>
                </a:solidFill>
                <a:latin typeface="SimHei"/>
                <a:ea typeface="SimHei"/>
              </a:rPr>
              <a:t>∣</a:t>
            </a:r>
            <a:r>
              <a:rPr lang="en-US" altLang="zh-CN" sz="1800" dirty="0" err="1">
                <a:solidFill>
                  <a:srgbClr val="DCDCDC"/>
                </a:solidFill>
                <a:latin typeface="SimHei"/>
                <a:ea typeface="SimHei"/>
              </a:rPr>
              <a:t>P_ff</a:t>
            </a:r>
            <a:r>
              <a:rPr lang="en-US" altLang="zh-CN" sz="1800" dirty="0">
                <a:solidFill>
                  <a:srgbClr val="DCDCDC"/>
                </a:solidFill>
                <a:latin typeface="SimHei"/>
                <a:ea typeface="SimHei"/>
              </a:rPr>
              <a:t>​∣≤0.15Pn​ </a:t>
            </a:r>
            <a:r>
              <a:rPr lang="en-US" sz="1800" dirty="0" err="1">
                <a:solidFill>
                  <a:srgbClr val="DCDCDC"/>
                </a:solidFill>
                <a:latin typeface="SimHei"/>
                <a:ea typeface="SimHei"/>
                <a:sym typeface="SimHei"/>
              </a:rPr>
              <a:t>防止前馈量过大导致系统过调</a:t>
            </a:r>
            <a:r>
              <a:rPr lang="en-US" sz="1800" b="0" i="0" u="none" strike="noStrike" dirty="0" err="1">
                <a:solidFill>
                  <a:srgbClr val="DCDCDC"/>
                </a:solidFill>
                <a:latin typeface="SimHei"/>
                <a:ea typeface="SimHei"/>
                <a:cs typeface="SimHei"/>
                <a:sym typeface="SimHei"/>
              </a:rPr>
              <a:t>，保障运行安全</a:t>
            </a:r>
            <a:r>
              <a:rPr lang="en-US" sz="1800" b="0" i="0" u="none" strike="noStrike" dirty="0">
                <a:solidFill>
                  <a:srgbClr val="DCDCDC"/>
                </a:solidFill>
                <a:latin typeface="SimHei"/>
                <a:ea typeface="SimHei"/>
                <a:cs typeface="SimHei"/>
                <a:sym typeface="SimHei"/>
              </a:rPr>
              <a:t>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88950" y="4318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反馈控制（模糊自适应PID</a:t>
            </a:r>
            <a:r>
              <a:rPr lang="en-US" sz="3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）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431800" y="1333500"/>
            <a:ext cx="9817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根据误差大小实时调整PID参数，以获得最佳控制效果，解决传统PID难以适应复杂工况的问题</a:t>
            </a:r>
            <a:r>
              <a:rPr lang="en-US" sz="22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  <a:endParaRPr lang="en-US" sz="2200" dirty="0"/>
          </a:p>
        </p:txBody>
      </p:sp>
      <p:sp>
        <p:nvSpPr>
          <p:cNvPr id="6" name="AutoShape 6"/>
          <p:cNvSpPr/>
          <p:nvPr/>
        </p:nvSpPr>
        <p:spPr>
          <a:xfrm>
            <a:off x="571500" y="2349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模糊规则表（部分</a:t>
            </a:r>
            <a:r>
              <a:rPr lang="en-US" sz="2400" b="1" i="0" u="none" strike="noStrike" dirty="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）</a:t>
            </a:r>
            <a:endParaRPr lang="en-US" sz="24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189041"/>
              </p:ext>
            </p:extLst>
          </p:nvPr>
        </p:nvGraphicFramePr>
        <p:xfrm>
          <a:off x="571500" y="2889250"/>
          <a:ext cx="5359400" cy="2336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3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3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78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误差范围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Kp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Ki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Kd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说明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&gt;5%Pn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小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快速响应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1%~5%Pn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中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中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正常调节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&lt;1%Pn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FFFFFF">
                              <a:alpha val="90196"/>
                            </a:srgbClr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消除静差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6731000" y="2120900"/>
            <a:ext cx="457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0" y="23114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93000" y="22733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抗积分饱和措施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0" y="27051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积分项限幅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：±10%Pn，防止积分溢出</a:t>
            </a:r>
            <a:endParaRPr lang="en-US" sz="1100" dirty="0"/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遇限削弱积分法：抑制积分过度积累</a:t>
            </a:r>
            <a:endParaRPr lang="en-US" sz="1800" b="0" i="0" u="none" strike="noStrike" dirty="0">
              <a:solidFill>
                <a:srgbClr val="FFFFFF">
                  <a:alpha val="90196"/>
                </a:srgbClr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31000" y="3898900"/>
            <a:ext cx="4572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5000" y="40894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493000" y="40513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控制性能提升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0" y="4508500"/>
            <a:ext cx="415925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阶跃响应超调量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 ≤ 3%，</a:t>
            </a: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动态稳定性好</a:t>
            </a:r>
            <a:endParaRPr lang="en-US" sz="1100" dirty="0"/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1800" b="0" i="0" u="none" strike="noStrike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稳态误差</a:t>
            </a:r>
            <a:r>
              <a:rPr lang="en-US" sz="1800" b="0" i="0" u="none" strike="noStrike" dirty="0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 ≤ 0.5%Pn，控制精度高</a:t>
            </a: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835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基于模糊逻辑的自适应算法，实现高精度、高稳定性的闭环控制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92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经济分配优化算法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034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优化问题建模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目标函数：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最小化综合成本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(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电气损耗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+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疲劳损耗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 + </a:t>
            </a:r>
            <a:r>
              <a:rPr lang="en-US" sz="2000" b="0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效率偏离成本</a:t>
            </a:r>
            <a:r>
              <a:rPr lang="en-US" sz="2000" b="0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 dirty="0" err="1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约束条件</a:t>
            </a:r>
            <a:r>
              <a:rPr lang="en-US" sz="2000" b="1" i="0" u="none" strike="noStrike" dirty="0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endParaRPr lang="en-US" sz="1100" dirty="0"/>
          </a:p>
          <a:p>
            <a:pPr>
              <a:lnSpc>
                <a:spcPct val="108333"/>
              </a:lnSpc>
            </a:pP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• 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功率平衡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：</a:t>
            </a:r>
            <a:r>
              <a:rPr lang="el-GR" altLang="zh-CN" sz="1800" dirty="0">
                <a:solidFill>
                  <a:srgbClr val="D1D5DB"/>
                </a:solidFill>
                <a:latin typeface="SimHei"/>
                <a:ea typeface="SimHei"/>
              </a:rPr>
              <a:t> Σ</a:t>
            </a:r>
            <a:r>
              <a:rPr lang="en-US" altLang="zh-CN" sz="1800" dirty="0" err="1">
                <a:solidFill>
                  <a:srgbClr val="D1D5DB"/>
                </a:solidFill>
                <a:latin typeface="SimHei"/>
                <a:ea typeface="SimHei"/>
              </a:rPr>
              <a:t>P_i</a:t>
            </a:r>
            <a:r>
              <a:rPr lang="en-US" altLang="zh-CN" sz="1800" dirty="0">
                <a:solidFill>
                  <a:srgbClr val="D1D5DB"/>
                </a:solidFill>
                <a:latin typeface="SimHei"/>
                <a:ea typeface="SimHei"/>
              </a:rPr>
              <a:t> = </a:t>
            </a:r>
            <a:r>
              <a:rPr lang="en-US" altLang="zh-CN" sz="1800" dirty="0" err="1">
                <a:solidFill>
                  <a:srgbClr val="D1D5DB"/>
                </a:solidFill>
                <a:latin typeface="SimHei"/>
                <a:ea typeface="SimHei"/>
              </a:rPr>
              <a:t>P_set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(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全场总功率指令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)</a:t>
            </a:r>
          </a:p>
          <a:p>
            <a:pPr>
              <a:lnSpc>
                <a:spcPct val="108333"/>
              </a:lnSpc>
            </a:pP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• 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单机限制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：</a:t>
            </a:r>
            <a:r>
              <a:rPr lang="en-US" altLang="zh-CN" sz="1800" dirty="0">
                <a:solidFill>
                  <a:srgbClr val="D1D5DB"/>
                </a:solidFill>
                <a:latin typeface="SimHei"/>
                <a:ea typeface="SimHei"/>
              </a:rPr>
              <a:t> </a:t>
            </a:r>
            <a:r>
              <a:rPr lang="en-US" altLang="zh-CN" sz="1800" dirty="0" err="1">
                <a:solidFill>
                  <a:srgbClr val="D1D5DB"/>
                </a:solidFill>
                <a:latin typeface="SimHei"/>
                <a:ea typeface="SimHei"/>
              </a:rPr>
              <a:t>P_i_min</a:t>
            </a:r>
            <a:r>
              <a:rPr lang="en-US" altLang="zh-CN" sz="1800" dirty="0">
                <a:solidFill>
                  <a:srgbClr val="D1D5DB"/>
                </a:solidFill>
                <a:latin typeface="SimHei"/>
                <a:ea typeface="SimHei"/>
              </a:rPr>
              <a:t> ≤ </a:t>
            </a:r>
            <a:r>
              <a:rPr lang="en-US" altLang="zh-CN" sz="1800" dirty="0" err="1">
                <a:solidFill>
                  <a:srgbClr val="D1D5DB"/>
                </a:solidFill>
                <a:latin typeface="SimHei"/>
                <a:ea typeface="SimHei"/>
              </a:rPr>
              <a:t>P_i</a:t>
            </a:r>
            <a:r>
              <a:rPr lang="en-US" altLang="zh-CN" sz="1800" dirty="0">
                <a:solidFill>
                  <a:srgbClr val="D1D5DB"/>
                </a:solidFill>
                <a:latin typeface="SimHei"/>
                <a:ea typeface="SimHei"/>
              </a:rPr>
              <a:t> ≤ </a:t>
            </a:r>
            <a:r>
              <a:rPr lang="en-US" altLang="zh-CN" sz="1800" dirty="0" err="1">
                <a:solidFill>
                  <a:srgbClr val="D1D5DB"/>
                </a:solidFill>
                <a:latin typeface="SimHei"/>
                <a:ea typeface="SimHei"/>
              </a:rPr>
              <a:t>P_i_max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(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出力上下限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)</a:t>
            </a:r>
          </a:p>
          <a:p>
            <a:pPr>
              <a:lnSpc>
                <a:spcPct val="108333"/>
              </a:lnSpc>
            </a:pP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• 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动态约束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：</a:t>
            </a:r>
            <a:r>
              <a:rPr lang="pt-BR" altLang="zh-CN" sz="1800" dirty="0">
                <a:solidFill>
                  <a:srgbClr val="D1D5DB"/>
                </a:solidFill>
                <a:latin typeface="SimHei"/>
                <a:ea typeface="SimHei"/>
              </a:rPr>
              <a:t> |ΔP_i| ≤ R_i_max·Δt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(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爬坡率</a:t>
            </a:r>
            <a:r>
              <a:rPr lang="en-US" sz="1800" dirty="0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) 及 </a:t>
            </a:r>
            <a:r>
              <a:rPr lang="en-US" sz="1800" dirty="0" err="1">
                <a:solidFill>
                  <a:srgbClr val="D1D5DB"/>
                </a:solidFill>
                <a:latin typeface="SimHei"/>
                <a:ea typeface="SimHei"/>
                <a:sym typeface="SimHei"/>
              </a:rPr>
              <a:t>集电线路容量限制</a:t>
            </a:r>
            <a:endParaRPr lang="en-US" sz="1800" dirty="0">
              <a:solidFill>
                <a:srgbClr val="D1D5DB"/>
              </a:solidFill>
              <a:latin typeface="SimHei"/>
              <a:ea typeface="SimHei"/>
              <a:sym typeface="SimHei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10668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63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597400"/>
            <a:ext cx="990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求解方法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5080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采用</a:t>
            </a: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等微增率法</a:t>
            </a:r>
            <a:r>
              <a:rPr lang="en-US" sz="20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结合</a:t>
            </a: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动态规划</a:t>
            </a:r>
            <a:r>
              <a:rPr lang="en-US" sz="20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（启停决策），在满足所有约束的前提下实现全场经济效益最大化。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11739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经济分配</a:t>
            </a:r>
            <a:r>
              <a:rPr lang="en-US" sz="36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- 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权重系数说明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049623"/>
              </p:ext>
            </p:extLst>
          </p:nvPr>
        </p:nvGraphicFramePr>
        <p:xfrm>
          <a:off x="762000" y="1404486"/>
          <a:ext cx="10668000" cy="30073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成本项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表达式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典型权重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物理意义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SimHei"/>
                        </a:rPr>
                        <a:t>电气损耗</a:t>
                      </a:r>
                      <a:endParaRPr lang="en-US" sz="2400" b="0" i="0" u="none" strike="noStrike" cap="none" dirty="0">
                        <a:solidFill>
                          <a:srgbClr val="FFFFFF"/>
                        </a:solidFill>
                        <a:latin typeface="SimHei"/>
                        <a:ea typeface="SimHei"/>
                        <a:cs typeface="+mn-cs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C_loss,i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 = a_i·P_i² + </a:t>
                      </a: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b_i·P_i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 + </a:t>
                      </a: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c_i</a:t>
                      </a:r>
                      <a:endParaRPr lang="en-US" sz="2000" b="0" i="0" u="none" strike="noStrike" cap="none" dirty="0">
                        <a:solidFill>
                          <a:srgbClr val="FFFFFF"/>
                        </a:solidFill>
                        <a:latin typeface="SimHei"/>
                        <a:ea typeface="SimHei"/>
                        <a:cs typeface="+mn-cs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线路/变压器铜损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疲劳损耗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C_fatigue,i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 = f(</a:t>
                      </a:r>
                      <a:r>
                        <a:rPr lang="el-GR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Δ</a:t>
                      </a: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P_i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, </a:t>
                      </a:r>
                      <a:r>
                        <a:rPr lang="zh-CN" altLang="en-US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累计运行时间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, </a:t>
                      </a:r>
                      <a:r>
                        <a:rPr lang="zh-CN" altLang="en-US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载荷谱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)</a:t>
                      </a:r>
                      <a:endParaRPr lang="en-US" sz="2000" b="0" i="0" u="none" strike="noStrike" cap="none" dirty="0">
                        <a:solidFill>
                          <a:srgbClr val="FFFFFF"/>
                        </a:solidFill>
                        <a:latin typeface="SimHei"/>
                        <a:ea typeface="SimHei"/>
                        <a:cs typeface="+mn-cs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0.3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齿轮箱/叶片寿命折损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效率偏离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C_deviation,i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 = (</a:t>
                      </a: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P_i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 - </a:t>
                      </a:r>
                      <a:r>
                        <a:rPr lang="en-US" altLang="zh-CN" sz="2000" b="0" i="0" u="none" strike="noStrike" cap="non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P_opt,i</a:t>
                      </a:r>
                      <a:r>
                        <a:rPr lang="en-US" altLang="zh-CN" sz="2000" b="0" i="0" u="none" strike="noStrike" cap="non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+mn-cs"/>
                          <a:sym typeface="Arial"/>
                        </a:rPr>
                        <a:t>)²</a:t>
                      </a:r>
                      <a:endParaRPr lang="en-US" sz="2000" b="0" i="0" u="none" strike="noStrike" cap="none" dirty="0">
                        <a:solidFill>
                          <a:srgbClr val="FFFFFF"/>
                        </a:solidFill>
                        <a:latin typeface="SimHei"/>
                        <a:ea typeface="SimHei"/>
                        <a:sym typeface="Arial"/>
                      </a:endParaRP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0" i="0" u="none" strike="noStrike" dirty="0" err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偏离最优效率点惩罚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61638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动态调整策略</a:t>
            </a:r>
            <a:endParaRPr lang="en-US" sz="2400" dirty="0"/>
          </a:p>
        </p:txBody>
      </p:sp>
      <p:sp>
        <p:nvSpPr>
          <p:cNvPr id="7" name="AutoShape 7"/>
          <p:cNvSpPr/>
          <p:nvPr/>
        </p:nvSpPr>
        <p:spPr>
          <a:xfrm>
            <a:off x="762000" y="5147511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5452311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5274511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大风季：</a:t>
            </a:r>
            <a:r>
              <a:rPr lang="en-US" sz="2400" b="0" i="0" u="none" strike="noStrike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降低疲劳权重，提高发电收益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5147511"/>
            <a:ext cx="5207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452311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5274511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寿命末期：</a:t>
            </a:r>
            <a:r>
              <a:rPr lang="en-US" sz="2400" b="0" i="0" u="none" strike="noStrike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降低疲劳权重，允许更多调节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关键模块 - 预测融合器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多源预测输入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1016000" y="294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超短期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(0~4h, 15min)</a:t>
            </a:r>
            <a:endParaRPr lang="en-US" sz="2000" dirty="0"/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短期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(0~24h, 1h)</a:t>
            </a:r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数值天气预报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(NWP)</a:t>
            </a:r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持续性预测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基准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413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核心融合算法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50874" y="2946000"/>
            <a:ext cx="2943459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自适应加权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动态RMSE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)</a:t>
            </a:r>
            <a:endParaRPr lang="en-US" sz="2000" dirty="0"/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卡尔曼滤波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时间对齐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)</a:t>
            </a:r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贝叶斯模型平均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</a:t>
            </a: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不确定性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)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128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4130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融合输出结果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294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  <a:defRPr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融合后功率曲线</a:t>
            </a:r>
            <a:endParaRPr lang="en-US" sz="2000" dirty="0"/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置信区间</a:t>
            </a:r>
            <a:r>
              <a:rPr lang="en-US" sz="20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(±1σ)</a:t>
            </a:r>
          </a:p>
          <a:p>
            <a:pPr marL="228600" indent="-228600" algn="l">
              <a:lnSpc>
                <a:spcPct val="125000"/>
              </a:lnSpc>
              <a:buClr>
                <a:srgbClr val="FFFFFF"/>
              </a:buClr>
              <a:buChar char="•"/>
            </a:pPr>
            <a:r>
              <a:rPr lang="en-US" sz="20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各预测源实时权重</a:t>
            </a:r>
            <a:endParaRPr lang="en-US" sz="2000" b="0" i="0" u="none" strike="noStrike" dirty="0">
              <a:solidFill>
                <a:srgbClr val="FFFFFF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dirty="0" err="1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通过多源数据融合与先进算法处理，为前馈控制和经济分配提供高精度、高可靠性的决策依据</a:t>
            </a:r>
            <a:r>
              <a:rPr lang="en-US" sz="2000" b="0" i="0" u="none" strike="noStrike" dirty="0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关键模块 - 风机管理器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1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核心功能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921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  <a:defRPr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实时采集状态：功率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/</a:t>
            </a: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转速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/</a:t>
            </a: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温度等</a:t>
            </a:r>
            <a:endParaRPr lang="en-US" sz="1100" dirty="0"/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计算单机可调功率范围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下发指令：Modbus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 TCP/OPC UA</a:t>
            </a: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故障检测与安全互锁机制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41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41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性能指标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2921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  <a:defRPr/>
            </a:pP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全站200台状态刷新 ≤ 1s</a:t>
            </a:r>
            <a:endParaRPr lang="en-US" sz="1100" dirty="0"/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指令下发成功率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 ≥ 99.9%</a:t>
            </a: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支持指令超时自动重发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(3次)</a:t>
            </a: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高并发数据处理能力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2159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13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413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分组策略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2921000"/>
            <a:ext cx="2921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  <a:defRPr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多维分组：风向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/</a:t>
            </a: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位置</a:t>
            </a:r>
            <a:r>
              <a:rPr lang="en-US" sz="1800" b="0" i="0" u="none" strike="noStrike" dirty="0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/</a:t>
            </a: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机型</a:t>
            </a:r>
            <a:endParaRPr lang="en-US" sz="1100" dirty="0"/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支持分组批量启停控制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精细化分组功率分配管理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  <a:p>
            <a:pPr marL="228600" indent="-228600" algn="l">
              <a:lnSpc>
                <a:spcPct val="100000"/>
              </a:lnSpc>
              <a:buClr>
                <a:srgbClr val="EBEBEB"/>
              </a:buClr>
              <a:buChar char="•"/>
            </a:pPr>
            <a:r>
              <a:rPr lang="en-US" sz="1800" b="0" i="0" u="none" strike="noStrike" dirty="0" err="1">
                <a:solidFill>
                  <a:srgbClr val="EBEBEB"/>
                </a:solidFill>
                <a:latin typeface="SimHei"/>
                <a:ea typeface="SimHei"/>
                <a:cs typeface="SimHei"/>
                <a:sym typeface="SimHei"/>
              </a:rPr>
              <a:t>灵活调整分组逻辑</a:t>
            </a:r>
            <a:endParaRPr lang="en-US" sz="1800" b="0" i="0" u="none" strike="noStrike" dirty="0">
              <a:solidFill>
                <a:srgbClr val="EBEBEB"/>
              </a:solidFill>
              <a:latin typeface="SimHei"/>
              <a:ea typeface="SimHei"/>
              <a:cs typeface="SimHei"/>
              <a:sym typeface="Sim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762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详细控制流程（时序图）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9431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读取实际功率、可用功率</a:t>
            </a:r>
            <a:endParaRPr lang="en-US" sz="1800" dirty="0"/>
          </a:p>
        </p:txBody>
      </p:sp>
      <p:sp>
        <p:nvSpPr>
          <p:cNvPr id="8" name="AutoShape 8"/>
          <p:cNvSpPr/>
          <p:nvPr/>
        </p:nvSpPr>
        <p:spPr>
          <a:xfrm>
            <a:off x="762000" y="2540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7051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2667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获取当前计划值和预测值</a:t>
            </a:r>
            <a:endParaRPr lang="en-US" sz="1800" dirty="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4671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429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计算前馈+反馈，合成</a:t>
            </a:r>
            <a:r>
              <a:rPr lang="en-US" sz="18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 </a:t>
            </a: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P_set</a:t>
            </a:r>
            <a:endParaRPr lang="en-US" sz="18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4064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42291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419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经济分配优化（每3min一次）</a:t>
            </a:r>
            <a:endParaRPr lang="en-US" sz="18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4826000"/>
            <a:ext cx="5334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9911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953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下发指令并监视执行</a:t>
            </a:r>
            <a:endParaRPr lang="en-US" sz="1800" dirty="0"/>
          </a:p>
        </p:txBody>
      </p:sp>
      <p:sp>
        <p:nvSpPr>
          <p:cNvPr id="20" name="AutoShape 20"/>
          <p:cNvSpPr/>
          <p:nvPr/>
        </p:nvSpPr>
        <p:spPr>
          <a:xfrm>
            <a:off x="7112000" y="1778000"/>
            <a:ext cx="4064000" cy="3683000"/>
          </a:xfrm>
          <a:prstGeom prst="roundRect">
            <a:avLst>
              <a:gd name="adj" fmla="val 3448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BFFF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/>
          <a:srcRect l="72" r="72"/>
          <a:stretch>
            <a:fillRect/>
          </a:stretch>
        </p:blipFill>
        <p:spPr>
          <a:xfrm>
            <a:off x="7239000" y="1892300"/>
            <a:ext cx="3810000" cy="3454400"/>
          </a:xfrm>
          <a:prstGeom prst="roundRect">
            <a:avLst>
              <a:gd name="adj" fmla="val 3676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2" name="AutoShape 22"/>
          <p:cNvSpPr/>
          <p:nvPr/>
        </p:nvSpPr>
        <p:spPr>
          <a:xfrm>
            <a:off x="7112000" y="558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系统控制逻辑交互时序全景图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418AD9-EDC4-70B8-2FFB-C9733B0EC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-355600"/>
            <a:ext cx="10456333" cy="757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63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352044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异常处理与容错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651000"/>
          <a:ext cx="9906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异常类型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检测方式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8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处理动作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调度计划超限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与预测最大值比较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锁定计划为预测值，告警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预测数据丢失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心跳超时检测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前馈系数置0，纯反馈控制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单机通信故障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无响应 &gt; 5s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标记该机不可用，重新分配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集电线路跳闸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接收保护信号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紧急降功率，冻结指令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全场爬坡率超限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变化率实时监测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自动减缓指令变化速率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457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安全降级策略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0165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257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5143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无法优化场景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自动切换至按可用容量比例分配模式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23000" y="5016500"/>
            <a:ext cx="5207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5257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5143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通信全断故障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冻结最后指令，启用本地风速-功率查表控制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3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49300" y="4953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关键参数配置表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684971"/>
              </p:ext>
            </p:extLst>
          </p:nvPr>
        </p:nvGraphicFramePr>
        <p:xfrm>
          <a:off x="806450" y="1270000"/>
          <a:ext cx="10668000" cy="51409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参数名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 dirty="0" err="1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符号</a:t>
                      </a:r>
                      <a:r>
                        <a:rPr lang="en-US" sz="2400" b="1" i="0" u="none" strike="noStrike" dirty="0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/</a:t>
                      </a:r>
                      <a:r>
                        <a:rPr lang="en-US" sz="2400" b="1" i="0" u="none" strike="noStrike" dirty="0" err="1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单位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典型值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400" b="1" i="0" u="none" strike="noStrike">
                          <a:solidFill>
                            <a:srgbClr val="00B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范围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控制周期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Tc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2 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1~4 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死区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1% Pn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0.5~2%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前馈系数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α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0~1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最大爬坡率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Rmax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3% Pn/min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1~10%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积分限幅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Ilim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10% Pn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5~20%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优化周期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Topt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3 min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1~5 min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电气损耗权重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β1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0~1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疲劳损耗权重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β2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0~1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效率偏离权重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β3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0.3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0" i="0" u="none" strike="noStrike" dirty="0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  <a:sym typeface="SimHei"/>
                        </a:rPr>
                        <a:t>0~1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016000"/>
            <a:ext cx="3022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性能评估指标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计划跟踪指标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626">
            <a:off x="1016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921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RMSE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2% Pn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MAE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1.5% Pn</a:t>
            </a:r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合格率 ≥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95%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45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经济性指标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5626">
            <a:off x="4699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99000" y="2921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发电效率 ≥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97%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电气损耗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3%</a:t>
            </a:r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疲劳成本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0.02元/kWh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2032000"/>
            <a:ext cx="3302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286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260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设备友好指标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626">
            <a:off x="8382014" y="2787650"/>
            <a:ext cx="279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382000" y="2921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功率变化率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1% Pn/s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单机调节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120次/h</a:t>
            </a:r>
          </a:p>
          <a:p>
            <a:pPr indent="0" algn="l">
              <a:lnSpc>
                <a:spcPct val="108333"/>
              </a:lnSpc>
            </a:pPr>
            <a:r>
              <a:rPr lang="en-US" sz="1800" b="0" i="0" u="none" strike="noStrike">
                <a:solidFill>
                  <a:srgbClr val="E5E7EB"/>
                </a:solidFill>
                <a:latin typeface="SimHei"/>
                <a:ea typeface="SimHei"/>
                <a:cs typeface="SimHei"/>
                <a:sym typeface="SimHei"/>
              </a:rPr>
              <a:t>启停次数 ≤</a:t>
            </a:r>
            <a:r>
              <a:rPr lang="en-US" sz="18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3次/天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总结与收益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核心优势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368550"/>
            <a:ext cx="29972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spcAft>
                <a:spcPts val="1000"/>
              </a:spcAft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高精度：</a:t>
            </a: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复合控制+自适应PID，跟踪误差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&lt;1.5%</a:t>
            </a:r>
            <a:endParaRPr lang="en-US" sz="1200" dirty="0"/>
          </a:p>
          <a:p>
            <a:pPr indent="0" algn="l">
              <a:lnSpc>
                <a:spcPct val="108333"/>
              </a:lnSpc>
              <a:spcAft>
                <a:spcPts val="1000"/>
              </a:spcAft>
            </a:pP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高经济性：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经济分配降低损耗，年收益提升2~3%</a:t>
            </a: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高可靠性：</a:t>
            </a: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多重容错+安全降级，系统可用率</a:t>
            </a: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&gt;99.9%</a:t>
            </a:r>
          </a:p>
        </p:txBody>
      </p:sp>
      <p:sp>
        <p:nvSpPr>
          <p:cNvPr id="9" name="AutoShape 9"/>
          <p:cNvSpPr/>
          <p:nvPr/>
        </p:nvSpPr>
        <p:spPr>
          <a:xfrm>
            <a:off x="4394200" y="1524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2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1778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预期收益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84700" y="2368550"/>
            <a:ext cx="29972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spcAft>
                <a:spcPts val="1500"/>
              </a:spcAft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电量提升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每年减少弃风电量约1.5%</a:t>
            </a:r>
            <a:endParaRPr lang="en-US" sz="1200" dirty="0"/>
          </a:p>
          <a:p>
            <a:pPr indent="0" algn="l">
              <a:lnSpc>
                <a:spcPct val="108333"/>
              </a:lnSpc>
              <a:spcAft>
                <a:spcPts val="1500"/>
              </a:spcAft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寿命延长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延长风机关键部件寿命10~15%</a:t>
            </a: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考核优化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提升调度考核得分，AGC性能排名前列</a:t>
            </a:r>
            <a:endParaRPr lang="en-US" sz="1600" b="0" i="0" u="none" strike="noStrike" dirty="0">
              <a:solidFill>
                <a:srgbClr val="FFFFFF">
                  <a:alpha val="80000"/>
                </a:srgbClr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026400" y="1524000"/>
            <a:ext cx="3378200" cy="3810000"/>
          </a:xfrm>
          <a:prstGeom prst="roundRect">
            <a:avLst>
              <a:gd name="adj" fmla="val 3759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0400" y="177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788400" y="17780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下一步工作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16900" y="2368550"/>
            <a:ext cx="29972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spcAft>
                <a:spcPts val="1500"/>
              </a:spcAft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智能升级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引入深度学习预测模型，提升控制精度</a:t>
            </a:r>
            <a:endParaRPr lang="en-US" sz="1200" dirty="0"/>
          </a:p>
          <a:p>
            <a:pPr indent="0" algn="l">
              <a:lnSpc>
                <a:spcPct val="108333"/>
              </a:lnSpc>
              <a:spcAft>
                <a:spcPts val="1500"/>
              </a:spcAft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功能扩展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扩展至一次调频与惯量响应协同控制</a:t>
            </a:r>
            <a:endParaRPr lang="en-US" sz="1600" b="0" i="0" u="none" strike="noStrike" dirty="0">
              <a:solidFill>
                <a:srgbClr val="FFFFFF">
                  <a:alpha val="80000"/>
                </a:srgbClr>
              </a:solidFill>
              <a:latin typeface="SimHei"/>
              <a:ea typeface="SimHei"/>
              <a:cs typeface="SimHei"/>
              <a:sym typeface="SimHei"/>
            </a:endParaRPr>
          </a:p>
          <a:p>
            <a:pPr indent="0" algn="l">
              <a:lnSpc>
                <a:spcPct val="108333"/>
              </a:lnSpc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市场参与</a:t>
            </a:r>
            <a:r>
              <a:rPr lang="en-US" sz="1800" b="1" i="0" u="none" strike="noStrike" dirty="0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：</a:t>
            </a:r>
            <a:br>
              <a:rPr lang="en-US" sz="1800" b="0" i="0" u="none" strike="noStrike" dirty="0">
                <a:solidFill>
                  <a:srgbClr val="1F2329"/>
                </a:solidFill>
                <a:latin typeface="SimHei"/>
                <a:ea typeface="SimHei"/>
                <a:cs typeface="SimHei"/>
                <a:sym typeface="SimHei"/>
              </a:rPr>
            </a:b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参与电力现货市场优化运行</a:t>
            </a:r>
            <a:endParaRPr lang="en-US" sz="1600" b="0" i="0" u="none" strike="noStrike" dirty="0">
              <a:solidFill>
                <a:srgbClr val="FFFFFF">
                  <a:alpha val="80000"/>
                </a:srgbClr>
              </a:solidFill>
              <a:latin typeface="SimHei"/>
              <a:ea typeface="SimHei"/>
              <a:cs typeface="SimHei"/>
              <a:sym typeface="SimHei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持续优化</a:t>
            </a:r>
            <a:r>
              <a:rPr lang="en-US" sz="1600" b="0" i="0" u="none" strike="noStrike" dirty="0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 · </a:t>
            </a:r>
            <a:r>
              <a:rPr lang="en-US" sz="1600" b="0" i="0" u="none" strike="noStrike" dirty="0" err="1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价值创造</a:t>
            </a:r>
            <a:r>
              <a:rPr lang="en-US" sz="1600" b="0" i="0" u="none" strike="noStrike" dirty="0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 · </a:t>
            </a:r>
            <a:r>
              <a:rPr lang="en-US" sz="1600" b="0" i="0" u="none" strike="noStrike" dirty="0" err="1">
                <a:solidFill>
                  <a:srgbClr val="FFFFFF">
                    <a:alpha val="60000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安全高效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91200" y="2146300"/>
            <a:ext cx="609600" cy="609600"/>
          </a:xfrm>
          <a:prstGeom prst="rect">
            <a:avLst/>
          </a:prstGeom>
          <a:effectLst>
            <a:outerShdw blurRad="127000" dir="2700000" algn="tl" rotWithShape="0">
              <a:srgbClr val="00BFFF">
                <a:alpha val="5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0" y="292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6000" spc="200" dirty="0" err="1">
                <a:solidFill>
                  <a:srgbClr val="FFFFFF">
                    <a:alpha val="9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谢谢！感谢大家的聆听</a:t>
            </a:r>
            <a:endParaRPr lang="en-US" altLang="zh-CN" sz="3200" dirty="0"/>
          </a:p>
        </p:txBody>
      </p:sp>
      <p:sp>
        <p:nvSpPr>
          <p:cNvPr id="6" name="AutoShape 6"/>
          <p:cNvSpPr/>
          <p:nvPr/>
        </p:nvSpPr>
        <p:spPr>
          <a:xfrm>
            <a:off x="5715000" y="436245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63500" dir="2700000" algn="tl" rotWithShape="0">
              <a:srgbClr val="00BFFF">
                <a:alpha val="8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1372</Words>
  <Application>Microsoft Office PowerPoint</Application>
  <PresentationFormat>宽屏</PresentationFormat>
  <Paragraphs>308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SimHei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 KUN</cp:lastModifiedBy>
  <cp:revision>6</cp:revision>
  <dcterms:modified xsi:type="dcterms:W3CDTF">2026-04-07T06:36:13Z</dcterms:modified>
</cp:coreProperties>
</file>