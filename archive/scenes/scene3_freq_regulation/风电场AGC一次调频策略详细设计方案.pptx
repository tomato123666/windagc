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69" r:id="rId3"/>
    <p:sldId id="268" r:id="rId4"/>
    <p:sldId id="257" r:id="rId5"/>
    <p:sldId id="267" r:id="rId6"/>
    <p:sldId id="258" r:id="rId7"/>
    <p:sldId id="266" r:id="rId8"/>
    <p:sldId id="259" r:id="rId9"/>
    <p:sldId id="260" r:id="rId10"/>
    <p:sldId id="261" r:id="rId11"/>
    <p:sldId id="262" r:id="rId12"/>
    <p:sldId id="263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6" y="3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大家好，今天我将为大家详细介绍风电场AGC一次调频策略方案。随着新能源渗透率的不断提高，电网的频率稳定面临着前所未有的挑战。本次方案旨在通过先进的三阶段控制和机组协同策略，为电网提供快速、稳定、可靠的频率支撑能力，确保电网安全稳定运行。接下来，我将从背景目标、系统架构、核心算法等几个方面展开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B98C-B129-1156-BE3F-650D1245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6035C4-A9D6-F412-19DD-5AE070E9FA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99DFF-4582-1838-F8A3-4A0D65F1622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0FB3ED7-D2EA-B31B-0F58-1897A9E579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6A2E1DD-10B8-3DC7-767B-A7852C70B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详细介绍我们团队设计的风电场AGC一次调频策略方案。本次方案旨在通过先进的“惯性响应-下垂控制-转速恢复”三阶段协同技术，为电网提供快速、稳定、可靠的频率支撑能力。接下来，我将从背景目标、系统架构、核心算法等几个方面展开介绍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25576-AFAD-4C06-C3C3-16D386CFCF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BA59C-93F3-9512-35BF-A5ABC34A4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4765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这一页介绍了项目的背景与核心目标。首先，电网面临新能源高渗透率带来的挑战，新规程也提出了明确要求。基于此，我们设定了四大设计目标，并遵循最高优先级、分层协同和冗余可靠三大设计原则。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A162E-61F2-89FC-5A92-A4347CA2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215DE1-6EEF-66FA-4704-EB2B69F06B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1FCD5-AC3B-9827-2B4B-3DC43295917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D8FDA9E-45B7-2925-C290-EEC7C2E360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3FB160B-2838-AC5D-32A3-23A05863E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76C71-2A35-D3CE-FC4C-123549B0AE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C55E7-2DF8-A040-61F2-2E27D0315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88751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深入探讨风电场的方案之前，我们先对比一下风电场与光伏区在一次调频方面的异同。两者的目标和核心策略是一致的，都是为了提升电网稳定性。但最大的不同在于能量来源，风电场依赖转子动能，而光伏区依赖储能。这也导致了它们在响应特性和控制复杂度上的差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这是我们方案的系统总体架构。整个系统由一个高性能的一次调频主控制器为核心，它包含频率处理器、状态机、功率计算器和分配器四大模块。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控制器的数据来源包括三重冗余的频率测量单元、风机SCADA系统、风速预测以及与上级调度通信的接口。这种多源数据融合确保了控制的快速性和准确性。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系统的输入输出接口定义清晰，如右侧所示，涵盖了频率、功率、状态等关键参数，确保了与外部系统的无缝对接。这套架构设计不仅保证了实时响应，更通过冗余设计提升了系统运行的安全性和可靠性。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我们的核心控制策略主要包含四个部分。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首先是精准频率测量，通过毫秒级采样和消除谐波干扰，确保输入信号的准确性，这是一切控制的基础。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其次是智能状态管理，系统具备多模态切换机制，能够毫秒级响应频率波动与工况变化，保障运行的稳定性。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第三是动态功率计算，系统会根据实时频率偏差，精准计算所需出力，动态调整参数，有效避免过补或欠补。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最后是机组优选分配，利用算法优化组合策略，在满足调频要求的同时，实现机组负荷的经济、高效分配。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这四个环节共同构成了全链路的数字化控制闭环。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频率测量方面，我们采用三取中结合动态质量加权的融合策略，确保信号的可靠性。同时，通过平滑滤波处理，为后续计算提供高质量的数据。在状态机管理方面，我们设计了清晰的进入和退出条件，确保调频动作的精准触发和可靠退出，整个过程在就绪、激活和恢复三个状态间循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我们的调频策略分为三个阶段。第一阶段是虚拟惯性响应，提供毫秒级的快速支撑。第二阶段是下垂主控响应，提供持续的稳态支撑。现在新增的第三阶段是转速恢复管理，当频率稳定后，系统会启动恢复计时器，通过缓慢调整功率，让风机转速平稳恢复到最优状态，同时确保在恢复期间，如果频率再次越限，能立即暂停恢复，优先保障电网稳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精细化控制，我们设计了智能的机组优选与功率分配策略。系统每30秒动态更新一次机组池，根据预设的效能指标，从所有健康风机中筛选出最佳的70%作为主力调频机组。在分配功率时，我们采用比例-裕度加权算法，既考虑了机组的容量，也鼓励高转速机组优先出力，从而在保证响应速度的同时，兼顾了设备的使用寿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全是所有控制策略的前提。我们设置了两层保护机制。第一层是最高优先级的硬性安全保护，一旦监测到转速、功率或载荷超出安全阈值，系统会立即采取保护动作。第二层是运行软限制，由AGC系统统一管理，如限制全场爬坡率和调频能量累积，确保风电场的整体运行平稳，并与电压控制等其他系统协调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提出的方案通过完整的三阶段控制、精细化的机组分配和多重保护机制，实现了对电网频率事件的快速、精准和安全的支撑。当然，项目也存在一些不足之处，比如算法复杂度较高，对控制器性能有一定要求。未来，我们还将引入机器学习、与储能协同等技术，进一步提升方案的性能和经济效益。我的汇报到此结束，感谢各位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807" t="1785" r="1807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-61369" y="-53357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01418">
                  <a:alpha val="15000"/>
                </a:srgbClr>
              </a:gs>
              <a:gs pos="50000">
                <a:srgbClr val="101418">
                  <a:alpha val="85000"/>
                </a:srgbClr>
              </a:gs>
              <a:gs pos="100000">
                <a:srgbClr val="101418">
                  <a:alpha val="96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858000" y="19050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风电场AGC一次调频策略</a:t>
            </a:r>
            <a:b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详细设计方案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858000" y="3111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858000" y="4508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汇报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人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郑怀勇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2026年4月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B6A3B-0E24-6E08-2F20-0BDAD8E4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6A9E65E-0F6C-58D8-3941-17AACB4CD91C}"/>
              </a:ext>
            </a:extLst>
          </p:cNvPr>
          <p:cNvSpPr/>
          <p:nvPr/>
        </p:nvSpPr>
        <p:spPr>
          <a:xfrm>
            <a:off x="475952" y="288434"/>
            <a:ext cx="1383533" cy="6852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4700" b="1" dirty="0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目录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F1922F6-4A93-3119-8E32-E894A00F27F4}"/>
              </a:ext>
            </a:extLst>
          </p:cNvPr>
          <p:cNvSpPr/>
          <p:nvPr/>
        </p:nvSpPr>
        <p:spPr>
          <a:xfrm>
            <a:off x="1016000" y="3769971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BF487F-BE19-C8C3-6AB4-7F2C8DEC3B34}"/>
              </a:ext>
            </a:extLst>
          </p:cNvPr>
          <p:cNvSpPr txBox="1"/>
          <p:nvPr/>
        </p:nvSpPr>
        <p:spPr>
          <a:xfrm>
            <a:off x="546184" y="1280026"/>
            <a:ext cx="764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 </a:t>
            </a:r>
            <a:r>
              <a:rPr lang="en-US" altLang="zh-CN" sz="1800" b="1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背景与核心目标</a:t>
            </a:r>
            <a:endParaRPr lang="zh-CN" altLang="en-US" sz="1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E84C9C-8FD9-ED30-FC4E-1A5CC4F14188}"/>
              </a:ext>
            </a:extLst>
          </p:cNvPr>
          <p:cNvSpPr txBox="1"/>
          <p:nvPr/>
        </p:nvSpPr>
        <p:spPr>
          <a:xfrm>
            <a:off x="546184" y="1852469"/>
            <a:ext cx="8002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2 </a:t>
            </a:r>
            <a:r>
              <a:rPr lang="en-US" altLang="zh-CN" sz="1800" b="1" dirty="0" err="1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风电场与光伏区AGC一次调频对比分析</a:t>
            </a:r>
            <a:endParaRPr lang="en-US" altLang="zh-CN" sz="1800" b="1" dirty="0">
              <a:solidFill>
                <a:srgbClr val="10B981"/>
              </a:solidFill>
              <a:latin typeface="Noto Sans SC"/>
              <a:ea typeface="Noto Sans SC"/>
            </a:endParaRP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7DEB6E-2CC4-1202-40A4-7BAF56E0D7B4}"/>
              </a:ext>
            </a:extLst>
          </p:cNvPr>
          <p:cNvSpPr txBox="1"/>
          <p:nvPr/>
        </p:nvSpPr>
        <p:spPr>
          <a:xfrm>
            <a:off x="546184" y="2405730"/>
            <a:ext cx="765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3 </a:t>
            </a:r>
            <a:r>
              <a:rPr lang="en-US" altLang="zh-CN" sz="1800" b="1" dirty="0" err="1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系统总体架构</a:t>
            </a:r>
            <a:endParaRPr lang="zh-CN" altLang="en-US" sz="1800" b="1" dirty="0">
              <a:solidFill>
                <a:srgbClr val="10B981"/>
              </a:solidFill>
              <a:latin typeface="Noto Sans SC"/>
              <a:ea typeface="Noto Sans SC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318680-0DB6-116E-14DC-4D29034D2285}"/>
              </a:ext>
            </a:extLst>
          </p:cNvPr>
          <p:cNvSpPr txBox="1"/>
          <p:nvPr/>
        </p:nvSpPr>
        <p:spPr>
          <a:xfrm>
            <a:off x="546184" y="2958991"/>
            <a:ext cx="10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4 </a:t>
            </a:r>
            <a:r>
              <a:rPr lang="en-US" altLang="zh-CN" sz="1800" b="1" dirty="0" err="1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核心控制策略</a:t>
            </a:r>
            <a:endParaRPr lang="zh-CN" altLang="en-US" sz="1800" b="1" dirty="0">
              <a:solidFill>
                <a:srgbClr val="10B981"/>
              </a:solidFill>
              <a:latin typeface="Noto Sans SC"/>
              <a:ea typeface="Noto Sans SC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05999E-E194-CFA1-2A08-76BA6EF58AD4}"/>
              </a:ext>
            </a:extLst>
          </p:cNvPr>
          <p:cNvSpPr txBox="1"/>
          <p:nvPr/>
        </p:nvSpPr>
        <p:spPr>
          <a:xfrm>
            <a:off x="546184" y="3512252"/>
            <a:ext cx="8729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5 </a:t>
            </a:r>
            <a:r>
              <a:rPr lang="en-US" altLang="zh-CN" sz="1800" b="1" dirty="0" err="1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保护与限制策略</a:t>
            </a:r>
            <a:endParaRPr lang="zh-CN" altLang="en-US" sz="1800" b="1" dirty="0">
              <a:solidFill>
                <a:srgbClr val="10B981"/>
              </a:solidFill>
              <a:latin typeface="Noto Sans SC"/>
              <a:ea typeface="Noto Sans SC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4B3173-9984-34D9-C945-1F30F85498F1}"/>
              </a:ext>
            </a:extLst>
          </p:cNvPr>
          <p:cNvSpPr txBox="1"/>
          <p:nvPr/>
        </p:nvSpPr>
        <p:spPr>
          <a:xfrm>
            <a:off x="546184" y="4093305"/>
            <a:ext cx="961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6 </a:t>
            </a:r>
            <a:r>
              <a:rPr lang="en-US" altLang="zh-CN" sz="1800" b="1" dirty="0" err="1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总结与</a:t>
            </a:r>
            <a:r>
              <a:rPr lang="zh-CN" altLang="en-US" sz="1800" b="1" dirty="0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改进</a:t>
            </a:r>
            <a:endParaRPr lang="zh-CN" altLang="en-US" sz="1800" b="1" dirty="0">
              <a:solidFill>
                <a:srgbClr val="10B981"/>
              </a:solidFill>
              <a:latin typeface="Noto Sans SC"/>
              <a:ea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75570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8491" y="129902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 </a:t>
            </a:r>
            <a:r>
              <a:rPr lang="en-US" sz="36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背景与核心目标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680913"/>
            <a:ext cx="10668000" cy="523728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电网形势与挑战</a:t>
            </a:r>
            <a:endParaRPr lang="en-US" sz="1200" dirty="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新能源高渗透率：系统转动惯量显著下降，频率稳定裕度降低，对一次调频能力提出更高要求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新版并网规程：国标明确规定风电场需具备一次调频功能，需快速响应电网频率偏差信号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设计目标</a:t>
            </a:r>
            <a:endParaRPr lang="en-US" sz="2000" b="1" i="0" u="none" strike="noStrike" dirty="0">
              <a:solidFill>
                <a:srgbClr val="10B98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</a:pPr>
            <a:r>
              <a:rPr lang="zh-CN" altLang="en-US" sz="1600" dirty="0"/>
              <a:t>本方案旨在使风电场具备快速、可靠、可持续的电网频率支撑能力，具体要求如下：</a:t>
            </a:r>
            <a:endParaRPr lang="en-US" sz="2000" b="1" i="0" u="none" strike="noStrike" dirty="0">
              <a:solidFill>
                <a:srgbClr val="10B98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快速响应性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: 300ms内启动调整，1秒内达到功率增值，极速平抑频率波动。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精准调节性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: 严格遵循下垂与惯性特性，稳态调节误差不超过±2%。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设备安全性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确保轴系扭矩、叶片载荷及电气参数在安全限值内，优先保障设备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动能可持续性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具备转子动能恢复策略，调频后平稳回升转速，避免动能耗尽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关键设计原则</a:t>
            </a:r>
            <a:endParaRPr lang="en-US" sz="2000" b="1" i="0" u="none" strike="noStrike" dirty="0">
              <a:solidFill>
                <a:srgbClr val="10B98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最高优先级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优先响应调频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分层协同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全场-机组双控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冗余可靠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三重化测量配置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4112D-B5A7-9718-CC02-A1CC84E6A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1331C888-20D4-1B6B-5707-B3D4AB2E910F}"/>
              </a:ext>
            </a:extLst>
          </p:cNvPr>
          <p:cNvSpPr/>
          <p:nvPr/>
        </p:nvSpPr>
        <p:spPr>
          <a:xfrm>
            <a:off x="1016000" y="3769971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6D6877-E89B-9520-2BDF-19465B034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31" y="0"/>
            <a:ext cx="104677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70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2 </a:t>
            </a:r>
            <a:r>
              <a:rPr lang="en-US" sz="32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风电场与光伏区AGC一次调频对比分析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478622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核心差异对比：风电场 vs 光伏区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32772" y="2195244"/>
            <a:ext cx="127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能量来源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857500" y="2195244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风电场：主要依赖转子动能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262563">
            <a:off x="6191250" y="47880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414228" y="2195244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光伏区：依赖储能系统充放电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32772" y="3429000"/>
            <a:ext cx="127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响应特性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857500" y="3429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受风速影响，响应速度有波动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262563">
            <a:off x="6191250" y="52960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414228" y="34290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响应速度更快、更稳定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32772" y="4794377"/>
            <a:ext cx="127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控制复杂度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857500" y="4794377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变量多（风速/桨距角），较复杂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262563">
            <a:off x="6191250" y="58040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14228" y="4794377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相对简单，重点关注储能SOC状态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785" r="2000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lvl="0" defTabSz="914400" eaLnBrk="1" fontAlgn="auto" latinLnBrk="0" hangingPunct="1">
              <a:lnSpc>
                <a:spcPct val="125000"/>
              </a:lnSpc>
              <a:buSzTx/>
              <a:buFont typeface="Arial"/>
              <a:buNone/>
              <a:tabLst/>
              <a:defRPr/>
            </a:pPr>
            <a:r>
              <a:rPr lang="en-US" sz="3200" b="1" dirty="0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3 </a:t>
            </a:r>
            <a:r>
              <a:rPr lang="en-US" sz="3200" b="1" dirty="0" err="1">
                <a:solidFill>
                  <a:srgbClr val="10B981"/>
                </a:solidFill>
                <a:latin typeface="Noto Sans SC"/>
                <a:ea typeface="Noto Sans SC"/>
                <a:sym typeface="Noto Sans SC"/>
              </a:rPr>
              <a:t>系统总体架构：一次调频主控制方案</a:t>
            </a:r>
            <a:endParaRPr lang="en-US" sz="3200" b="1" dirty="0">
              <a:solidFill>
                <a:srgbClr val="10B981"/>
              </a:solidFill>
              <a:latin typeface="Noto Sans SC"/>
              <a:ea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6604000" cy="114300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10B981">
                  <a:alpha val="100000"/>
                </a:srgbClr>
              </a:gs>
              <a:gs pos="100000">
                <a:srgbClr val="059669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10B981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5875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核心：一次调频主控制器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89000" y="2095500"/>
            <a:ext cx="1460500" cy="444500"/>
          </a:xfrm>
          <a:prstGeom prst="roundRect">
            <a:avLst>
              <a:gd name="adj" fmla="val 14285"/>
            </a:avLst>
          </a:prstGeom>
          <a:solidFill>
            <a:srgbClr val="FFFFFF">
              <a:alpha val="25000"/>
            </a:srgbClr>
          </a:solidFill>
          <a:ln w="12700" cap="flat" cmpd="sng">
            <a:solidFill>
              <a:srgbClr val="FFFFF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频率处理器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476500" y="2095500"/>
            <a:ext cx="1460500" cy="444500"/>
          </a:xfrm>
          <a:prstGeom prst="roundRect">
            <a:avLst>
              <a:gd name="adj" fmla="val 14285"/>
            </a:avLst>
          </a:prstGeom>
          <a:solidFill>
            <a:srgbClr val="FFFFFF">
              <a:alpha val="25000"/>
            </a:srgbClr>
          </a:solidFill>
          <a:ln w="12700" cap="flat" cmpd="sng">
            <a:solidFill>
              <a:srgbClr val="FFFFF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状态机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064000" y="2095500"/>
            <a:ext cx="1460500" cy="444500"/>
          </a:xfrm>
          <a:prstGeom prst="roundRect">
            <a:avLst>
              <a:gd name="adj" fmla="val 14285"/>
            </a:avLst>
          </a:prstGeom>
          <a:solidFill>
            <a:srgbClr val="FFFFFF">
              <a:alpha val="25000"/>
            </a:srgbClr>
          </a:solidFill>
          <a:ln w="12700" cap="flat" cmpd="sng">
            <a:solidFill>
              <a:srgbClr val="FFFFF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功率计算器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651500" y="2095500"/>
            <a:ext cx="1460500" cy="444500"/>
          </a:xfrm>
          <a:prstGeom prst="roundRect">
            <a:avLst>
              <a:gd name="adj" fmla="val 14285"/>
            </a:avLst>
          </a:prstGeom>
          <a:solidFill>
            <a:srgbClr val="FFFFFF">
              <a:alpha val="25000"/>
            </a:srgbClr>
          </a:solidFill>
          <a:ln w="12700" cap="flat" cmpd="sng">
            <a:solidFill>
              <a:srgbClr val="FFFFF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分配器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2921000"/>
            <a:ext cx="1524000" cy="2159000"/>
          </a:xfrm>
          <a:prstGeom prst="roundRect">
            <a:avLst>
              <a:gd name="adj" fmla="val 8333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3175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62000" y="39370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频率测量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3路冗余采集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确保精准</a:t>
            </a:r>
          </a:p>
        </p:txBody>
      </p:sp>
      <p:sp>
        <p:nvSpPr>
          <p:cNvPr id="14" name="AutoShape 14"/>
          <p:cNvSpPr/>
          <p:nvPr/>
        </p:nvSpPr>
        <p:spPr>
          <a:xfrm>
            <a:off x="2413000" y="2921000"/>
            <a:ext cx="1524000" cy="2159000"/>
          </a:xfrm>
          <a:prstGeom prst="roundRect">
            <a:avLst>
              <a:gd name="adj" fmla="val 8333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7500" y="31750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413000" y="39370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风机状态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实时数据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全机组监控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064000" y="2921000"/>
            <a:ext cx="1524000" cy="2159000"/>
          </a:xfrm>
          <a:prstGeom prst="roundRect">
            <a:avLst>
              <a:gd name="adj" fmla="val 8333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3175000"/>
            <a:ext cx="635000" cy="635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064000" y="39370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风速预测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超短期算法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提前响应</a:t>
            </a:r>
          </a:p>
        </p:txBody>
      </p:sp>
      <p:sp>
        <p:nvSpPr>
          <p:cNvPr id="20" name="AutoShape 20"/>
          <p:cNvSpPr/>
          <p:nvPr/>
        </p:nvSpPr>
        <p:spPr>
          <a:xfrm>
            <a:off x="5715000" y="2921000"/>
            <a:ext cx="1524000" cy="2159000"/>
          </a:xfrm>
          <a:prstGeom prst="roundRect">
            <a:avLst>
              <a:gd name="adj" fmla="val 8333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9500" y="3175000"/>
            <a:ext cx="635000" cy="635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715000" y="39370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通信接口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Modbus协议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调度对接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6604000" cy="571500"/>
          </a:xfrm>
          <a:prstGeom prst="roundRect">
            <a:avLst>
              <a:gd name="adj" fmla="val 44444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架构核心优势：高冗余 · 强实时 · 全闭环控制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0" y="1524000"/>
            <a:ext cx="3810000" cy="2095500"/>
          </a:xfrm>
          <a:prstGeom prst="roundRect">
            <a:avLst>
              <a:gd name="adj" fmla="val 606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0500" y="1714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191500" y="16764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关键输入 (Input)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7810500" y="2159000"/>
            <a:ext cx="342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f_Grid1/2/3：电网频率信号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P_Total_Actual：总有功功率</a:t>
            </a: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Wind_Prediction：超短期风速</a:t>
            </a: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Turbine_Status：机组状态阵列</a:t>
            </a:r>
          </a:p>
        </p:txBody>
      </p:sp>
      <p:sp>
        <p:nvSpPr>
          <p:cNvPr id="28" name="AutoShape 28"/>
          <p:cNvSpPr/>
          <p:nvPr/>
        </p:nvSpPr>
        <p:spPr>
          <a:xfrm>
            <a:off x="7620000" y="3810000"/>
            <a:ext cx="3810000" cy="2095500"/>
          </a:xfrm>
          <a:prstGeom prst="roundRect">
            <a:avLst>
              <a:gd name="adj" fmla="val 606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10500" y="4000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191500" y="39624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关键输出 (Output)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810500" y="4445000"/>
            <a:ext cx="342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P_FR_Target_Total：全场调频目标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P_Target_i：单台风机功率指令</a:t>
            </a: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FR_Status：系统调频状态字</a:t>
            </a:r>
          </a:p>
        </p:txBody>
      </p:sp>
      <p:sp>
        <p:nvSpPr>
          <p:cNvPr id="32" name="AutoShape 32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36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核心控制策略详解：实现快速精准的频率支撑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2540000" cy="4318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254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精准频率测量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毫秒级采样，消除谐波干扰，为控制提供实时基准，确保输入信号的绝对准确。</a:t>
            </a:r>
          </a:p>
        </p:txBody>
      </p:sp>
      <p:sp>
        <p:nvSpPr>
          <p:cNvPr id="4" name="AutoShape 4"/>
          <p:cNvSpPr/>
          <p:nvPr/>
        </p:nvSpPr>
        <p:spPr>
          <a:xfrm>
            <a:off x="3556000" y="1651000"/>
            <a:ext cx="2540000" cy="4318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254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⚙️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智能状态管理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多模态切换机制，毫秒级响应频率波动与工况变化，保障系统在复杂场景下的稳定性。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6350000" y="1651000"/>
            <a:ext cx="2540000" cy="4318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254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动态功率计算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基于实时频率偏差，精准计算所需出力，动态调整参数，有效避免过补或欠补问题。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9144000" y="1651000"/>
            <a:ext cx="2540000" cy="4318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254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📊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机组优选分配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采用算法优化组合策略，综合考虑能耗成本与响应速度，实现机组负荷的经济高效分配。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4 </a:t>
            </a:r>
            <a:r>
              <a:rPr lang="en-US" sz="36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核心策略：频率测量与状态机管理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频率测量与融合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三取中抗干扰：采用中位数算法，有效过滤瞬时尖峰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动态质量加权：差异过大时切换加权平均，按质量分配权重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42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平滑滤波处理：0.1s一阶低通滤波，抑制高频噪声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19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状态机与模式切换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82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进入条件：频率越限持续200ms且容量达标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546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退出条件：回死区稳定30s / 调度指令 / 能力耗尽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4 核心策略：三阶段功率计算模型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阶段一：虚拟惯性响应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160000" cy="503646"/>
          </a:xfrm>
          <a:prstGeom prst="roundRect">
            <a:avLst>
              <a:gd name="adj" fmla="val 1600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ΔP = -Kd · d(Δf)/dt · Pcap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毫秒级极速响应，直接释放转子动能，提供瞬时功率支撑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135086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阶段二：下垂主控响应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643086"/>
            <a:ext cx="10160000" cy="547914"/>
          </a:xfrm>
          <a:prstGeom prst="roundRect">
            <a:avLst>
              <a:gd name="adj" fmla="val 1600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ΔP = -(1/R) ·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Δf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Pcap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405086"/>
            <a:ext cx="10160000" cy="3149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提供稳态功率支撑，通过调节桨距角维持系统频率稳定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934132"/>
            <a:ext cx="10350137" cy="5479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阶段三：转速恢复管理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442132"/>
            <a:ext cx="10160000" cy="508000"/>
          </a:xfrm>
          <a:prstGeom prst="roundRect">
            <a:avLst>
              <a:gd name="adj" fmla="val 2000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ΔP_Recovery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= 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K_r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* (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ω_avg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- 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ω_ref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ACEAFD-5102-4415-BE71-B90D011ED82F}"/>
              </a:ext>
            </a:extLst>
          </p:cNvPr>
          <p:cNvSpPr txBox="1"/>
          <p:nvPr/>
        </p:nvSpPr>
        <p:spPr>
          <a:xfrm>
            <a:off x="670559" y="6044438"/>
            <a:ext cx="72803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通过缓慢调整功率，让风机转速平稳恢复到最优状态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4 核心策略：机组优选与功率分配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调频机组池遴选</a:t>
            </a:r>
            <a:r>
              <a:rPr lang="en-US" sz="16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(30s 动态更新)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2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准入：风机无故障，转速区间稳定在</a:t>
            </a:r>
            <a:r>
              <a:rPr lang="en-US" sz="2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[0.7 </a:t>
            </a:r>
            <a:r>
              <a:rPr lang="en-US" sz="2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pu</a:t>
            </a:r>
            <a:r>
              <a:rPr lang="en-US" sz="2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, 1.2 </a:t>
            </a:r>
            <a:r>
              <a:rPr lang="en-US" sz="2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pu</a:t>
            </a:r>
            <a:r>
              <a:rPr lang="en-US" sz="2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  <a:endParaRPr lang="en-US" dirty="0"/>
          </a:p>
          <a:p>
            <a:pPr indent="0" algn="l">
              <a:lnSpc>
                <a:spcPct val="108333"/>
              </a:lnSpc>
            </a:pPr>
            <a:r>
              <a:rPr lang="en-US" sz="2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2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排序：按“调频综合效能指标”降序</a:t>
            </a:r>
            <a:r>
              <a:rPr lang="en-US" sz="2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2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转速+桨距裕度-疲劳累积</a:t>
            </a:r>
            <a:r>
              <a:rPr lang="en-US" sz="2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l">
              <a:lnSpc>
                <a:spcPct val="108333"/>
              </a:lnSpc>
            </a:pPr>
            <a:r>
              <a:rPr lang="en-US" sz="2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构成：选取排名前70%的健康风机作为调频主力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功率动态分配策略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699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2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算法：比例-裕度加权分配，兼顾容量与实时状态</a:t>
            </a:r>
            <a:endParaRPr lang="en-US" dirty="0"/>
          </a:p>
          <a:p>
            <a:pPr indent="0" algn="l">
              <a:lnSpc>
                <a:spcPct val="108333"/>
              </a:lnSpc>
            </a:pPr>
            <a:r>
              <a:rPr lang="en-US" sz="2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2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原则：基础量按容量占比，引入转速正反馈优先调用</a:t>
            </a:r>
            <a:endParaRPr lang="en-US" sz="24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2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缓冲：后30%机组维持原计划，仅在主力不足时自动补位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5 </a:t>
            </a:r>
            <a:r>
              <a:rPr lang="en-US" sz="36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保护与限制策略：安全优先的双重防线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硬性安全保护 (最高优先级)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• 转速下限保护：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阈值 &lt; 0.65 pu，立即退出调频，保障设备核心安全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• 功率越限抑制：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阈值 &gt; 105% Pmax，执行功率限幅强制降低载荷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55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• 载荷紧急停机：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达到紧急阈值，触发最高等级响应，立即顺桨停机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44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运行软限制 (AGC统一管理)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953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• 全场爬坡率限制：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≤ 10% Pn/min，限制指令变化速率，防止电网冲击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571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• 调频能量管控：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5min内动能释放 ≤0.3pu·s，积分监测动态调整参数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3511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6 </a:t>
            </a:r>
            <a:r>
              <a:rPr lang="en-US" sz="36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</a:t>
            </a:r>
            <a:r>
              <a:rPr lang="zh-CN" altLang="en-US" sz="3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改进</a:t>
            </a:r>
            <a:r>
              <a:rPr lang="en-US" sz="3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36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从方案到落地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508000" y="1397000"/>
            <a:ext cx="3556000" cy="5080000"/>
          </a:xfrm>
          <a:prstGeom prst="roundRect">
            <a:avLst>
              <a:gd name="adj" fmla="val 5714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97000" y="171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核心方案亮点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048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完整覆盖：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全过程支撑惯性-下垂-恢复阶段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精细分配：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基于效能指标动态优选策略</a:t>
            </a:r>
          </a:p>
          <a:p>
            <a:pPr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多重保护：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软硬结合，确保机组运行安全</a:t>
            </a:r>
          </a:p>
          <a:p>
            <a:pPr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代码落地：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关键算法已完成工程化封装</a:t>
            </a:r>
          </a:p>
        </p:txBody>
      </p:sp>
      <p:sp>
        <p:nvSpPr>
          <p:cNvPr id="6" name="AutoShape 6"/>
          <p:cNvSpPr/>
          <p:nvPr/>
        </p:nvSpPr>
        <p:spPr>
          <a:xfrm>
            <a:off x="4572000" y="1397000"/>
            <a:ext cx="3556000" cy="5080000"/>
          </a:xfrm>
          <a:prstGeom prst="roundRect">
            <a:avLst>
              <a:gd name="adj" fmla="val 5714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461000" y="171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项目改进空间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826000" y="2286000"/>
            <a:ext cx="3048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算法开销：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多目标优化计算量大，依赖高性能控制器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数据依赖：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效能指标需精准疲劳载荷数据验证</a:t>
            </a:r>
          </a:p>
          <a:p>
            <a:pPr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场景验证：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需补充更多现场极端工况实测数据</a:t>
            </a:r>
          </a:p>
        </p:txBody>
      </p:sp>
      <p:sp>
        <p:nvSpPr>
          <p:cNvPr id="9" name="AutoShape 9"/>
          <p:cNvSpPr/>
          <p:nvPr/>
        </p:nvSpPr>
        <p:spPr>
          <a:xfrm>
            <a:off x="8509000" y="1397000"/>
            <a:ext cx="3556000" cy="5080000"/>
          </a:xfrm>
          <a:prstGeom prst="roundRect">
            <a:avLst>
              <a:gd name="adj" fmla="val 5714"/>
            </a:avLst>
          </a:prstGeom>
          <a:solidFill>
            <a:srgbClr val="FFFBEB">
              <a:alpha val="100000"/>
            </a:srgbClr>
          </a:solidFill>
          <a:ln w="254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0" y="171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未来优化规划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0" y="2286000"/>
            <a:ext cx="3048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智能升级：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引入机器学习动态调整权重，实现自适应调频</a:t>
            </a:r>
            <a:endParaRPr lang="en-US" sz="1200" dirty="0"/>
          </a:p>
          <a:p>
            <a:pPr indent="0" algn="l">
              <a:lnSpc>
                <a:spcPct val="116666"/>
              </a:lnSpc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数据驱动：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构建大数据分析平台，深度挖掘历史数据，优化控制策略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系统集成：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探索与储能、光伏等多能互补系统的协同控制，提升电网整体调节能力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928</Words>
  <Application>Microsoft Office PowerPoint</Application>
  <PresentationFormat>宽屏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3549129771@qq.com</cp:lastModifiedBy>
  <cp:revision>12</cp:revision>
  <dcterms:modified xsi:type="dcterms:W3CDTF">2026-04-07T07:23:04Z</dcterms:modified>
</cp:coreProperties>
</file>