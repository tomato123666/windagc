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2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350" y="4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07.04.2026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为大家介绍一套针对风电场“限电备用”场景的优化方案。随着新能源在电网中占比越来越高，如何在保证电网稳定的同时，最大化风能利用效率，成为了一个关键挑战。我们的方案旨在解决这一难题，实现经济、安全与高效的统一。接下来，我将详细阐述这个方案的背景、核心策略及实现细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五个部分。首先，我们会分析当前电网面临的挑战，也就是我们为什么需要这样一个方案。接着，我会用通俗的语言解释几个关键的专业术语。第三部分是本次方案的核心，我将详细介绍我们的“选择性停机优化策略”。第四部分会深入到技术实现细节，展示方案如何落地执行。最后，我们将对整个方案的价值和核心智慧进行总结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首先，我们来探讨第一个问题：为什么我们需要这样一个方案？这要从电网运行的基本特性说起。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电网运行最基本的要求，就是发电量和用电量必须时刻相等。然而，用电需求是随时变化的，比如大家下班回家同时开空调，用电量就会飙升。传统的火电厂、水电厂可以像听话的员工一样，让发多少就发多少。但风电不行，它靠天吃饭，风大电多，风小电少，完全不受控制。这种波动性就像在玩一个跷跷板，让电网调度员非常头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正是因为风电的这种不可控性，调度员有时会下达一个看似矛盾的命令：“限电备用”。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具体来说，就是在深夜用电少但风很大的时候，要求风电场少发点电，但同时又必须保证，一旦电网需要，能马上把电发出来。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这就像让一个运动员收着力气，但拳头又必须随时能打出去，非常考验技术。我们的方案，就是为了解决这一核心矛盾。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那么，简单粗暴地执行“限电备用”指令会带来什么问题呢？主要有三个。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第一，如果让所有风机都降点功率，它们反应会很慢，关键时刻顶不上。这就像让一支军队全员保持慢跑，冲锋号响起时，根本来不及加速，无法瞬间形成战斗力。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第二，如果让部分风机彻底停机，不仅会浪费宝贵的风能资源，而且从完全停机到重新并网耗时较长，无法满足快速备用的需求。这就像让士兵直接躺下休息，紧急集合时再叫醒整装，节奏太慢了。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第三，如果强行快速调节功率，会对设备造成极大伤害，导致应力过大、磨损加剧，甚至引发倒塔等严重事故。这就像要求士兵瞬间从散步切换到百米冲刺，很容易受伤。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因此，我们迫切需要一个更聪明、安全且经济的方案。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在介绍我们的方案之前，让我们先简单了解几个关键的专业术语，这将帮助我们更好地理解后续的内容。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AGC，自动发电控制，你可以把它理解成电网调度中心的自动遥控器，负责给各个电厂发号施令。其次是降载运行，就是让风电场收着点力，别发满。最后是备用容量，也就是现在没发、但随时可以多发的电，就像手机的隐藏电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再来看三个词。最大可发功率，就是风机在当前风速下能发的最大功率。最小技术出力，是风机为了稳定运行不能低于的最低功率，就像汽车怠速。最后是热备用，这是我们方案的关键，指风机虽然不发电，但处于随时可以快速启动的状态，类似电脑的睡眠模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了解了基本概念后，现在我来介绍我们的核心解决方案——选择性停机优化策略。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方案的核心思想非常简单，就是摒弃“平均主义”，不再让所有风机都降一点功率。而是进行差异化管理：让一部分风机彻底停下来休息，但保持热备用状态；同时让另一部分效率高的风机接近满发。这样做的目标，就是在减少发电损失的同时，优化备用响应的速度和质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更直观地理解，我们可以用一个农场工人的比喻。假设农场主要求只生产80件产品。笨办法是让100个工人都只干80%的活，结果是所有人都没精打采，效率低下。而我们的聪明办法是，让20个效率最低的工人去休息，但随时待命，让剩下80个最强的工人接近满负荷工作。这样，既能保证产量，又能随时调动休息的工人来应对突发任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个策略带来了三大核心优势。首先是经济性，我们通过让高效风机多发，把限电造成的损失降到最低。其次是可靠性，我们构建了秒级和分钟级的双层响应体系，确保电网的调用指令能被快速、可靠地执行。最后是安全性，这种模式避免了风机长时间在不稳定工况下运行，减少了磨损，保障了设备安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接下来，我们深入技术层面，看看这个方案是如何具体落地执行的。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系统收到降载指令后，会依次执行四个步骤。首先，校验指令是否安全合理。然后，通过算法决策出应该停机的风机名单。接着，向不同的风机下发不同的指令。最后，实时计算并上报当前的备用容量，让调度中心随时掌握我们的状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收到电网的备用调用指令时，我们的响应分为两个阶段。第一阶段是秒级响应，运行中的风机会瞬间释放预留的功率，同时启动热备用风机。第二阶段是分钟级响应，热备用风机完成启动和并网，实现功率的持续爬升，直到满足调度要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我们的系统还具备完善的异常处理机制。无论是风速突变、电网频率异常，还是风机自身故障，系统都能自动做出最优处理，确保在各种情况下都能优先保障电网安全和设备安全。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具体来看：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1. 当风速突然变大时，系统会启动“被动限电”，通过调整桨距角来保护设备。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2. 当风速变小时，则切换到最大功率追踪模式，尽可能发电。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3. 面对电网频率崩溃这种极端情况，系统会执行最高优先级的一次调频动作，这是电网的“保命”手段。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4. 即使有单台风机故障，系统也能快速重新分配任务，确保整体效率。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方案的运行并非一成不变，我们提供了一系列可调参数，就像系统的“旋钮”，可以根据风电场的具体情况和电网的要求进行精细调整，以达到最佳的运行效果。例如，运行机组的降载深度、热备用的可信度等，都可以灵活配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最后，我们来总结一下这个方案的核心价值。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本次方案不仅仅是一次简单的项目落地，更是一次全方位的价值升级。主要体现在三个方面：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第一，效率跃升。通过自动化流程的引入，我们的业务响应速度将实现质的飞跃，从过去的人工流转转变为毫秒级响应。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第二，成本优化。精准的资源配置模型将帮助我们剔除冗余环节，切实降低运营成本。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第三，体验升级。无论是对内的员工操作体验，还是对外的客户服务体验，都将因为技术的赋能而得到显著提升。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这就是方案带给我们的核心价值，谢谢大家。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总而言之，我们的方案成功解决了“限电”与“备用”之间的核心矛盾。它让风电场在被要求少发电的同时，依然能为电网提供真实、快速、可靠的备用能力，并且兼顾了经济性和设备安全，实现了多方共赢。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我的汇报到此结束，感谢大家的聆听。现在是问答环节，欢迎大家提问。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jpe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svg"/><Relationship Id="rId5" Type="http://schemas.openxmlformats.org/officeDocument/2006/relationships/image" Target="../media/image4.svg"/><Relationship Id="rId4" Type="http://schemas.openxmlformats.org/officeDocument/2006/relationships/image" Target="../media/image1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svg"/><Relationship Id="rId5" Type="http://schemas.openxmlformats.org/officeDocument/2006/relationships/image" Target="../media/image10.svg"/><Relationship Id="rId4" Type="http://schemas.openxmlformats.org/officeDocument/2006/relationships/image" Target="../media/image26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0.svg"/><Relationship Id="rId5" Type="http://schemas.openxmlformats.org/officeDocument/2006/relationships/image" Target="../media/image29.svg"/><Relationship Id="rId4" Type="http://schemas.openxmlformats.org/officeDocument/2006/relationships/image" Target="../media/image28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5" Type="http://schemas.openxmlformats.org/officeDocument/2006/relationships/image" Target="../media/image17.svg"/><Relationship Id="rId4" Type="http://schemas.openxmlformats.org/officeDocument/2006/relationships/image" Target="../media/image31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35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4.svg"/><Relationship Id="rId5" Type="http://schemas.openxmlformats.org/officeDocument/2006/relationships/image" Target="../media/image33.svg"/><Relationship Id="rId4" Type="http://schemas.openxmlformats.org/officeDocument/2006/relationships/image" Target="../media/image32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7.svg"/><Relationship Id="rId4" Type="http://schemas.openxmlformats.org/officeDocument/2006/relationships/image" Target="../media/image36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39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5" Type="http://schemas.openxmlformats.org/officeDocument/2006/relationships/image" Target="../media/image38.svg"/><Relationship Id="rId4" Type="http://schemas.openxmlformats.org/officeDocument/2006/relationships/image" Target="../media/image2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42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svg"/><Relationship Id="rId5" Type="http://schemas.openxmlformats.org/officeDocument/2006/relationships/image" Target="../media/image40.svg"/><Relationship Id="rId4" Type="http://schemas.openxmlformats.org/officeDocument/2006/relationships/image" Target="../media/image2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45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4.svg"/><Relationship Id="rId5" Type="http://schemas.openxmlformats.org/officeDocument/2006/relationships/image" Target="../media/image43.svg"/><Relationship Id="rId4" Type="http://schemas.openxmlformats.org/officeDocument/2006/relationships/image" Target="../media/image41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5" Type="http://schemas.openxmlformats.org/officeDocument/2006/relationships/image" Target="../media/image41.svg"/><Relationship Id="rId4" Type="http://schemas.openxmlformats.org/officeDocument/2006/relationships/image" Target="../media/image4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8.png"/><Relationship Id="rId4" Type="http://schemas.openxmlformats.org/officeDocument/2006/relationships/image" Target="../media/image4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7142" t="7142" r="7142" b="714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F172A">
                  <a:alpha val="88000"/>
                </a:srgbClr>
              </a:gs>
              <a:gs pos="100000">
                <a:srgbClr val="064E3B">
                  <a:alpha val="8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89600" y="889000"/>
            <a:ext cx="812800" cy="812800"/>
          </a:xfrm>
          <a:prstGeom prst="rect">
            <a:avLst/>
          </a:prstGeom>
          <a:effectLst>
            <a:outerShdw blurRad="101600" dist="50800" dir="2700000" algn="tl" rotWithShape="0">
              <a:srgbClr val="000000">
                <a:alpha val="3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2032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  <a:effectLst>
            <a:outerShdw blurRad="127000" dist="63500" dir="2700000" algn="tl" rotWithShape="0">
              <a:srgbClr val="000000">
                <a:alpha val="60000"/>
              </a:srgbClr>
            </a:outerShdw>
          </a:effectLst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风电场“限电备用”场景优化方案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9845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20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实现经济、安全、高效的电网辅助服务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461000" y="3937000"/>
            <a:ext cx="1270000" cy="76200"/>
          </a:xfrm>
          <a:prstGeom prst="roundRect">
            <a:avLst>
              <a:gd name="adj" fmla="val 5000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r="2700000" algn="tl" rotWithShape="0">
              <a:srgbClr val="22C55E">
                <a:alpha val="5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762000" y="5715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600" dirty="0">
                <a:solidFill>
                  <a:srgbClr val="FFFFFF">
                    <a:alpha val="7019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赖嘉雯</a:t>
            </a:r>
            <a:r>
              <a:rPr lang="en-US" sz="1600" b="0" i="0" u="none" strike="noStrike" dirty="0">
                <a:solidFill>
                  <a:srgbClr val="FFFFFF">
                    <a:alpha val="7019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| 2026年4月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0" y="6731000"/>
            <a:ext cx="12192000" cy="127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020" t="1086" r="1020" b="108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r>
              <a:rPr lang="en-US" sz="2200" b="0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CONTENTS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33500"/>
            <a:ext cx="10668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778000"/>
            <a:ext cx="10668000" cy="838200"/>
          </a:xfrm>
          <a:prstGeom prst="roundRect">
            <a:avLst>
              <a:gd name="adj" fmla="val 1515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22C55E">
                <a:alpha val="1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1943100"/>
            <a:ext cx="508000" cy="5080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7600" y="20447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714500" y="19558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540000" y="19304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场景需要：方案背景与挑战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23000" y="1930400"/>
            <a:ext cx="495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分析电网“跷跷板”困境，解析“限电备用”的定义与行业痛点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2743200"/>
            <a:ext cx="10668000" cy="838200"/>
          </a:xfrm>
          <a:prstGeom prst="roundRect">
            <a:avLst>
              <a:gd name="adj" fmla="val 1515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22C55E">
                <a:alpha val="1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016000" y="2908300"/>
            <a:ext cx="508000" cy="5080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7600" y="30099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714500" y="2921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2540000" y="28956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核心概念：关键术语解读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223000" y="2895600"/>
            <a:ext cx="495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将晦涩的专业名词转化为通俗易懂的语言，建立共识基础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3708400"/>
            <a:ext cx="10668000" cy="838200"/>
          </a:xfrm>
          <a:prstGeom prst="roundRect">
            <a:avLst>
              <a:gd name="adj" fmla="val 1515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22C55E">
                <a:alpha val="1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1016000" y="3873500"/>
            <a:ext cx="508000" cy="5080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7600" y="39751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714500" y="38862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2540000" y="38608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核心策略：解决方案详述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223000" y="3860800"/>
            <a:ext cx="495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深度解析“选择性停机优化策略”，对比传统方案的核心优势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4673600"/>
            <a:ext cx="10668000" cy="838200"/>
          </a:xfrm>
          <a:prstGeom prst="roundRect">
            <a:avLst>
              <a:gd name="adj" fmla="val 1515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22C55E">
                <a:alpha val="1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1016000" y="4838700"/>
            <a:ext cx="508000" cy="5080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17600" y="4940300"/>
            <a:ext cx="304800" cy="3048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1714500" y="48514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2540000" y="48260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实现细节：落地执行流程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223000" y="4826000"/>
            <a:ext cx="495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展示从指令下发到终端执行的完整链路，及异常情况的应对参数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62000" y="5638800"/>
            <a:ext cx="10668000" cy="838200"/>
          </a:xfrm>
          <a:prstGeom prst="roundRect">
            <a:avLst>
              <a:gd name="adj" fmla="val 1515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22C55E">
                <a:alpha val="1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1016000" y="5803900"/>
            <a:ext cx="508000" cy="508000"/>
          </a:xfrm>
          <a:prstGeom prst="ellipse">
            <a:avLst/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17600" y="5905500"/>
            <a:ext cx="304800" cy="3048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1714500" y="58166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2540000" y="57912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总结回顾：方案核心价值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6223000" y="5791200"/>
            <a:ext cx="495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总结方案解决的核心问题，提炼其中蕴含的技术与管理智慧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3846" t="3767" r="3846" b="376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016000"/>
            <a:ext cx="508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rgbClr val="22C55E">
                    <a:alpha val="3019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1016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cap="flat" cmpd="sng">
            <a:solidFill>
              <a:srgbClr val="0CAC47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2667000"/>
            <a:ext cx="635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场景需要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429000"/>
            <a:ext cx="660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为什么我们需要这个方案？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4191000"/>
            <a:ext cx="660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从电网运行的基本特性出发，聚焦当前效率瓶颈与安全痛点，探索技术升级的必要性与价值路径。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5461000"/>
            <a:ext cx="6604000" cy="508000"/>
          </a:xfrm>
          <a:prstGeom prst="roundRect">
            <a:avLst>
              <a:gd name="adj" fmla="val 25000"/>
            </a:avLst>
          </a:prstGeom>
          <a:solidFill>
            <a:srgbClr val="22C55E">
              <a:alpha val="10000"/>
            </a:srgbClr>
          </a:solidFill>
          <a:ln cap="flat" cmpd="sng">
            <a:solidFill>
              <a:srgbClr val="0CAC47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55626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397000" y="5562600"/>
            <a:ext cx="571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2C55E"/>
                </a:solidFill>
                <a:latin typeface="Poppins"/>
                <a:ea typeface="Poppins"/>
                <a:cs typeface="Poppins"/>
                <a:sym typeface="Poppins"/>
              </a:rPr>
              <a:t>SMART GRID SOLUTION · BACKGROUND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382000" y="1778000"/>
            <a:ext cx="2794000" cy="2794000"/>
          </a:xfrm>
          <a:prstGeom prst="ellipse">
            <a:avLst/>
          </a:prstGeom>
          <a:solidFill>
            <a:srgbClr val="22C55E">
              <a:alpha val="8000"/>
            </a:srgbClr>
          </a:solidFill>
          <a:ln cap="flat" cmpd="sng">
            <a:solidFill>
              <a:srgbClr val="0CAC47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0" y="2159000"/>
            <a:ext cx="2032000" cy="2032000"/>
          </a:xfrm>
          <a:prstGeom prst="rect">
            <a:avLst/>
          </a:prstGeom>
          <a:effectLst>
            <a:outerShdw blurRad="254000" dist="127000" dir="2700000" algn="tl" rotWithShape="0">
              <a:srgbClr val="22C55E">
                <a:alpha val="30000"/>
              </a:srgbClr>
            </a:outerShdw>
          </a:effectLst>
        </p:spPr>
      </p:pic>
      <p:sp>
        <p:nvSpPr>
          <p:cNvPr id="14" name="AutoShape 14"/>
          <p:cNvSpPr/>
          <p:nvPr/>
        </p:nvSpPr>
        <p:spPr>
          <a:xfrm>
            <a:off x="8382000" y="4826000"/>
            <a:ext cx="279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9CA3AF"/>
                </a:solidFill>
                <a:latin typeface="Poppins"/>
                <a:ea typeface="Poppins"/>
                <a:cs typeface="Poppins"/>
                <a:sym typeface="Poppins"/>
              </a:rPr>
              <a:t>CORE ANALYSIS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3846" t="3924" r="3846" b="392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电网的“跷跷板”困境 — 供需平衡的实时挑战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5080000" cy="3429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101600" dir="2700000" algn="tl" rotWithShape="0">
              <a:srgbClr val="22C55E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00" y="1905000"/>
            <a:ext cx="711200" cy="711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2032000" y="1968500"/>
            <a:ext cx="3429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用电侧：需求的“随机波动”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143000" y="2857500"/>
            <a:ext cx="4318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受天气、时段、社会活动多重影响，负荷时刻变化。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典型场景：夏季傍晚空调集中开启，导致负荷瞬间飙升，形成“晚高峰”。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6350000" y="1524000"/>
            <a:ext cx="5080000" cy="3429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101600" dir="2700000" algn="tl" rotWithShape="0">
              <a:srgbClr val="22C55E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31000" y="1905000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493000" y="19050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传统电源：可控的“压舱石”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731000" y="26035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火电/水电像“听话的员工”，可根据调度指令精确增减出力，稳定电网频率。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0110">
            <a:off x="6731009" y="34861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31000" y="3683000"/>
            <a:ext cx="609600" cy="609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493000" y="36830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新能源(风电)：靠天的“临时工”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731000" y="43180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发电量完全取决于风速资源，具有天然的间歇性和不可控性，难以人为调度。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5334000"/>
            <a:ext cx="10668000" cy="889000"/>
          </a:xfrm>
          <a:prstGeom prst="roundRect">
            <a:avLst>
              <a:gd name="adj" fmla="val 22857"/>
            </a:avLst>
          </a:prstGeom>
          <a:gradFill rotWithShape="1">
            <a:gsLst>
              <a:gs pos="0">
                <a:srgbClr val="22C55E">
                  <a:alpha val="100000"/>
                </a:srgbClr>
              </a:gs>
              <a:gs pos="100000">
                <a:srgbClr val="15803D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  <a:effectLst>
            <a:outerShdw blurRad="152400" dist="76200" dir="2700000" algn="tl" rotWithShape="0">
              <a:srgbClr val="22C55E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1016000" y="5334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核心困境：风电的随机波动打破了“发电量≈用电量”的平衡，如同摇晃的跷跷板，给调度带来极大挑战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807" t="1785" r="1807" b="178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“限电备用”——一个矛盾的任务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460500"/>
            <a:ext cx="10668000" cy="1079500"/>
          </a:xfrm>
          <a:prstGeom prst="roundRect">
            <a:avLst>
              <a:gd name="adj" fmla="val 11764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16A34A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79500" y="1587500"/>
            <a:ext cx="10033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场景定义：当电网电力过剩时（如深夜风大），调度指令要求：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500" b="1" i="0" u="none" strike="noStrike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“你们少发一点电，但必须保留随时能再多发出来的能力。”</a:t>
            </a:r>
          </a:p>
        </p:txBody>
      </p:sp>
      <p:sp>
        <p:nvSpPr>
          <p:cNvPr id="7" name="AutoShape 7"/>
          <p:cNvSpPr/>
          <p:nvPr/>
        </p:nvSpPr>
        <p:spPr>
          <a:xfrm>
            <a:off x="762000" y="2794000"/>
            <a:ext cx="5080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762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762000" y="2794000"/>
            <a:ext cx="5080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143000" y="3238500"/>
            <a:ext cx="889000" cy="889000"/>
          </a:xfrm>
          <a:prstGeom prst="ellipse">
            <a:avLst/>
          </a:prstGeom>
          <a:solidFill>
            <a:srgbClr val="DCFCE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33500" y="34290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2286000" y="3238500"/>
            <a:ext cx="330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限电 / 降载运行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2286000" y="3810000"/>
            <a:ext cx="330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让风电场“收着点力”，降低当前的出力功率，不要全负荷发电。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350000" y="2794000"/>
            <a:ext cx="5080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762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350000" y="2794000"/>
            <a:ext cx="5080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731000" y="3238500"/>
            <a:ext cx="889000" cy="889000"/>
          </a:xfrm>
          <a:prstGeom prst="ellipse">
            <a:avLst/>
          </a:prstGeom>
          <a:solidFill>
            <a:srgbClr val="DCFCE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21500" y="34290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874000" y="3238500"/>
            <a:ext cx="330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提供备用 / 快速响应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874000" y="3810000"/>
            <a:ext cx="330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“拳头不能放下”，保持待命状态，一旦电网需要，立刻增加出力。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5397500"/>
            <a:ext cx="10668000" cy="889000"/>
          </a:xfrm>
          <a:prstGeom prst="roundRect">
            <a:avLst>
              <a:gd name="adj" fmla="val 14285"/>
            </a:avLst>
          </a:prstGeom>
          <a:solidFill>
            <a:srgbClr val="DCFCE7">
              <a:alpha val="60000"/>
            </a:srgbClr>
          </a:solidFill>
          <a:ln w="12700" cap="flat" cmpd="sng">
            <a:solidFill>
              <a:srgbClr val="16A34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9500" y="5613400"/>
            <a:ext cx="457200" cy="4572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714500" y="5524500"/>
            <a:ext cx="952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核心矛盾：如何在“收力”的同时，保证“爆发力”？这是方案解决的关键。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三大难题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3378200" cy="3810000"/>
          </a:xfrm>
          <a:prstGeom prst="roundRect">
            <a:avLst>
              <a:gd name="adj" fmla="val 375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101600" dir="2700000" algn="tl" rotWithShape="0">
              <a:srgbClr val="22C55E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651000"/>
            <a:ext cx="33782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46300" y="2032000"/>
            <a:ext cx="609600" cy="609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965200" y="2768600"/>
            <a:ext cx="2971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 响应迟缓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65200" y="3276600"/>
            <a:ext cx="29718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全员降功率运行时，加电需从“半发力”调整，整体响应慢，爬坡能力严重不足。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65200" y="4318000"/>
            <a:ext cx="2971800" cy="939800"/>
          </a:xfrm>
          <a:prstGeom prst="roundRect">
            <a:avLst>
              <a:gd name="adj" fmla="val 6756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066800" y="4419600"/>
            <a:ext cx="2768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⚡ 如同让军队全员慢跑，冲锋号响时无法瞬间形成战斗力。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406900" y="1651000"/>
            <a:ext cx="3378200" cy="3810000"/>
          </a:xfrm>
          <a:prstGeom prst="roundRect">
            <a:avLst>
              <a:gd name="adj" fmla="val 375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101600" dir="2700000" algn="tl" rotWithShape="0">
              <a:srgbClr val="22C55E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406900" y="1651000"/>
            <a:ext cx="33782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91200" y="2032000"/>
            <a:ext cx="609600" cy="609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4610100" y="2768600"/>
            <a:ext cx="2971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 资源浪费与重启慢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610100" y="3276600"/>
            <a:ext cx="29718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部分风机彻底停机不仅浪费风能，且从停机到并网耗时久，无法满足快速备用需求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7" name="AutoShape 17"/>
          <p:cNvSpPr/>
          <p:nvPr/>
        </p:nvSpPr>
        <p:spPr>
          <a:xfrm>
            <a:off x="4610100" y="4318000"/>
            <a:ext cx="2971800" cy="939800"/>
          </a:xfrm>
          <a:prstGeom prst="roundRect">
            <a:avLst>
              <a:gd name="adj" fmla="val 6756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4711700" y="4419600"/>
            <a:ext cx="2768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🛌 如同让士兵直接“躺下休息”，需要时再叫醒整装，太慢了。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051800" y="1651000"/>
            <a:ext cx="3378200" cy="3810000"/>
          </a:xfrm>
          <a:prstGeom prst="roundRect">
            <a:avLst>
              <a:gd name="adj" fmla="val 3759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101600" dir="2700000" algn="tl" rotWithShape="0">
              <a:srgbClr val="22C55E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8051800" y="1651000"/>
            <a:ext cx="33782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36100" y="2032000"/>
            <a:ext cx="609600" cy="6096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8255000" y="2768600"/>
            <a:ext cx="2971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03 设备安全风险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255000" y="3276600"/>
            <a:ext cx="29718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强行快速增减功率导致设备承受巨大应力，加速部件磨损，甚至引发倒塔等严重事故。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255000" y="4318000"/>
            <a:ext cx="2971800" cy="939800"/>
          </a:xfrm>
          <a:prstGeom prst="roundRect">
            <a:avLst>
              <a:gd name="adj" fmla="val 6756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8356600" y="4419600"/>
            <a:ext cx="2768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💥 如同要求士兵瞬间从散步切换到百米冲刺，极易导致肌肉拉伤。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62000" y="5715000"/>
            <a:ext cx="10668000" cy="711200"/>
          </a:xfrm>
          <a:prstGeom prst="roundRect">
            <a:avLst>
              <a:gd name="adj" fmla="val 35714"/>
            </a:avLst>
          </a:prstGeom>
          <a:gradFill rotWithShape="1">
            <a:gsLst>
              <a:gs pos="0">
                <a:srgbClr val="22C55E">
                  <a:alpha val="100000"/>
                </a:srgbClr>
              </a:gs>
              <a:gs pos="100000">
                <a:srgbClr val="15803D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22C55E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762000" y="5867400"/>
            <a:ext cx="10668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结论：迫切需要一个 聪明 · 安全 · 经济 的方案来解决矛盾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4545" t="4545" r="4545" b="454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33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rgbClr val="22C55E">
                    <a:alpha val="9019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984500"/>
            <a:ext cx="5334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91666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核心概念：读懂关键术语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4191000"/>
            <a:ext cx="1016000" cy="76200"/>
          </a:xfrm>
          <a:prstGeom prst="roundRect">
            <a:avLst>
              <a:gd name="adj" fmla="val 5000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762000" y="4508500"/>
            <a:ext cx="533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在深入探讨技术方案之前，明确基础术语定义，建立团队统一的认知框架，为后续沟通扫清障碍。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604000" y="1778000"/>
            <a:ext cx="4826000" cy="3810000"/>
          </a:xfrm>
          <a:prstGeom prst="roundRect">
            <a:avLst>
              <a:gd name="adj" fmla="val 5333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  <a:effectLst>
            <a:outerShdw blurRad="304800" dist="152400" dir="2700000" algn="tl" rotWithShape="0">
              <a:srgbClr val="22C55E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01000" y="2413000"/>
            <a:ext cx="2032000" cy="2032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604000" y="46355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 spc="100">
                <a:solidFill>
                  <a:srgbClr val="22C55E"/>
                </a:solidFill>
                <a:latin typeface="Poppins"/>
                <a:ea typeface="Poppins"/>
                <a:cs typeface="Poppins"/>
                <a:sym typeface="Poppins"/>
              </a:rPr>
              <a:t>KEY CONCEPTS &amp; TERMINOLOGY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0" y="6604000"/>
            <a:ext cx="12192000" cy="254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电力专业术语通俗解析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270000"/>
            <a:ext cx="762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  <a:effectLst>
            <a:outerShdw blurRad="254000" dist="101600" dir="2700000" algn="tl" rotWithShape="0">
              <a:srgbClr val="22C55E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06600" y="2159000"/>
            <a:ext cx="812800" cy="812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889000" y="3111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AGC 自动发电控制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3619500"/>
            <a:ext cx="292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电网调度中心的“自动遥控器”，实时向各发电厂发送指令，增减发电量。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4699000"/>
            <a:ext cx="2921000" cy="1079500"/>
          </a:xfrm>
          <a:prstGeom prst="roundRect">
            <a:avLst>
              <a:gd name="adj" fmla="val 9411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9500" y="4851400"/>
            <a:ext cx="254000" cy="254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397000" y="4826000"/>
            <a:ext cx="2413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就像乐队指挥手中的指挥棒，精准指挥演奏节奏。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445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  <a:effectLst>
            <a:outerShdw blurRad="254000" dist="101600" dir="2700000" algn="tl" rotWithShape="0">
              <a:srgbClr val="22C55E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89600" y="2159000"/>
            <a:ext cx="812800" cy="812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4572000" y="3111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降载运行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635500" y="3619500"/>
            <a:ext cx="292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让风电场故意运行在低于其当前最大发电能力的状态，保留部分出力。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635500" y="4699000"/>
            <a:ext cx="2921000" cy="1079500"/>
          </a:xfrm>
          <a:prstGeom prst="roundRect">
            <a:avLst>
              <a:gd name="adj" fmla="val 9411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62500" y="4851400"/>
            <a:ext cx="254000" cy="254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5080000" y="4826000"/>
            <a:ext cx="2413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就像开车时不踩满油门，明明能跑120码，却只开80码。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128000" y="1778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  <a:effectLst>
            <a:outerShdw blurRad="254000" dist="101600" dir="2700000" algn="tl" rotWithShape="0">
              <a:srgbClr val="22C55E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72600" y="2159000"/>
            <a:ext cx="812800" cy="812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8255000" y="3111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备用容量 / 上调备用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318500" y="3619500"/>
            <a:ext cx="292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当前没有发出、但随时可以增发的电力，用于应对突发状况或负荷波动。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318500" y="4699000"/>
            <a:ext cx="2921000" cy="1079500"/>
          </a:xfrm>
          <a:prstGeom prst="roundRect">
            <a:avLst>
              <a:gd name="adj" fmla="val 9411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45500" y="4851400"/>
            <a:ext cx="254000" cy="2540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8763000" y="4826000"/>
            <a:ext cx="2413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就像手机电量显示80%，还有20%的电量可在紧急情况下使用。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0" y="6604000"/>
            <a:ext cx="12192000" cy="254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807" t="1785" r="1807" b="178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715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风力发电核心术语通俗解读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  <a:effectLst>
            <a:outerShdw blurRad="254000" dist="101600" dir="2700000" algn="tl" rotWithShape="0">
              <a:srgbClr val="22C55E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714500" y="1905000"/>
            <a:ext cx="1397000" cy="1397000"/>
          </a:xfrm>
          <a:prstGeom prst="ellipse">
            <a:avLst/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68500" y="2159000"/>
            <a:ext cx="889000" cy="889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952500" y="34925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最大可发功率 (P_max)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4000500"/>
            <a:ext cx="292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当前风速下，风机或风场能发出的最大功率极限值。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5016500"/>
            <a:ext cx="2921000" cy="635000"/>
          </a:xfrm>
          <a:prstGeom prst="roundRect">
            <a:avLst>
              <a:gd name="adj" fmla="val 20000"/>
            </a:avLst>
          </a:prstGeom>
          <a:solidFill>
            <a:srgbClr val="DCFCE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079500" y="5105400"/>
            <a:ext cx="2667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类比：运动员的最快速度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445000" y="1524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  <a:effectLst>
            <a:outerShdw blurRad="254000" dist="101600" dir="2700000" algn="tl" rotWithShape="0">
              <a:srgbClr val="22C55E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5397500" y="1905000"/>
            <a:ext cx="1397000" cy="1397000"/>
          </a:xfrm>
          <a:prstGeom prst="ellipse">
            <a:avLst/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51500" y="2159000"/>
            <a:ext cx="889000" cy="889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4635500" y="34925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最小技术出力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635500" y="4000500"/>
            <a:ext cx="292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为维持稳定运行，风机不能无限降低功率，这是其稳定运行的最低功率门槛。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635500" y="5016500"/>
            <a:ext cx="2921000" cy="635000"/>
          </a:xfrm>
          <a:prstGeom prst="roundRect">
            <a:avLst>
              <a:gd name="adj" fmla="val 20000"/>
            </a:avLst>
          </a:prstGeom>
          <a:solidFill>
            <a:srgbClr val="DCFCE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4762500" y="5105400"/>
            <a:ext cx="2667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类比：汽车怠速的最低转速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128000" y="1524000"/>
            <a:ext cx="3302000" cy="4318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  <a:effectLst>
            <a:outerShdw blurRad="254000" dist="101600" dir="2700000" algn="tl" rotWithShape="0">
              <a:srgbClr val="22C55E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9080500" y="1905000"/>
            <a:ext cx="1397000" cy="1397000"/>
          </a:xfrm>
          <a:prstGeom prst="ellipse">
            <a:avLst/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34500" y="2159000"/>
            <a:ext cx="889000" cy="889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8318500" y="34925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热备用状态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318500" y="4000500"/>
            <a:ext cx="292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风机暂停发电，但辅助系统仍运行，机组处于随时可以快速启动的待命状态。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318500" y="5016500"/>
            <a:ext cx="2921000" cy="635000"/>
          </a:xfrm>
          <a:prstGeom prst="roundRect">
            <a:avLst>
              <a:gd name="adj" fmla="val 20000"/>
            </a:avLst>
          </a:prstGeom>
          <a:solidFill>
            <a:srgbClr val="DCFCE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8445500" y="5105400"/>
            <a:ext cx="2667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类比：电脑的“睡眠”模式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0" y="6223000"/>
            <a:ext cx="12192000" cy="635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0" y="6324600"/>
            <a:ext cx="12192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通俗类比 · 快速理解核心概念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2000" t="1957" r="2000" b="195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143000"/>
            <a:ext cx="5588000" cy="4572000"/>
          </a:xfrm>
          <a:prstGeom prst="roundRect">
            <a:avLst>
              <a:gd name="adj" fmla="val 4166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  <a:effectLst>
            <a:outerShdw blurRad="304800" dist="152400" dir="2700000" algn="tl" rotWithShape="0">
              <a:srgbClr val="22C55E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143000" y="1651000"/>
            <a:ext cx="482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7200" b="1" i="0" u="none" strike="noStrike">
                <a:solidFill>
                  <a:srgbClr val="22C55E">
                    <a:alpha val="34902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143000" y="3048000"/>
            <a:ext cx="889000" cy="76200"/>
          </a:xfrm>
          <a:prstGeom prst="roundRect">
            <a:avLst>
              <a:gd name="adj" fmla="val 5000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143000" y="34290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核心策略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143000" y="41910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我们的解决方案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143000" y="48895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针对生产痛点的精准破局之道，通过技术升级与管理优化的双重驱动，实现产能与效率的跃升。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858000" y="1651000"/>
            <a:ext cx="4572000" cy="3556000"/>
          </a:xfrm>
          <a:prstGeom prst="roundRect">
            <a:avLst>
              <a:gd name="adj" fmla="val 5357"/>
            </a:avLst>
          </a:prstGeom>
          <a:solidFill>
            <a:srgbClr val="22C55E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28000" y="2286000"/>
            <a:ext cx="2032000" cy="2032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858000" y="44450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Poppins"/>
                <a:ea typeface="Poppins"/>
                <a:cs typeface="Poppins"/>
                <a:sym typeface="Poppins"/>
              </a:rPr>
              <a:t>STRATEGY &amp; SOLUTION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0" y="6756400"/>
            <a:ext cx="12192000" cy="1016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4545" t="4545" r="4545" b="454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核心策略：选择性停机优化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10668000" cy="1143000"/>
          </a:xfrm>
          <a:prstGeom prst="roundRect">
            <a:avLst>
              <a:gd name="adj" fmla="val 16666"/>
            </a:avLst>
          </a:prstGeom>
          <a:gradFill rotWithShape="1">
            <a:gsLst>
              <a:gs pos="0">
                <a:srgbClr val="22C55E">
                  <a:alpha val="100000"/>
                </a:srgbClr>
              </a:gs>
              <a:gs pos="100000">
                <a:srgbClr val="4ADE80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  <a:effectLst>
            <a:outerShdw blurRad="190500" dist="101600" dir="2700000" algn="tl" rotWithShape="0">
              <a:srgbClr val="22C55E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00" y="1778000"/>
            <a:ext cx="635000" cy="635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2032000" y="1714500"/>
            <a:ext cx="901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核心思想：摒弃“平均主义”，采用“差异化管理”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2984500"/>
            <a:ext cx="5207000" cy="2667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DCFCE7">
                <a:alpha val="100000"/>
              </a:srgbClr>
            </a:solidFill>
            <a:prstDash val="solid"/>
            <a:round/>
          </a:ln>
          <a:effectLst>
            <a:outerShdw blurRad="152400" dist="635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143000" y="3302000"/>
            <a:ext cx="762000" cy="762000"/>
          </a:xfrm>
          <a:prstGeom prst="ellipse">
            <a:avLst/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33500" y="3492500"/>
            <a:ext cx="381000" cy="381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2159000" y="33655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策略执行方案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143000" y="4254500"/>
            <a:ext cx="444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不再让所有风机降功率运行，而是差异化调度</a:t>
            </a:r>
            <a:r>
              <a:rPr lang="en-US" sz="14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400" b="1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400" b="1" i="0" u="none" strike="noStrike" dirty="0" err="1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部分风机：完全停机（保持热备用</a:t>
            </a:r>
            <a:r>
              <a:rPr lang="en-US" sz="1400" b="1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</a:p>
          <a:p>
            <a:pPr indent="0" algn="l">
              <a:lnSpc>
                <a:spcPct val="125000"/>
              </a:lnSpc>
            </a:pPr>
            <a:r>
              <a:rPr lang="en-US" sz="1400" b="1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400" b="1" i="0" u="none" strike="noStrike" dirty="0" err="1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另一部分：接近满发状态运行</a:t>
            </a:r>
            <a:endParaRPr lang="en-US" sz="1400" b="1" i="0" u="none" strike="noStrike" dirty="0">
              <a:solidFill>
                <a:srgbClr val="22C55E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223000" y="2984500"/>
            <a:ext cx="5207000" cy="2667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DCFCE7">
                <a:alpha val="100000"/>
              </a:srgbClr>
            </a:solidFill>
            <a:prstDash val="solid"/>
            <a:round/>
          </a:ln>
          <a:effectLst>
            <a:outerShdw blurRad="152400" dist="635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604000" y="3302000"/>
            <a:ext cx="762000" cy="762000"/>
          </a:xfrm>
          <a:prstGeom prst="ellipse">
            <a:avLst/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94500" y="3492500"/>
            <a:ext cx="381000" cy="381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620000" y="33655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预期达成目标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604000" y="4254500"/>
            <a:ext cx="444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通过精细化的停机与运行组合，实现双重效益最大化</a:t>
            </a:r>
            <a:r>
              <a:rPr lang="en-US" sz="14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400" b="1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400" b="1" i="0" u="none" strike="noStrike" dirty="0" err="1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经济效益：发电损失最小化</a:t>
            </a:r>
            <a:endParaRPr lang="en-US" sz="1400" b="1" i="0" u="none" strike="noStrike" dirty="0">
              <a:solidFill>
                <a:srgbClr val="22C55E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1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400" b="1" i="0" u="none" strike="noStrike" dirty="0" err="1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调度效率：备用响应最优化</a:t>
            </a:r>
            <a:endParaRPr lang="en-US" sz="1400" b="1" i="0" u="none" strike="noStrike" dirty="0">
              <a:solidFill>
                <a:srgbClr val="22C55E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762000" y="5905500"/>
            <a:ext cx="10668000" cy="508000"/>
          </a:xfrm>
          <a:prstGeom prst="roundRect">
            <a:avLst>
              <a:gd name="adj" fmla="val 2500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💡 总结：通过差异化管理替代一刀切降功率，实现风机群性能的最优解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3125" t="3125" r="3125" b="31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715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策略思路：用农场工人类比理解资源调度优化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4826000" cy="4191000"/>
          </a:xfrm>
          <a:prstGeom prst="roundRect">
            <a:avLst>
              <a:gd name="adj" fmla="val 3030"/>
            </a:avLst>
          </a:prstGeom>
          <a:solidFill>
            <a:srgbClr val="FEF2F2">
              <a:alpha val="100000"/>
            </a:srgbClr>
          </a:solidFill>
          <a:ln w="25400" cap="flat" cmpd="sng">
            <a:solidFill>
              <a:srgbClr val="F87171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F8717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651000"/>
            <a:ext cx="711200" cy="711200"/>
          </a:xfrm>
          <a:prstGeom prst="ellipse">
            <a:avLst/>
          </a:prstGeom>
          <a:solidFill>
            <a:srgbClr val="FECAC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400" y="18034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854200" y="1752600"/>
            <a:ext cx="342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B91C1C"/>
                </a:solidFill>
                <a:latin typeface="Noto Sans SC"/>
                <a:ea typeface="Noto Sans SC"/>
                <a:cs typeface="Noto Sans SC"/>
                <a:sym typeface="Noto Sans SC"/>
              </a:rPr>
              <a:t>笨办法：平均主义陷阱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0110">
            <a:off x="1016009" y="2533650"/>
            <a:ext cx="431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CA5A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16000" y="2730500"/>
            <a:ext cx="4318000" cy="762000"/>
          </a:xfrm>
          <a:prstGeom prst="roundRect">
            <a:avLst>
              <a:gd name="adj" fmla="val 8333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2700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7F1D1D"/>
                </a:solidFill>
                <a:latin typeface="Noto Sans SC"/>
                <a:ea typeface="Noto Sans SC"/>
                <a:cs typeface="Noto Sans SC"/>
                <a:sym typeface="Noto Sans SC"/>
              </a:rPr>
              <a:t>做法：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全员低效，100人各干80%的活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3619500"/>
            <a:ext cx="4318000" cy="762000"/>
          </a:xfrm>
          <a:prstGeom prst="roundRect">
            <a:avLst>
              <a:gd name="adj" fmla="val 8333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2700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7F1D1D"/>
                </a:solidFill>
                <a:latin typeface="Noto Sans SC"/>
                <a:ea typeface="Noto Sans SC"/>
                <a:cs typeface="Noto Sans SC"/>
                <a:sym typeface="Noto Sans SC"/>
              </a:rPr>
              <a:t>结果：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产出80件，但所有人都处于“半吊子”状态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4508500"/>
            <a:ext cx="4318000" cy="762000"/>
          </a:xfrm>
          <a:prstGeom prst="roundRect">
            <a:avLst>
              <a:gd name="adj" fmla="val 8333"/>
            </a:avLst>
          </a:prstGeom>
          <a:solidFill>
            <a:srgbClr val="FEE2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2700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B91C1C"/>
                </a:solidFill>
                <a:latin typeface="Noto Sans SC"/>
                <a:ea typeface="Noto Sans SC"/>
                <a:cs typeface="Noto Sans SC"/>
                <a:sym typeface="Noto Sans SC"/>
              </a:rPr>
              <a:t>痛点：</a:t>
            </a:r>
            <a:r>
              <a:rPr lang="en-US" sz="1400" b="0" i="0" u="none" strike="noStrike">
                <a:solidFill>
                  <a:srgbClr val="991B1B"/>
                </a:solidFill>
                <a:latin typeface="Noto Sans SC"/>
                <a:ea typeface="Noto Sans SC"/>
                <a:cs typeface="Noto Sans SC"/>
                <a:sym typeface="Noto Sans SC"/>
              </a:rPr>
              <a:t>想加速时反应慢，无法应对突发需求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715000" y="2984500"/>
            <a:ext cx="762000" cy="762000"/>
          </a:xfrm>
          <a:prstGeom prst="ellipse">
            <a:avLst/>
          </a:prstGeom>
          <a:solidFill>
            <a:srgbClr val="DCFCE7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22C55E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42000" y="3111500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588000" y="3873500"/>
            <a:ext cx="101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策略升级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604000" y="1397000"/>
            <a:ext cx="4826000" cy="4191000"/>
          </a:xfrm>
          <a:prstGeom prst="roundRect">
            <a:avLst>
              <a:gd name="adj" fmla="val 3030"/>
            </a:avLst>
          </a:prstGeom>
          <a:solidFill>
            <a:srgbClr val="F0FDF4">
              <a:alpha val="100000"/>
            </a:srgbClr>
          </a:solidFill>
          <a:ln w="25400" cap="flat" cmpd="sng">
            <a:solidFill>
              <a:srgbClr val="22C55E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22C55E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858000" y="1651000"/>
            <a:ext cx="711200" cy="711200"/>
          </a:xfrm>
          <a:prstGeom prst="ellipse">
            <a:avLst/>
          </a:prstGeom>
          <a:solidFill>
            <a:srgbClr val="BBF7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10400" y="18034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696200" y="1752600"/>
            <a:ext cx="342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聪明办法：动态资源调度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0110">
            <a:off x="6858009" y="2533650"/>
            <a:ext cx="431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86EFA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6858000" y="2730500"/>
            <a:ext cx="4318000" cy="762000"/>
          </a:xfrm>
          <a:prstGeom prst="roundRect">
            <a:avLst>
              <a:gd name="adj" fmla="val 8333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2700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做法：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20人带薪待命(热备)，80人满负荷(95%)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858000" y="3619500"/>
            <a:ext cx="4318000" cy="762000"/>
          </a:xfrm>
          <a:prstGeom prst="roundRect">
            <a:avLst>
              <a:gd name="adj" fmla="val 8333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2700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优势：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80人可秒级提速+20人可分钟级全力支援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858000" y="4508500"/>
            <a:ext cx="4318000" cy="762000"/>
          </a:xfrm>
          <a:prstGeom prst="roundRect">
            <a:avLst>
              <a:gd name="adj" fmla="val 8333"/>
            </a:avLst>
          </a:prstGeom>
          <a:solidFill>
            <a:srgbClr val="DCFCE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2700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价值：</a:t>
            </a:r>
            <a:r>
              <a:rPr lang="en-US" sz="1400" b="0" i="0" u="none" strike="noStrike">
                <a:solidFill>
                  <a:srgbClr val="14532D"/>
                </a:solidFill>
                <a:latin typeface="Noto Sans SC"/>
                <a:ea typeface="Noto Sans SC"/>
                <a:cs typeface="Noto Sans SC"/>
                <a:sym typeface="Noto Sans SC"/>
              </a:rPr>
              <a:t>产能稳定且有极高弹性，响应极其迅速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5842000"/>
            <a:ext cx="10668000" cy="635000"/>
          </a:xfrm>
          <a:prstGeom prst="roundRect">
            <a:avLst>
              <a:gd name="adj" fmla="val 20000"/>
            </a:avLst>
          </a:prstGeom>
          <a:solidFill>
            <a:srgbClr val="22C55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4532D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核心洞察：资源调度的关键在于“留有余量”而非“平均分配”，以弹性应对变化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3125" t="3125" r="3125" b="31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策略的三大核心优势：经济、可靠与安全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71600"/>
            <a:ext cx="1016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8415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  <a:effectLst>
            <a:outerShdw blurRad="254000" dist="127000" dir="2700000" algn="tl" rotWithShape="0">
              <a:srgbClr val="22C55E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752600" y="2222500"/>
            <a:ext cx="1320800" cy="1320800"/>
          </a:xfrm>
          <a:prstGeom prst="ellipse">
            <a:avLst/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08200" y="2578100"/>
            <a:ext cx="609600" cy="609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952500" y="37465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经济性 (Economic)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42545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优先停掉低效、位置差的风机，让高效风机多发，将发电量损失降至最低。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5397500"/>
            <a:ext cx="2794000" cy="406400"/>
          </a:xfrm>
          <a:prstGeom prst="roundRect">
            <a:avLst>
              <a:gd name="adj" fmla="val 5000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经济效益最大化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445000" y="18415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  <a:effectLst>
            <a:outerShdw blurRad="254000" dist="127000" dir="2700000" algn="tl" rotWithShape="0">
              <a:srgbClr val="22C55E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5435600" y="2222500"/>
            <a:ext cx="1320800" cy="1320800"/>
          </a:xfrm>
          <a:prstGeom prst="ellipse">
            <a:avLst/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91200" y="2578100"/>
            <a:ext cx="609600" cy="609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4635500" y="37465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可靠性 (Reliable)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699000" y="42545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构建“秒级+分钟级”双层备用体系，运行机与热备机协同，提供快速上调能力。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699000" y="5397500"/>
            <a:ext cx="2794000" cy="406400"/>
          </a:xfrm>
          <a:prstGeom prst="roundRect">
            <a:avLst>
              <a:gd name="adj" fmla="val 5000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快速可靠响应电网指令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128000" y="1841500"/>
            <a:ext cx="3302000" cy="4191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  <a:effectLst>
            <a:outerShdw blurRad="254000" dist="127000" dir="2700000" algn="tl" rotWithShape="0">
              <a:srgbClr val="22C55E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9118600" y="2222500"/>
            <a:ext cx="1320800" cy="1320800"/>
          </a:xfrm>
          <a:prstGeom prst="ellipse">
            <a:avLst/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74200" y="2578100"/>
            <a:ext cx="609600" cy="609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8318500" y="37465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安全性 (Safe)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382000" y="42545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避免频繁变桨调速，减少设备疲劳磨损。运行机工况最优，停机机得到充分休息。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382000" y="5397500"/>
            <a:ext cx="2794000" cy="406400"/>
          </a:xfrm>
          <a:prstGeom prst="roundRect">
            <a:avLst>
              <a:gd name="adj" fmla="val 5000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延长寿命，保障长期安全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3846" t="3767" r="3846" b="376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5334000" cy="4064000"/>
          </a:xfrm>
          <a:prstGeom prst="roundRect">
            <a:avLst>
              <a:gd name="adj" fmla="val 4687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304800" dist="152400" dir="2700000" algn="tl" rotWithShape="0">
              <a:srgbClr val="22C55E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143000" y="19050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rgbClr val="22C55E">
                    <a:alpha val="3019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143000" y="3048000"/>
            <a:ext cx="4572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实现细节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143000" y="3759200"/>
            <a:ext cx="457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方案如何落地执行？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143000" y="4445000"/>
            <a:ext cx="1016000" cy="76200"/>
          </a:xfrm>
          <a:prstGeom prst="roundRect">
            <a:avLst>
              <a:gd name="adj" fmla="val 5000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143000" y="48260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从技术架构到执行流程的全链路解析，确保方案高效落地。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858000" y="1651000"/>
            <a:ext cx="4064000" cy="4064000"/>
          </a:xfrm>
          <a:prstGeom prst="ellipse">
            <a:avLst/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0" y="2413000"/>
            <a:ext cx="2540000" cy="2540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858000" y="5842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技术驱动 · 高效落地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3846" t="3767" r="3846" b="376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执行流程：收到降载指令后的四步响应机制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71600"/>
            <a:ext cx="762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905000"/>
            <a:ext cx="2476500" cy="4064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01600" dir="2700000" algn="tl" rotWithShape="0">
              <a:srgbClr val="22C55E">
                <a:alpha val="1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485900" y="2286000"/>
            <a:ext cx="1016000" cy="1016000"/>
          </a:xfrm>
          <a:prstGeom prst="ellipse">
            <a:avLst/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76400" y="2476500"/>
            <a:ext cx="635000" cy="635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952500" y="3429000"/>
            <a:ext cx="2095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D1FAE5"/>
                </a:solidFill>
                <a:latin typeface="Noto Sans SC"/>
                <a:ea typeface="Noto Sans SC"/>
                <a:cs typeface="Noto Sans SC"/>
                <a:sym typeface="Noto Sans SC"/>
              </a:rPr>
              <a:t>STEP 01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3810000"/>
            <a:ext cx="209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指令校验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52500" y="4318000"/>
            <a:ext cx="2095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检查目标功率是否合理，确认下降速度是否在安全阈值范围内，确保指令可行。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492500" y="1905000"/>
            <a:ext cx="2476500" cy="4064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01600" dir="2700000" algn="tl" rotWithShape="0">
              <a:srgbClr val="22C55E">
                <a:alpha val="1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216400" y="2286000"/>
            <a:ext cx="1016000" cy="1016000"/>
          </a:xfrm>
          <a:prstGeom prst="ellipse">
            <a:avLst/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06900" y="2476500"/>
            <a:ext cx="635000" cy="635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3683000" y="3429000"/>
            <a:ext cx="2095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D1FAE5"/>
                </a:solidFill>
                <a:latin typeface="Noto Sans SC"/>
                <a:ea typeface="Noto Sans SC"/>
                <a:cs typeface="Noto Sans SC"/>
                <a:sym typeface="Noto Sans SC"/>
              </a:rPr>
              <a:t>STEP 02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683000" y="3810000"/>
            <a:ext cx="209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决策停机名单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3683000" y="4318000"/>
            <a:ext cx="2095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计算需降电量，利用优化算法筛选最优停机组合，优先选择下风向或低效机组。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23000" y="1905000"/>
            <a:ext cx="2476500" cy="4064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01600" dir="2700000" algn="tl" rotWithShape="0">
              <a:srgbClr val="22C55E">
                <a:alpha val="1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6946900" y="2286000"/>
            <a:ext cx="1016000" cy="1016000"/>
          </a:xfrm>
          <a:prstGeom prst="ellipse">
            <a:avLst/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37400" y="2476500"/>
            <a:ext cx="635000" cy="635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413500" y="3429000"/>
            <a:ext cx="2095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D1FAE5"/>
                </a:solidFill>
                <a:latin typeface="Noto Sans SC"/>
                <a:ea typeface="Noto Sans SC"/>
                <a:cs typeface="Noto Sans SC"/>
                <a:sym typeface="Noto Sans SC"/>
              </a:rPr>
              <a:t>STEP 03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413500" y="3810000"/>
            <a:ext cx="209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下发指令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413500" y="4318000"/>
            <a:ext cx="2095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向选定停机风机发“热备用”指令，向运行风机精准下发“降载”参数指令。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953500" y="1905000"/>
            <a:ext cx="2476500" cy="4064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01600" dir="2700000" algn="tl" rotWithShape="0">
              <a:srgbClr val="22C55E">
                <a:alpha val="1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9677400" y="2286000"/>
            <a:ext cx="1016000" cy="1016000"/>
          </a:xfrm>
          <a:prstGeom prst="ellipse">
            <a:avLst/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67900" y="2476500"/>
            <a:ext cx="635000" cy="6350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9144000" y="3429000"/>
            <a:ext cx="2095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D1FAE5"/>
                </a:solidFill>
                <a:latin typeface="Noto Sans SC"/>
                <a:ea typeface="Noto Sans SC"/>
                <a:cs typeface="Noto Sans SC"/>
                <a:sym typeface="Noto Sans SC"/>
              </a:rPr>
              <a:t>STEP 04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9144000" y="3810000"/>
            <a:ext cx="209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动态管理备用容量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9144000" y="4318000"/>
            <a:ext cx="2095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实时计算全场备用容量，持续向调度中心上报数据，确保信息透明与同步。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0" y="6604000"/>
            <a:ext cx="12192000" cy="254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3846" t="3448" r="3846" b="344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执行流程：收到备用调用指令后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10668000" cy="457200"/>
          </a:xfrm>
          <a:prstGeom prst="roundRect">
            <a:avLst>
              <a:gd name="adj" fmla="val 5000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场景：调度下达指令 —— “立即增发 X 兆瓦！”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159000"/>
            <a:ext cx="5207000" cy="3937000"/>
          </a:xfrm>
          <a:prstGeom prst="roundRect">
            <a:avLst>
              <a:gd name="adj" fmla="val 322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01600" dir="2700000" algn="tl" rotWithShape="0">
              <a:srgbClr val="22C55E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762000" y="2159000"/>
            <a:ext cx="5207000" cy="762000"/>
          </a:xfrm>
          <a:prstGeom prst="roundRect">
            <a:avLst>
              <a:gd name="adj" fmla="val 16666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9500" y="2311400"/>
            <a:ext cx="457200" cy="4572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651000" y="21590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阶段一：秒级快速响应 (0-30s)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3111500"/>
            <a:ext cx="4699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⚡ 核心动作：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1. 运行风机设定值拉满，瞬间释放备用裕度</a:t>
            </a:r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2. 同步向热备用风机发送启动指令</a:t>
            </a:r>
          </a:p>
        </p:txBody>
      </p:sp>
      <p:sp>
        <p:nvSpPr>
          <p:cNvPr id="11" name="AutoShape 11"/>
          <p:cNvSpPr/>
          <p:nvPr/>
        </p:nvSpPr>
        <p:spPr>
          <a:xfrm>
            <a:off x="1016000" y="5524500"/>
            <a:ext cx="4699000" cy="444500"/>
          </a:xfrm>
          <a:prstGeom prst="roundRect">
            <a:avLst>
              <a:gd name="adj" fmla="val 14285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效果：实现功率的快速跃升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223000" y="2159000"/>
            <a:ext cx="5207000" cy="3937000"/>
          </a:xfrm>
          <a:prstGeom prst="roundRect">
            <a:avLst>
              <a:gd name="adj" fmla="val 322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01600" dir="2700000" algn="tl" rotWithShape="0">
              <a:srgbClr val="22C55E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6223000" y="2159000"/>
            <a:ext cx="5207000" cy="762000"/>
          </a:xfrm>
          <a:prstGeom prst="roundRect">
            <a:avLst>
              <a:gd name="adj" fmla="val 16666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40500" y="2311400"/>
            <a:ext cx="457200" cy="457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112000" y="21590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阶段二：分钟级持续爬升 (30s+)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477000" y="3111500"/>
            <a:ext cx="4699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📈 核心动作：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1. 热备用风机依次完成启动、并网流程</a:t>
            </a:r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2. 逐步加载功率，平滑接入电网</a:t>
            </a:r>
          </a:p>
        </p:txBody>
      </p:sp>
      <p:sp>
        <p:nvSpPr>
          <p:cNvPr id="17" name="AutoShape 17"/>
          <p:cNvSpPr/>
          <p:nvPr/>
        </p:nvSpPr>
        <p:spPr>
          <a:xfrm>
            <a:off x="6477000" y="5524500"/>
            <a:ext cx="4699000" cy="444500"/>
          </a:xfrm>
          <a:prstGeom prst="roundRect">
            <a:avLst>
              <a:gd name="adj" fmla="val 14285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效果：全场功率平滑持续上升至目标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0" y="6731000"/>
            <a:ext cx="12192000" cy="127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3846" t="3760" r="3846" b="393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异常情况处理机制：智能响应与安全保障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33500"/>
            <a:ext cx="1016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714500"/>
            <a:ext cx="5207000" cy="1841500"/>
          </a:xfrm>
          <a:prstGeom prst="roundRect">
            <a:avLst>
              <a:gd name="adj" fmla="val 689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  <a:effectLst>
            <a:outerShdw blurRad="152400" dist="63500" dir="2700000" algn="tl" rotWithShape="0">
              <a:srgbClr val="22C55E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79500" y="2133600"/>
            <a:ext cx="1016000" cy="1016000"/>
          </a:xfrm>
          <a:prstGeom prst="ellipse">
            <a:avLst/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82700" y="2336800"/>
            <a:ext cx="609600" cy="609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2286000" y="1905000"/>
            <a:ext cx="34925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风速突然变大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自动“被动限电”：调整桨距角挡住多余风能，维持功率输出，同时自动增加系统备用容量。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223000" y="1714500"/>
            <a:ext cx="5207000" cy="1841500"/>
          </a:xfrm>
          <a:prstGeom prst="roundRect">
            <a:avLst>
              <a:gd name="adj" fmla="val 689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  <a:effectLst>
            <a:outerShdw blurRad="152400" dist="63500" dir="2700000" algn="tl" rotWithShape="0">
              <a:srgbClr val="22C55E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540500" y="2133600"/>
            <a:ext cx="1016000" cy="1016000"/>
          </a:xfrm>
          <a:prstGeom prst="ellipse">
            <a:avLst/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43700" y="2336800"/>
            <a:ext cx="609600" cy="609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747000" y="1905000"/>
            <a:ext cx="34925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电网频率崩溃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最高优先级动作：立即暂停所有降载逻辑，优先执行“一次调频”保命动作，确保电网安全。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762000" y="3810000"/>
            <a:ext cx="5207000" cy="1841500"/>
          </a:xfrm>
          <a:prstGeom prst="roundRect">
            <a:avLst>
              <a:gd name="adj" fmla="val 689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  <a:effectLst>
            <a:outerShdw blurRad="152400" dist="63500" dir="2700000" algn="tl" rotWithShape="0">
              <a:srgbClr val="22C55E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1079500" y="4229100"/>
            <a:ext cx="1016000" cy="1016000"/>
          </a:xfrm>
          <a:prstGeom prst="ellipse">
            <a:avLst/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82700" y="4432300"/>
            <a:ext cx="609600" cy="609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2286000" y="4000500"/>
            <a:ext cx="34925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风速突然变小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自动切换模式：放弃降载，启用“最大能力跟踪模式”全力发电，并即时报警“备用容量不足”。</a:t>
            </a:r>
          </a:p>
        </p:txBody>
      </p:sp>
      <p:sp>
        <p:nvSpPr>
          <p:cNvPr id="18" name="AutoShape 18"/>
          <p:cNvSpPr/>
          <p:nvPr/>
        </p:nvSpPr>
        <p:spPr>
          <a:xfrm>
            <a:off x="6223000" y="3810000"/>
            <a:ext cx="5207000" cy="1841500"/>
          </a:xfrm>
          <a:prstGeom prst="roundRect">
            <a:avLst>
              <a:gd name="adj" fmla="val 689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  <a:effectLst>
            <a:outerShdw blurRad="152400" dist="63500" dir="2700000" algn="tl" rotWithShape="0">
              <a:srgbClr val="22C55E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6540500" y="4229100"/>
            <a:ext cx="1016000" cy="1016000"/>
          </a:xfrm>
          <a:prstGeom prst="ellipse">
            <a:avLst/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43700" y="4432300"/>
            <a:ext cx="609600" cy="609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747000" y="4000500"/>
            <a:ext cx="34925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单台风机故障</a:t>
            </a:r>
            <a:endParaRPr lang="en-US" sz="1100"/>
          </a:p>
          <a:p>
            <a:pPr indent="0" algn="l">
              <a:lnSpc>
                <a:spcPct val="108333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自动重新分配：智能识别故障机组并隔离，动态计算并调整剩余机组的功率分配策略，保障总出力。</a:t>
            </a:r>
          </a:p>
        </p:txBody>
      </p:sp>
      <p:sp>
        <p:nvSpPr>
          <p:cNvPr id="22" name="AutoShape 22"/>
          <p:cNvSpPr/>
          <p:nvPr/>
        </p:nvSpPr>
        <p:spPr>
          <a:xfrm>
            <a:off x="762000" y="5905500"/>
            <a:ext cx="10668000" cy="508000"/>
          </a:xfrm>
          <a:prstGeom prst="roundRect">
            <a:avLst>
              <a:gd name="adj" fmla="val 50000"/>
            </a:avLst>
          </a:prstGeom>
          <a:solidFill>
            <a:srgbClr val="22C55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全天候智能响应 · 优先保障电网安全与设备安全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3125" t="3125" r="3125" b="31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关键可调参数：系统运行的“核心旋钮”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270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基于风电场实际工况与电网标准的精细化配置项，灵活调控保障安全高效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032000"/>
            <a:ext cx="5207000" cy="1841500"/>
          </a:xfrm>
          <a:prstGeom prst="roundRect">
            <a:avLst>
              <a:gd name="adj" fmla="val 689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  <a:effectLst>
            <a:outerShdw blurRad="190500" dist="76200" dir="2700000" algn="tl" rotWithShape="0">
              <a:srgbClr val="22C55E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79500" y="2413000"/>
            <a:ext cx="1079500" cy="1079500"/>
          </a:xfrm>
          <a:prstGeom prst="ellipse">
            <a:avLst/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58900" y="26924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2413000" y="2222500"/>
            <a:ext cx="3302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运行机组降载深度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典型值：5%</a:t>
            </a:r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决定运行风机保留多少“力气”作为秒级快速备用，平衡出力与响应速度。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223000" y="2032000"/>
            <a:ext cx="5207000" cy="1841500"/>
          </a:xfrm>
          <a:prstGeom prst="roundRect">
            <a:avLst>
              <a:gd name="adj" fmla="val 689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  <a:effectLst>
            <a:outerShdw blurRad="190500" dist="76200" dir="2700000" algn="tl" rotWithShape="0">
              <a:srgbClr val="22C55E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540500" y="2413000"/>
            <a:ext cx="1079500" cy="1079500"/>
          </a:xfrm>
          <a:prstGeom prst="ellipse">
            <a:avLst/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19900" y="26924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874000" y="2222500"/>
            <a:ext cx="3302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热备用就绪系数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典型值：0.95</a:t>
            </a:r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对热备用风机的承诺备用容量进行安全折扣，量化并规避启动失败的风险概率。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762000" y="4191000"/>
            <a:ext cx="5207000" cy="1841500"/>
          </a:xfrm>
          <a:prstGeom prst="roundRect">
            <a:avLst>
              <a:gd name="adj" fmla="val 689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  <a:effectLst>
            <a:outerShdw blurRad="190500" dist="76200" dir="2700000" algn="tl" rotWithShape="0">
              <a:srgbClr val="22C55E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1079500" y="4572000"/>
            <a:ext cx="1079500" cy="1079500"/>
          </a:xfrm>
          <a:prstGeom prst="ellipse">
            <a:avLst/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58900" y="48514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2413000" y="4381500"/>
            <a:ext cx="3302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最大降载爬坡率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典型值：5%额定功率/分钟</a:t>
            </a:r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限制功率下降速度，防止对电网频率造成冲击，并保护风机关键设备免受电流冲击。</a:t>
            </a:r>
          </a:p>
        </p:txBody>
      </p:sp>
      <p:sp>
        <p:nvSpPr>
          <p:cNvPr id="18" name="AutoShape 18"/>
          <p:cNvSpPr/>
          <p:nvPr/>
        </p:nvSpPr>
        <p:spPr>
          <a:xfrm>
            <a:off x="6223000" y="4191000"/>
            <a:ext cx="5207000" cy="1841500"/>
          </a:xfrm>
          <a:prstGeom prst="roundRect">
            <a:avLst>
              <a:gd name="adj" fmla="val 689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  <a:effectLst>
            <a:outerShdw blurRad="190500" dist="76200" dir="2700000" algn="tl" rotWithShape="0">
              <a:srgbClr val="22C55E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6540500" y="4572000"/>
            <a:ext cx="1079500" cy="1079500"/>
          </a:xfrm>
          <a:prstGeom prst="ellipse">
            <a:avLst/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19900" y="4851400"/>
            <a:ext cx="508000" cy="508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874000" y="4381500"/>
            <a:ext cx="3302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最小停机时间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典型值：600秒 (10分钟)</a:t>
            </a:r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规定风机停机后必须等待的最短冷却时间，避免核心部件因频繁启停而过热损坏。</a:t>
            </a:r>
          </a:p>
        </p:txBody>
      </p:sp>
      <p:sp>
        <p:nvSpPr>
          <p:cNvPr id="22" name="AutoShape 22"/>
          <p:cNvSpPr/>
          <p:nvPr/>
        </p:nvSpPr>
        <p:spPr>
          <a:xfrm>
            <a:off x="0" y="6413500"/>
            <a:ext cx="12192000" cy="444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0" y="64516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智能调控 · 安全高效 · 灵活配置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3846" t="3767" r="3846" b="376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016000"/>
            <a:ext cx="6096000" cy="4826000"/>
          </a:xfrm>
          <a:prstGeom prst="roundRect">
            <a:avLst>
              <a:gd name="adj" fmla="val 2631"/>
            </a:avLst>
          </a:prstGeom>
          <a:solidFill>
            <a:srgbClr val="FFFFFF">
              <a:alpha val="96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  <a:effectLst>
            <a:outerShdw blurRad="304800" dist="152400" dir="2700000" algn="tl" rotWithShape="0">
              <a:srgbClr val="22C55E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143000" y="1397000"/>
            <a:ext cx="533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7200" b="1" i="0" u="none" strike="noStrike">
                <a:solidFill>
                  <a:srgbClr val="22C55E">
                    <a:alpha val="30196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143000" y="2540000"/>
            <a:ext cx="533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总结：方案的核心价值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143000" y="3238500"/>
            <a:ext cx="5334000" cy="50800"/>
          </a:xfrm>
          <a:prstGeom prst="roundRect">
            <a:avLst>
              <a:gd name="adj" fmla="val 5000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143000" y="3683000"/>
            <a:ext cx="1651000" cy="1651000"/>
          </a:xfrm>
          <a:prstGeom prst="roundRect">
            <a:avLst>
              <a:gd name="adj" fmla="val 6153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63700" y="3937000"/>
            <a:ext cx="609600" cy="609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143000" y="4699000"/>
            <a:ext cx="165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效率跃升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业务响应速度倍增</a:t>
            </a:r>
          </a:p>
        </p:txBody>
      </p:sp>
      <p:sp>
        <p:nvSpPr>
          <p:cNvPr id="11" name="AutoShape 11"/>
          <p:cNvSpPr/>
          <p:nvPr/>
        </p:nvSpPr>
        <p:spPr>
          <a:xfrm>
            <a:off x="2984500" y="3683000"/>
            <a:ext cx="1651000" cy="1651000"/>
          </a:xfrm>
          <a:prstGeom prst="roundRect">
            <a:avLst>
              <a:gd name="adj" fmla="val 6153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05200" y="3937000"/>
            <a:ext cx="609600" cy="609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2984500" y="4699000"/>
            <a:ext cx="165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成本优化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资源配置精准可控</a:t>
            </a:r>
          </a:p>
        </p:txBody>
      </p:sp>
      <p:sp>
        <p:nvSpPr>
          <p:cNvPr id="14" name="AutoShape 14"/>
          <p:cNvSpPr/>
          <p:nvPr/>
        </p:nvSpPr>
        <p:spPr>
          <a:xfrm>
            <a:off x="4826000" y="3683000"/>
            <a:ext cx="1651000" cy="1651000"/>
          </a:xfrm>
          <a:prstGeom prst="roundRect">
            <a:avLst>
              <a:gd name="adj" fmla="val 6153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46700" y="3937000"/>
            <a:ext cx="609600" cy="609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4826000" y="4699000"/>
            <a:ext cx="165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体验升级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0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全链路服务满意度提升</a:t>
            </a:r>
          </a:p>
        </p:txBody>
      </p:sp>
      <p:sp>
        <p:nvSpPr>
          <p:cNvPr id="17" name="AutoShape 17"/>
          <p:cNvSpPr/>
          <p:nvPr/>
        </p:nvSpPr>
        <p:spPr>
          <a:xfrm>
            <a:off x="7620000" y="1778000"/>
            <a:ext cx="3556000" cy="3556000"/>
          </a:xfrm>
          <a:prstGeom prst="ellipse">
            <a:avLst/>
          </a:prstGeom>
          <a:solidFill>
            <a:srgbClr val="22C55E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2000" y="2413000"/>
            <a:ext cx="2032000" cy="2032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620000" y="46990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 spc="2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VALUE SUMMARY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以技术赋能，驱动业务新增长</a:t>
            </a:r>
          </a:p>
        </p:txBody>
      </p:sp>
      <p:sp>
        <p:nvSpPr>
          <p:cNvPr id="20" name="AutoShape 20"/>
          <p:cNvSpPr/>
          <p:nvPr/>
        </p:nvSpPr>
        <p:spPr>
          <a:xfrm>
            <a:off x="0" y="6667500"/>
            <a:ext cx="12192000" cy="190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3846" t="3767" r="3846" b="376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方案总结：解决核心矛盾与价值落地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10668000" cy="1524000"/>
          </a:xfrm>
          <a:prstGeom prst="roundRect">
            <a:avLst>
              <a:gd name="adj" fmla="val 10000"/>
            </a:avLst>
          </a:prstGeom>
          <a:solidFill>
            <a:srgbClr val="22C55E">
              <a:alpha val="1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22C55E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524000"/>
            <a:ext cx="101600" cy="1524000"/>
          </a:xfrm>
          <a:prstGeom prst="roundRect">
            <a:avLst>
              <a:gd name="adj" fmla="val 15000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143000" y="1676400"/>
            <a:ext cx="10033000" cy="1219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8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让风电场在“被要求少发电”的同时，依然能够为电网提供真实、快速、可靠的上调备用能力，并且做到经济最优、设备安全。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429000"/>
            <a:ext cx="3378200" cy="22860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635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816100" y="3683000"/>
            <a:ext cx="1016000" cy="1016000"/>
          </a:xfrm>
          <a:prstGeom prst="ellipse">
            <a:avLst/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70100" y="39370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889000" y="4826000"/>
            <a:ext cx="3124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“限电”与“备用”的统一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89000" y="5270500"/>
            <a:ext cx="3124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通过精细化管理，平衡功率限制与备用容量需求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394200" y="3429000"/>
            <a:ext cx="3378200" cy="22860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635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5448300" y="3683000"/>
            <a:ext cx="1016000" cy="1016000"/>
          </a:xfrm>
          <a:prstGeom prst="ellipse">
            <a:avLst/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02300" y="3937000"/>
            <a:ext cx="508000" cy="508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4521200" y="4826000"/>
            <a:ext cx="3124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“响应速度”与“损失”平衡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521200" y="5270500"/>
            <a:ext cx="3124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双层响应机制，极速响应且发电损失降至最低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026400" y="3429000"/>
            <a:ext cx="3378200" cy="22860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635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9080500" y="3683000"/>
            <a:ext cx="1016000" cy="1016000"/>
          </a:xfrm>
          <a:prstGeom prst="ellipse">
            <a:avLst/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34500" y="3937000"/>
            <a:ext cx="508000" cy="508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8153400" y="4826000"/>
            <a:ext cx="3124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“电网要求”与“设备安全”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153400" y="5270500"/>
            <a:ext cx="3124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优化运行工况，在满足调度指令同时保障设备寿命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0" y="6604000"/>
            <a:ext cx="12192000" cy="254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4971" t="5000" r="4971" b="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2286000" y="1397000"/>
            <a:ext cx="7620000" cy="4064000"/>
          </a:xfrm>
          <a:prstGeom prst="roundRect">
            <a:avLst>
              <a:gd name="adj" fmla="val 625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  <a:effectLst>
            <a:outerShdw blurRad="317500" dist="152400" dir="5400000" algn="tl" rotWithShape="0">
              <a:srgbClr val="22C55E">
                <a:alpha val="1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64200" y="1841500"/>
            <a:ext cx="863600" cy="863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286000" y="2794000"/>
            <a:ext cx="762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Q&amp;A 问答环节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1459">
            <a:off x="4191011" y="3549650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rnd" cmpd="sng">
            <a:solidFill>
              <a:srgbClr val="22C55E">
                <a:alpha val="4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8" name="AutoShape 8"/>
          <p:cNvSpPr/>
          <p:nvPr/>
        </p:nvSpPr>
        <p:spPr>
          <a:xfrm>
            <a:off x="2286000" y="3810000"/>
            <a:ext cx="762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感谢聆听！</a:t>
            </a:r>
            <a:endParaRPr lang="en-US" sz="1100"/>
          </a:p>
          <a:p>
            <a:pPr indent="0" algn="ctr">
              <a:lnSpc>
                <a:spcPct val="116666"/>
              </a:lnSpc>
            </a:pPr>
            <a:r>
              <a:rPr lang="en-US" sz="15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欢迎各位提出宝贵意见与建议，共同探讨交流</a:t>
            </a:r>
          </a:p>
        </p:txBody>
      </p:sp>
      <p:sp>
        <p:nvSpPr>
          <p:cNvPr id="9" name="AutoShape 9"/>
          <p:cNvSpPr/>
          <p:nvPr/>
        </p:nvSpPr>
        <p:spPr>
          <a:xfrm>
            <a:off x="0" y="6667500"/>
            <a:ext cx="12192000" cy="190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1414</Words>
  <Application>Microsoft Office PowerPoint</Application>
  <PresentationFormat>宽屏</PresentationFormat>
  <Paragraphs>270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26" baseType="lpstr">
      <vt:lpstr>Noto Sans SC</vt:lpstr>
      <vt:lpstr>Arial</vt:lpstr>
      <vt:lpstr>Poppins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Wind L</cp:lastModifiedBy>
  <cp:revision>1</cp:revision>
  <dcterms:modified xsi:type="dcterms:W3CDTF">2026-04-07T06:04:57Z</dcterms:modified>
</cp:coreProperties>
</file>