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0" cy="6858001"/>
            <a:chOff x="0" y="0"/>
            <a:chExt cx="12192000" cy="6858001"/>
          </a:xfrm>
        </p:grpSpPr>
        <p:sp>
          <p:nvSpPr>
            <p:cNvPr id="3" name="AutoShape 3"/>
            <p:cNvSpPr/>
            <p:nvPr/>
          </p:nvSpPr>
          <p:spPr>
            <a:xfrm>
              <a:off x="0" y="6198748"/>
              <a:ext cx="660399" cy="659253"/>
            </a:xfrm>
            <a:custGeom>
              <a:avLst/>
              <a:gdLst/>
              <a:ahLst/>
              <a:cxnLst/>
              <a:rect l="l" t="t" r="r" b="b"/>
              <a:pathLst>
                <a:path w="951094" h="949442">
                  <a:moveTo>
                    <a:pt x="22977" y="0"/>
                  </a:moveTo>
                  <a:cubicBezTo>
                    <a:pt x="535562" y="0"/>
                    <a:pt x="951094" y="415532"/>
                    <a:pt x="951094" y="928117"/>
                  </a:cubicBezTo>
                  <a:lnTo>
                    <a:pt x="948944" y="949443"/>
                  </a:lnTo>
                  <a:lnTo>
                    <a:pt x="0" y="949443"/>
                  </a:lnTo>
                  <a:lnTo>
                    <a:pt x="0" y="1160"/>
                  </a:lnTo>
                  <a:close/>
                </a:path>
              </a:pathLst>
            </a:custGeom>
            <a:gradFill>
              <a:gsLst>
                <a:gs pos="0">
                  <a:srgbClr val="16ACEC">
                    <a:alpha val="100000"/>
                    <a:lumMod val="20000"/>
                    <a:lumOff val="80000"/>
                  </a:srgbClr>
                </a:gs>
                <a:gs pos="100000">
                  <a:srgbClr val="16ACEC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1065401" y="0"/>
              <a:ext cx="1126599" cy="1151408"/>
            </a:xfrm>
            <a:custGeom>
              <a:avLst/>
              <a:gdLst/>
              <a:ahLst/>
              <a:cxnLst/>
              <a:rect l="l" t="t" r="r" b="b"/>
              <a:pathLst>
                <a:path w="1126599" h="1151408">
                  <a:moveTo>
                    <a:pt x="0" y="0"/>
                  </a:moveTo>
                  <a:lnTo>
                    <a:pt x="151735" y="0"/>
                  </a:lnTo>
                  <a:lnTo>
                    <a:pt x="162944" y="43591"/>
                  </a:lnTo>
                  <a:cubicBezTo>
                    <a:pt x="304140" y="497550"/>
                    <a:pt x="662445" y="855855"/>
                    <a:pt x="1116404" y="997051"/>
                  </a:cubicBezTo>
                  <a:lnTo>
                    <a:pt x="1126599" y="999672"/>
                  </a:lnTo>
                  <a:lnTo>
                    <a:pt x="1126599" y="1151408"/>
                  </a:lnTo>
                  <a:lnTo>
                    <a:pt x="1072660" y="1137539"/>
                  </a:lnTo>
                  <a:cubicBezTo>
                    <a:pt x="572639" y="982016"/>
                    <a:pt x="177979" y="587356"/>
                    <a:pt x="22456" y="87335"/>
                  </a:cubicBezTo>
                  <a:close/>
                </a:path>
              </a:pathLst>
            </a:custGeom>
            <a:solidFill>
              <a:srgbClr val="16ACEC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1303108" y="539683"/>
              <a:ext cx="552342" cy="552342"/>
            </a:xfrm>
            <a:prstGeom prst="ellipse">
              <a:avLst/>
            </a:prstGeom>
            <a:gradFill>
              <a:gsLst>
                <a:gs pos="0">
                  <a:srgbClr val="16ACEC">
                    <a:alpha val="100000"/>
                    <a:lumMod val="20000"/>
                    <a:lumOff val="80000"/>
                  </a:srgbClr>
                </a:gs>
                <a:gs pos="100000">
                  <a:srgbClr val="16ACEC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0" y="-12700"/>
            <a:ext cx="12192000" cy="6858001"/>
            <a:chOff x="0" y="-12700"/>
            <a:chExt cx="12192000" cy="6858001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tretch>
              <a:fillRect/>
            </a:stretch>
          </p:blipFill>
          <p:spPr>
            <a:xfrm>
              <a:off x="4934" y="0"/>
              <a:ext cx="12187066" cy="685800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grpSp>
          <p:nvGrpSpPr>
            <p:cNvPr id="8" name="Group 8"/>
            <p:cNvGrpSpPr/>
            <p:nvPr/>
          </p:nvGrpSpPr>
          <p:grpSpPr>
            <a:xfrm rot="0" flipH="1">
              <a:off x="0" y="-12700"/>
              <a:ext cx="7333248" cy="6858001"/>
              <a:chOff x="-2260507" y="515234"/>
              <a:chExt cx="7333248" cy="6858001"/>
            </a:xfrm>
          </p:grpSpPr>
          <p:sp>
            <p:nvSpPr>
              <p:cNvPr id="9" name="AutoShape 9"/>
              <p:cNvSpPr/>
              <p:nvPr/>
            </p:nvSpPr>
            <p:spPr>
              <a:xfrm rot="5400000" flipH="1">
                <a:off x="-1306393" y="1004891"/>
                <a:ext cx="5414230" cy="7322457"/>
              </a:xfrm>
              <a:custGeom>
                <a:avLst/>
                <a:gdLst/>
                <a:ahLst/>
                <a:cxnLst/>
                <a:rect l="l" t="t" r="r" b="b"/>
                <a:pathLst>
                  <a:path w="5414230" h="7322457">
                    <a:moveTo>
                      <a:pt x="41373" y="7322457"/>
                    </a:moveTo>
                    <a:lnTo>
                      <a:pt x="0" y="7219663"/>
                    </a:lnTo>
                    <a:lnTo>
                      <a:pt x="0" y="7314436"/>
                    </a:lnTo>
                    <a:close/>
                    <a:moveTo>
                      <a:pt x="5414162" y="94672"/>
                    </a:moveTo>
                    <a:cubicBezTo>
                      <a:pt x="5414690" y="33805"/>
                      <a:pt x="5412006" y="0"/>
                      <a:pt x="5412006" y="0"/>
                    </a:cubicBezTo>
                    <a:lnTo>
                      <a:pt x="0" y="0"/>
                    </a:lnTo>
                    <a:lnTo>
                      <a:pt x="0" y="5978933"/>
                    </a:lnTo>
                    <a:lnTo>
                      <a:pt x="4397" y="5960888"/>
                    </a:lnTo>
                    <a:cubicBezTo>
                      <a:pt x="309902" y="4832480"/>
                      <a:pt x="1325567" y="3555767"/>
                      <a:pt x="2908773" y="3038454"/>
                    </a:cubicBezTo>
                    <a:cubicBezTo>
                      <a:pt x="5249391" y="2272875"/>
                      <a:pt x="5410465" y="520743"/>
                      <a:pt x="5414162" y="94672"/>
                    </a:cubicBezTo>
                    <a:close/>
                  </a:path>
                </a:pathLst>
              </a:custGeom>
              <a:gradFill>
                <a:gsLst>
                  <a:gs pos="0">
                    <a:srgbClr val="16ACEC">
                      <a:alpha val="0"/>
                      <a:lumMod val="40000"/>
                      <a:lumOff val="60000"/>
                    </a:srgbClr>
                  </a:gs>
                  <a:gs pos="100000">
                    <a:srgbClr val="16ACEC">
                      <a:alpha val="25098"/>
                      <a:lumMod val="40000"/>
                      <a:lumOff val="6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 flipH="1">
                <a:off x="3800523" y="515234"/>
                <a:ext cx="1272218" cy="2425958"/>
              </a:xfrm>
              <a:custGeom>
                <a:avLst/>
                <a:gdLst/>
                <a:ahLst/>
                <a:cxnLst/>
                <a:rect l="l" t="t" r="r" b="b"/>
                <a:pathLst>
                  <a:path w="1272218" h="2425958">
                    <a:moveTo>
                      <a:pt x="1269994" y="0"/>
                    </a:moveTo>
                    <a:lnTo>
                      <a:pt x="0" y="0"/>
                    </a:lnTo>
                    <a:lnTo>
                      <a:pt x="0" y="2425958"/>
                    </a:lnTo>
                    <a:lnTo>
                      <a:pt x="286404" y="2194578"/>
                    </a:lnTo>
                    <a:cubicBezTo>
                      <a:pt x="1366608" y="1216973"/>
                      <a:pt x="1269994" y="0"/>
                      <a:pt x="126999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6ACEC">
                      <a:alpha val="34117"/>
                      <a:lumMod val="60000"/>
                      <a:lumOff val="40000"/>
                    </a:srgbClr>
                  </a:gs>
                  <a:gs pos="100000">
                    <a:srgbClr val="16ACEC">
                      <a:alpha val="0"/>
                      <a:lumMod val="60000"/>
                      <a:lumOff val="4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16ACEC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0" cy="6858001"/>
            <a:chOff x="0" y="0"/>
            <a:chExt cx="12192000" cy="6858001"/>
          </a:xfrm>
        </p:grpSpPr>
        <p:sp>
          <p:nvSpPr>
            <p:cNvPr id="3" name="AutoShape 3"/>
            <p:cNvSpPr/>
            <p:nvPr/>
          </p:nvSpPr>
          <p:spPr>
            <a:xfrm>
              <a:off x="0" y="6198748"/>
              <a:ext cx="660399" cy="659253"/>
            </a:xfrm>
            <a:custGeom>
              <a:avLst/>
              <a:gdLst/>
              <a:ahLst/>
              <a:cxnLst/>
              <a:rect l="l" t="t" r="r" b="b"/>
              <a:pathLst>
                <a:path w="951094" h="949442">
                  <a:moveTo>
                    <a:pt x="22977" y="0"/>
                  </a:moveTo>
                  <a:cubicBezTo>
                    <a:pt x="535562" y="0"/>
                    <a:pt x="951094" y="415532"/>
                    <a:pt x="951094" y="928117"/>
                  </a:cubicBezTo>
                  <a:lnTo>
                    <a:pt x="948944" y="949443"/>
                  </a:lnTo>
                  <a:lnTo>
                    <a:pt x="0" y="949443"/>
                  </a:lnTo>
                  <a:lnTo>
                    <a:pt x="0" y="1160"/>
                  </a:lnTo>
                  <a:close/>
                </a:path>
              </a:pathLst>
            </a:custGeom>
            <a:gradFill>
              <a:gsLst>
                <a:gs pos="0">
                  <a:srgbClr val="16ACEC">
                    <a:alpha val="100000"/>
                    <a:lumMod val="20000"/>
                    <a:lumOff val="80000"/>
                  </a:srgbClr>
                </a:gs>
                <a:gs pos="100000">
                  <a:srgbClr val="16ACEC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1065401" y="0"/>
              <a:ext cx="1126599" cy="1151408"/>
            </a:xfrm>
            <a:custGeom>
              <a:avLst/>
              <a:gdLst/>
              <a:ahLst/>
              <a:cxnLst/>
              <a:rect l="l" t="t" r="r" b="b"/>
              <a:pathLst>
                <a:path w="1126599" h="1151408">
                  <a:moveTo>
                    <a:pt x="0" y="0"/>
                  </a:moveTo>
                  <a:lnTo>
                    <a:pt x="151735" y="0"/>
                  </a:lnTo>
                  <a:lnTo>
                    <a:pt x="162944" y="43591"/>
                  </a:lnTo>
                  <a:cubicBezTo>
                    <a:pt x="304140" y="497550"/>
                    <a:pt x="662445" y="855855"/>
                    <a:pt x="1116404" y="997051"/>
                  </a:cubicBezTo>
                  <a:lnTo>
                    <a:pt x="1126599" y="999672"/>
                  </a:lnTo>
                  <a:lnTo>
                    <a:pt x="1126599" y="1151408"/>
                  </a:lnTo>
                  <a:lnTo>
                    <a:pt x="1072660" y="1137539"/>
                  </a:lnTo>
                  <a:cubicBezTo>
                    <a:pt x="572639" y="982016"/>
                    <a:pt x="177979" y="587356"/>
                    <a:pt x="22456" y="87335"/>
                  </a:cubicBezTo>
                  <a:close/>
                </a:path>
              </a:pathLst>
            </a:custGeom>
            <a:solidFill>
              <a:srgbClr val="16ACEC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1303108" y="539683"/>
              <a:ext cx="552342" cy="552342"/>
            </a:xfrm>
            <a:prstGeom prst="ellipse">
              <a:avLst/>
            </a:prstGeom>
            <a:gradFill>
              <a:gsLst>
                <a:gs pos="0">
                  <a:srgbClr val="16ACEC">
                    <a:alpha val="100000"/>
                    <a:lumMod val="20000"/>
                    <a:lumOff val="80000"/>
                  </a:srgbClr>
                </a:gs>
                <a:gs pos="100000">
                  <a:srgbClr val="16ACEC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0" cy="6858001"/>
            <a:chOff x="0" y="0"/>
            <a:chExt cx="12192000" cy="6858001"/>
          </a:xfrm>
        </p:grpSpPr>
        <p:sp>
          <p:nvSpPr>
            <p:cNvPr id="3" name="AutoShape 3"/>
            <p:cNvSpPr/>
            <p:nvPr/>
          </p:nvSpPr>
          <p:spPr>
            <a:xfrm>
              <a:off x="0" y="6198748"/>
              <a:ext cx="660399" cy="659253"/>
            </a:xfrm>
            <a:custGeom>
              <a:avLst/>
              <a:gdLst/>
              <a:ahLst/>
              <a:cxnLst/>
              <a:rect l="l" t="t" r="r" b="b"/>
              <a:pathLst>
                <a:path w="951094" h="949442">
                  <a:moveTo>
                    <a:pt x="22977" y="0"/>
                  </a:moveTo>
                  <a:cubicBezTo>
                    <a:pt x="535562" y="0"/>
                    <a:pt x="951094" y="415532"/>
                    <a:pt x="951094" y="928117"/>
                  </a:cubicBezTo>
                  <a:lnTo>
                    <a:pt x="948944" y="949443"/>
                  </a:lnTo>
                  <a:lnTo>
                    <a:pt x="0" y="949443"/>
                  </a:lnTo>
                  <a:lnTo>
                    <a:pt x="0" y="1160"/>
                  </a:lnTo>
                  <a:close/>
                </a:path>
              </a:pathLst>
            </a:custGeom>
            <a:gradFill>
              <a:gsLst>
                <a:gs pos="0">
                  <a:srgbClr val="16ACEC">
                    <a:alpha val="100000"/>
                    <a:lumMod val="20000"/>
                    <a:lumOff val="80000"/>
                  </a:srgbClr>
                </a:gs>
                <a:gs pos="100000">
                  <a:srgbClr val="16ACEC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1065401" y="0"/>
              <a:ext cx="1126599" cy="1151408"/>
            </a:xfrm>
            <a:custGeom>
              <a:avLst/>
              <a:gdLst/>
              <a:ahLst/>
              <a:cxnLst/>
              <a:rect l="l" t="t" r="r" b="b"/>
              <a:pathLst>
                <a:path w="1126599" h="1151408">
                  <a:moveTo>
                    <a:pt x="0" y="0"/>
                  </a:moveTo>
                  <a:lnTo>
                    <a:pt x="151735" y="0"/>
                  </a:lnTo>
                  <a:lnTo>
                    <a:pt x="162944" y="43591"/>
                  </a:lnTo>
                  <a:cubicBezTo>
                    <a:pt x="304140" y="497550"/>
                    <a:pt x="662445" y="855855"/>
                    <a:pt x="1116404" y="997051"/>
                  </a:cubicBezTo>
                  <a:lnTo>
                    <a:pt x="1126599" y="999672"/>
                  </a:lnTo>
                  <a:lnTo>
                    <a:pt x="1126599" y="1151408"/>
                  </a:lnTo>
                  <a:lnTo>
                    <a:pt x="1072660" y="1137539"/>
                  </a:lnTo>
                  <a:cubicBezTo>
                    <a:pt x="572639" y="982016"/>
                    <a:pt x="177979" y="587356"/>
                    <a:pt x="22456" y="87335"/>
                  </a:cubicBezTo>
                  <a:close/>
                </a:path>
              </a:pathLst>
            </a:custGeom>
            <a:solidFill>
              <a:srgbClr val="16ACEC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1303108" y="539683"/>
              <a:ext cx="552342" cy="552342"/>
            </a:xfrm>
            <a:prstGeom prst="ellipse">
              <a:avLst/>
            </a:prstGeom>
            <a:gradFill>
              <a:gsLst>
                <a:gs pos="0">
                  <a:srgbClr val="16ACEC">
                    <a:alpha val="100000"/>
                    <a:lumMod val="20000"/>
                    <a:lumOff val="80000"/>
                  </a:srgbClr>
                </a:gs>
                <a:gs pos="100000">
                  <a:srgbClr val="16ACEC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 flipH="1">
            <a:off x="4934" y="0"/>
            <a:ext cx="12187066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16ACEC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0" cy="6858001"/>
            <a:chOff x="0" y="0"/>
            <a:chExt cx="12192000" cy="6858001"/>
          </a:xfrm>
        </p:grpSpPr>
        <p:sp>
          <p:nvSpPr>
            <p:cNvPr id="3" name="AutoShape 3"/>
            <p:cNvSpPr/>
            <p:nvPr/>
          </p:nvSpPr>
          <p:spPr>
            <a:xfrm>
              <a:off x="0" y="6198748"/>
              <a:ext cx="660399" cy="659253"/>
            </a:xfrm>
            <a:custGeom>
              <a:avLst/>
              <a:gdLst/>
              <a:ahLst/>
              <a:cxnLst/>
              <a:rect l="l" t="t" r="r" b="b"/>
              <a:pathLst>
                <a:path w="951094" h="949442">
                  <a:moveTo>
                    <a:pt x="22977" y="0"/>
                  </a:moveTo>
                  <a:cubicBezTo>
                    <a:pt x="535562" y="0"/>
                    <a:pt x="951094" y="415532"/>
                    <a:pt x="951094" y="928117"/>
                  </a:cubicBezTo>
                  <a:lnTo>
                    <a:pt x="948944" y="949443"/>
                  </a:lnTo>
                  <a:lnTo>
                    <a:pt x="0" y="949443"/>
                  </a:lnTo>
                  <a:lnTo>
                    <a:pt x="0" y="1160"/>
                  </a:lnTo>
                  <a:close/>
                </a:path>
              </a:pathLst>
            </a:custGeom>
            <a:gradFill>
              <a:gsLst>
                <a:gs pos="0">
                  <a:srgbClr val="16ACEC">
                    <a:alpha val="100000"/>
                    <a:lumMod val="20000"/>
                    <a:lumOff val="80000"/>
                  </a:srgbClr>
                </a:gs>
                <a:gs pos="100000">
                  <a:srgbClr val="16ACEC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1065401" y="0"/>
              <a:ext cx="1126599" cy="1151408"/>
            </a:xfrm>
            <a:custGeom>
              <a:avLst/>
              <a:gdLst/>
              <a:ahLst/>
              <a:cxnLst/>
              <a:rect l="l" t="t" r="r" b="b"/>
              <a:pathLst>
                <a:path w="1126599" h="1151408">
                  <a:moveTo>
                    <a:pt x="0" y="0"/>
                  </a:moveTo>
                  <a:lnTo>
                    <a:pt x="151735" y="0"/>
                  </a:lnTo>
                  <a:lnTo>
                    <a:pt x="162944" y="43591"/>
                  </a:lnTo>
                  <a:cubicBezTo>
                    <a:pt x="304140" y="497550"/>
                    <a:pt x="662445" y="855855"/>
                    <a:pt x="1116404" y="997051"/>
                  </a:cubicBezTo>
                  <a:lnTo>
                    <a:pt x="1126599" y="999672"/>
                  </a:lnTo>
                  <a:lnTo>
                    <a:pt x="1126599" y="1151408"/>
                  </a:lnTo>
                  <a:lnTo>
                    <a:pt x="1072660" y="1137539"/>
                  </a:lnTo>
                  <a:cubicBezTo>
                    <a:pt x="572639" y="982016"/>
                    <a:pt x="177979" y="587356"/>
                    <a:pt x="22456" y="87335"/>
                  </a:cubicBezTo>
                  <a:close/>
                </a:path>
              </a:pathLst>
            </a:custGeom>
            <a:solidFill>
              <a:srgbClr val="16ACEC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1303108" y="539683"/>
              <a:ext cx="552342" cy="552342"/>
            </a:xfrm>
            <a:prstGeom prst="ellipse">
              <a:avLst/>
            </a:prstGeom>
            <a:gradFill>
              <a:gsLst>
                <a:gs pos="0">
                  <a:srgbClr val="16ACEC">
                    <a:alpha val="100000"/>
                    <a:lumMod val="20000"/>
                    <a:lumOff val="80000"/>
                  </a:srgbClr>
                </a:gs>
                <a:gs pos="100000">
                  <a:srgbClr val="16ACEC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16ACEC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16ACEC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1130300"/>
            <a:ext cx="11518889" cy="4752120"/>
            <a:chOff x="1" y="1130300"/>
            <a:chExt cx="11518889" cy="4752120"/>
          </a:xfrm>
        </p:grpSpPr>
        <p:sp>
          <p:nvSpPr>
            <p:cNvPr id="3" name="AutoShape 3"/>
            <p:cNvSpPr/>
            <p:nvPr/>
          </p:nvSpPr>
          <p:spPr>
            <a:xfrm>
              <a:off x="1" y="1130300"/>
              <a:ext cx="11518889" cy="1955656"/>
            </a:xfrm>
            <a:custGeom>
              <a:avLst/>
              <a:gdLst/>
              <a:ahLst/>
              <a:cxnLst/>
              <a:rect l="l" t="t" r="r" b="b"/>
              <a:pathLst>
                <a:path w="11518889" h="1955656">
                  <a:moveTo>
                    <a:pt x="0" y="0"/>
                  </a:moveTo>
                  <a:lnTo>
                    <a:pt x="10541061" y="0"/>
                  </a:lnTo>
                  <a:cubicBezTo>
                    <a:pt x="11081101" y="0"/>
                    <a:pt x="11518889" y="437788"/>
                    <a:pt x="11518889" y="977828"/>
                  </a:cubicBezTo>
                  <a:cubicBezTo>
                    <a:pt x="11518889" y="1517868"/>
                    <a:pt x="11081101" y="1955656"/>
                    <a:pt x="10541061" y="1955656"/>
                  </a:cubicBezTo>
                  <a:lnTo>
                    <a:pt x="0" y="1955656"/>
                  </a:lnTo>
                  <a:close/>
                </a:path>
              </a:pathLst>
            </a:custGeom>
            <a:gradFill>
              <a:gsLst>
                <a:gs pos="0">
                  <a:srgbClr val="16ACEC">
                    <a:alpha val="0"/>
                  </a:srgbClr>
                </a:gs>
                <a:gs pos="100000">
                  <a:srgbClr val="16ACEC">
                    <a:alpha val="8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>
              <a:off x="5337278" y="3429000"/>
              <a:ext cx="0" cy="2453420"/>
            </a:xfrm>
            <a:prstGeom prst="line">
              <a:avLst/>
            </a:prstGeom>
            <a:ln w="3175">
              <a:solidFill>
                <a:srgbClr val="16ACEC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0" cy="6858001"/>
            <a:chOff x="0" y="0"/>
            <a:chExt cx="12192000" cy="6858001"/>
          </a:xfrm>
        </p:grpSpPr>
        <p:sp>
          <p:nvSpPr>
            <p:cNvPr id="3" name="AutoShape 3"/>
            <p:cNvSpPr/>
            <p:nvPr/>
          </p:nvSpPr>
          <p:spPr>
            <a:xfrm>
              <a:off x="0" y="6198748"/>
              <a:ext cx="660399" cy="659253"/>
            </a:xfrm>
            <a:custGeom>
              <a:avLst/>
              <a:gdLst/>
              <a:ahLst/>
              <a:cxnLst/>
              <a:rect l="l" t="t" r="r" b="b"/>
              <a:pathLst>
                <a:path w="951094" h="949442">
                  <a:moveTo>
                    <a:pt x="22977" y="0"/>
                  </a:moveTo>
                  <a:cubicBezTo>
                    <a:pt x="535562" y="0"/>
                    <a:pt x="951094" y="415532"/>
                    <a:pt x="951094" y="928117"/>
                  </a:cubicBezTo>
                  <a:lnTo>
                    <a:pt x="948944" y="949443"/>
                  </a:lnTo>
                  <a:lnTo>
                    <a:pt x="0" y="949443"/>
                  </a:lnTo>
                  <a:lnTo>
                    <a:pt x="0" y="1160"/>
                  </a:lnTo>
                  <a:close/>
                </a:path>
              </a:pathLst>
            </a:custGeom>
            <a:gradFill>
              <a:gsLst>
                <a:gs pos="0">
                  <a:srgbClr val="16ACEC">
                    <a:alpha val="100000"/>
                    <a:lumMod val="20000"/>
                    <a:lumOff val="80000"/>
                  </a:srgbClr>
                </a:gs>
                <a:gs pos="100000">
                  <a:srgbClr val="16ACEC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1065401" y="0"/>
              <a:ext cx="1126599" cy="1151408"/>
            </a:xfrm>
            <a:custGeom>
              <a:avLst/>
              <a:gdLst/>
              <a:ahLst/>
              <a:cxnLst/>
              <a:rect l="l" t="t" r="r" b="b"/>
              <a:pathLst>
                <a:path w="1126599" h="1151408">
                  <a:moveTo>
                    <a:pt x="0" y="0"/>
                  </a:moveTo>
                  <a:lnTo>
                    <a:pt x="151735" y="0"/>
                  </a:lnTo>
                  <a:lnTo>
                    <a:pt x="162944" y="43591"/>
                  </a:lnTo>
                  <a:cubicBezTo>
                    <a:pt x="304140" y="497550"/>
                    <a:pt x="662445" y="855855"/>
                    <a:pt x="1116404" y="997051"/>
                  </a:cubicBezTo>
                  <a:lnTo>
                    <a:pt x="1126599" y="999672"/>
                  </a:lnTo>
                  <a:lnTo>
                    <a:pt x="1126599" y="1151408"/>
                  </a:lnTo>
                  <a:lnTo>
                    <a:pt x="1072660" y="1137539"/>
                  </a:lnTo>
                  <a:cubicBezTo>
                    <a:pt x="572639" y="982016"/>
                    <a:pt x="177979" y="587356"/>
                    <a:pt x="22456" y="87335"/>
                  </a:cubicBezTo>
                  <a:close/>
                </a:path>
              </a:pathLst>
            </a:custGeom>
            <a:solidFill>
              <a:srgbClr val="16ACEC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1303108" y="539683"/>
              <a:ext cx="552342" cy="552342"/>
            </a:xfrm>
            <a:prstGeom prst="ellipse">
              <a:avLst/>
            </a:prstGeom>
            <a:gradFill>
              <a:gsLst>
                <a:gs pos="0">
                  <a:srgbClr val="16ACEC">
                    <a:alpha val="100000"/>
                    <a:lumMod val="20000"/>
                    <a:lumOff val="80000"/>
                  </a:srgbClr>
                </a:gs>
                <a:gs pos="100000">
                  <a:srgbClr val="16ACEC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</p:grpSp>
      <p:grpSp>
        <p:nvGrpSpPr>
          <p:cNvPr id="6" name="Group 6"/>
          <p:cNvGrpSpPr/>
          <p:nvPr/>
        </p:nvGrpSpPr>
        <p:grpSpPr>
          <a:xfrm rot="0" flipH="1">
            <a:off x="0" y="-12700"/>
            <a:ext cx="12192000" cy="6858001"/>
            <a:chOff x="0" y="-12700"/>
            <a:chExt cx="12192000" cy="6858001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tretch>
              <a:fillRect/>
            </a:stretch>
          </p:blipFill>
          <p:spPr>
            <a:xfrm>
              <a:off x="4934" y="0"/>
              <a:ext cx="12187066" cy="685800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grpSp>
          <p:nvGrpSpPr>
            <p:cNvPr id="8" name="Group 8"/>
            <p:cNvGrpSpPr/>
            <p:nvPr/>
          </p:nvGrpSpPr>
          <p:grpSpPr>
            <a:xfrm rot="0" flipH="1">
              <a:off x="0" y="-12700"/>
              <a:ext cx="7333248" cy="6858001"/>
              <a:chOff x="-2260507" y="515234"/>
              <a:chExt cx="7333248" cy="6858001"/>
            </a:xfrm>
          </p:grpSpPr>
          <p:sp>
            <p:nvSpPr>
              <p:cNvPr id="9" name="AutoShape 9"/>
              <p:cNvSpPr/>
              <p:nvPr/>
            </p:nvSpPr>
            <p:spPr>
              <a:xfrm rot="5400000" flipH="1">
                <a:off x="-1306393" y="1004891"/>
                <a:ext cx="5414230" cy="7322457"/>
              </a:xfrm>
              <a:custGeom>
                <a:avLst/>
                <a:gdLst/>
                <a:ahLst/>
                <a:cxnLst/>
                <a:rect l="l" t="t" r="r" b="b"/>
                <a:pathLst>
                  <a:path w="5414230" h="7322457">
                    <a:moveTo>
                      <a:pt x="41373" y="7322457"/>
                    </a:moveTo>
                    <a:lnTo>
                      <a:pt x="0" y="7219663"/>
                    </a:lnTo>
                    <a:lnTo>
                      <a:pt x="0" y="7314436"/>
                    </a:lnTo>
                    <a:close/>
                    <a:moveTo>
                      <a:pt x="5414162" y="94672"/>
                    </a:moveTo>
                    <a:cubicBezTo>
                      <a:pt x="5414690" y="33805"/>
                      <a:pt x="5412006" y="0"/>
                      <a:pt x="5412006" y="0"/>
                    </a:cubicBezTo>
                    <a:lnTo>
                      <a:pt x="0" y="0"/>
                    </a:lnTo>
                    <a:lnTo>
                      <a:pt x="0" y="5978933"/>
                    </a:lnTo>
                    <a:lnTo>
                      <a:pt x="4397" y="5960888"/>
                    </a:lnTo>
                    <a:cubicBezTo>
                      <a:pt x="309902" y="4832480"/>
                      <a:pt x="1325567" y="3555767"/>
                      <a:pt x="2908773" y="3038454"/>
                    </a:cubicBezTo>
                    <a:cubicBezTo>
                      <a:pt x="5249391" y="2272875"/>
                      <a:pt x="5410465" y="520743"/>
                      <a:pt x="5414162" y="94672"/>
                    </a:cubicBezTo>
                    <a:close/>
                  </a:path>
                </a:pathLst>
              </a:custGeom>
              <a:gradFill>
                <a:gsLst>
                  <a:gs pos="0">
                    <a:srgbClr val="16ACEC">
                      <a:alpha val="0"/>
                      <a:lumMod val="40000"/>
                      <a:lumOff val="60000"/>
                    </a:srgbClr>
                  </a:gs>
                  <a:gs pos="100000">
                    <a:srgbClr val="16ACEC">
                      <a:alpha val="25098"/>
                      <a:lumMod val="40000"/>
                      <a:lumOff val="6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 flipH="1">
                <a:off x="3800523" y="515234"/>
                <a:ext cx="1272218" cy="2425958"/>
              </a:xfrm>
              <a:custGeom>
                <a:avLst/>
                <a:gdLst/>
                <a:ahLst/>
                <a:cxnLst/>
                <a:rect l="l" t="t" r="r" b="b"/>
                <a:pathLst>
                  <a:path w="1272218" h="2425958">
                    <a:moveTo>
                      <a:pt x="1269994" y="0"/>
                    </a:moveTo>
                    <a:lnTo>
                      <a:pt x="0" y="0"/>
                    </a:lnTo>
                    <a:lnTo>
                      <a:pt x="0" y="2425958"/>
                    </a:lnTo>
                    <a:lnTo>
                      <a:pt x="286404" y="2194578"/>
                    </a:lnTo>
                    <a:cubicBezTo>
                      <a:pt x="1366608" y="1216973"/>
                      <a:pt x="1269994" y="0"/>
                      <a:pt x="126999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6ACEC">
                      <a:alpha val="34117"/>
                      <a:lumMod val="60000"/>
                      <a:lumOff val="40000"/>
                    </a:srgbClr>
                  </a:gs>
                  <a:gs pos="100000">
                    <a:srgbClr val="16ACEC">
                      <a:alpha val="0"/>
                      <a:lumMod val="60000"/>
                      <a:lumOff val="4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9" Type="http://schemas.openxmlformats.org/officeDocument/2006/relationships/slideLayout" Target="../slideLayouts/slideLayout6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2617" y="1443769"/>
            <a:ext cx="5803900" cy="280931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 w="19050"/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风电AGC场景6：通信中断或极端风况安全模式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4506244"/>
            <a:ext cx="4056743" cy="64632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3FBFE">
                  <a:alpha val="100000"/>
                  <a:lumMod val="5000"/>
                  <a:lumOff val="95000"/>
                </a:srgbClr>
              </a:gs>
              <a:gs pos="100000">
                <a:srgbClr val="B9E6F9">
                  <a:alpha val="100000"/>
                  <a:lumMod val="30000"/>
                  <a:lumOff val="70000"/>
                </a:srgbClr>
              </a:gs>
            </a:gsLst>
            <a:lin ang="5400000"/>
          </a:gra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16ACEC">
                    <a:alpha val="100000"/>
                    <a:lumMod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保障风电场设备安全、防止电网冲击的最后防线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62618" y="5779673"/>
            <a:ext cx="5803900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章渲祺</a:t>
            </a:r>
            <a:endParaRPr lang="en-US" sz="1600" b="0" i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60400" y="5482717"/>
            <a:ext cx="5803900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2026.4.7</a:t>
            </a:r>
            <a:endParaRPr 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00" y="3073400"/>
            <a:ext cx="4505960" cy="2705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marL="342900" lvl="0" indent="-342900" algn="l">
              <a:lnSpc>
                <a:spcPct val="100000"/>
              </a:lnSpc>
              <a:spcBef>
                <a:spcPts val="1000"/>
              </a:spcBef>
              <a:buAutoNum type="arabicPeriod"/>
              <a:defRPr/>
            </a:pPr>
            <a:r>
              <a:rPr lang="en-US" sz="2400" b="1" i="0" strike="noStrike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场景概述</a:t>
            </a:r>
            <a:endParaRPr lang="en-US" sz="1400" b="1"/>
          </a:p>
          <a:p>
            <a:pPr marL="342900" lvl="0" indent="-342900" algn="l">
              <a:lnSpc>
                <a:spcPct val="100000"/>
              </a:lnSpc>
              <a:spcBef>
                <a:spcPts val="1000"/>
              </a:spcBef>
              <a:buAutoNum type="arabicPeriod"/>
            </a:pPr>
            <a:r>
              <a:rPr sz="2400" b="1" i="0" strike="noStrike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子模式划分</a:t>
            </a:r>
            <a:endParaRPr sz="2400" b="1" i="0" strike="noStrike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 algn="l">
              <a:lnSpc>
                <a:spcPct val="100000"/>
              </a:lnSpc>
              <a:spcBef>
                <a:spcPts val="1000"/>
              </a:spcBef>
              <a:buAutoNum type="arabicPeriod"/>
            </a:pPr>
            <a:r>
              <a:rPr sz="2400" b="1" i="0" strike="noStrike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状态转移</a:t>
            </a:r>
            <a:r>
              <a:rPr lang="zh-CN" sz="2400" b="1" i="0" strike="noStrike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</a:t>
            </a:r>
            <a:endParaRPr sz="2400" b="1" i="0" strike="noStrike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 algn="l">
              <a:lnSpc>
                <a:spcPct val="100000"/>
              </a:lnSpc>
              <a:spcBef>
                <a:spcPts val="1000"/>
              </a:spcBef>
              <a:buAutoNum type="arabicPeriod"/>
            </a:pPr>
            <a:r>
              <a:rPr sz="2400" b="1" i="0" strike="noStrike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通信中断处理流程</a:t>
            </a:r>
            <a:endParaRPr sz="2400" b="1" i="0" strike="noStrike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 algn="l">
              <a:lnSpc>
                <a:spcPct val="100000"/>
              </a:lnSpc>
              <a:spcBef>
                <a:spcPts val="1000"/>
              </a:spcBef>
              <a:buAutoNum type="arabicPeriod"/>
            </a:pPr>
            <a:r>
              <a:rPr sz="2400" b="1" i="0" strike="noStrike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极端风况处理流程</a:t>
            </a:r>
            <a:endParaRPr sz="2400" b="1" i="0" strike="noStrike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00000"/>
              </a:lnSpc>
              <a:spcBef>
                <a:spcPts val="1000"/>
              </a:spcBef>
              <a:buAutoNum type="arabicPeriod"/>
            </a:pPr>
            <a:endParaRPr sz="2400" b="1" i="0" strike="noStrike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85798" y="1173092"/>
            <a:ext cx="4676879" cy="777873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100"/>
          </a:p>
        </p:txBody>
      </p:sp>
      <p:sp>
        <p:nvSpPr>
          <p:cNvPr id="4" name="文本框 3"/>
          <p:cNvSpPr txBox="1"/>
          <p:nvPr/>
        </p:nvSpPr>
        <p:spPr>
          <a:xfrm>
            <a:off x="5692140" y="3187065"/>
            <a:ext cx="4064000" cy="2322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lvl="0" indent="-342900"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 startAt="6"/>
            </a:pPr>
            <a:r>
              <a:rPr sz="2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恢复协调机制</a:t>
            </a:r>
            <a:endParaRPr sz="2400" b="1" i="0" strike="noStrike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 startAt="6"/>
            </a:pPr>
            <a:r>
              <a:rPr sz="2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C++模块设计</a:t>
            </a:r>
            <a:endParaRPr sz="2400" b="1" i="0" strike="noStrike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 startAt="6"/>
            </a:pPr>
            <a:r>
              <a:rPr sz="2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参数配置表</a:t>
            </a:r>
            <a:endParaRPr sz="2400" b="1" i="0" strike="noStrike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 startAt="6"/>
            </a:pPr>
            <a:r>
              <a:rPr sz="2400" b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总结与优势</a:t>
            </a:r>
            <a:endParaRPr sz="2400" b="1" i="0" strike="noStrike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 b="1" i="0" strike="noStrike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0" y="2570066"/>
            <a:ext cx="5435600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场景概述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096000" y="3166695"/>
            <a:ext cx="5435600" cy="22035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了解场景触发条件、优先级及控制目标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e4c110d-b764-454b-9018-a5263d72a717"/>
          <p:cNvGrpSpPr/>
          <p:nvPr>
            <p:custDataLst>
              <p:tags r:id="rId1"/>
            </p:custDataLst>
          </p:nvPr>
        </p:nvGrpSpPr>
        <p:grpSpPr>
          <a:xfrm rot="0"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明确场景核心要素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4378325" y="1695450"/>
              <a:ext cx="3422650" cy="14605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2F2F2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>
              <p:custDataLst>
                <p:tags r:id="rId2"/>
              </p:custDataLst>
            </p:nvPr>
          </p:nvSpPr>
          <p:spPr>
            <a:xfrm>
              <a:off x="660400" y="2082800"/>
              <a:ext cx="10858500" cy="171196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2F2F2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660400" y="2428261"/>
              <a:ext cx="2389028" cy="3705839"/>
              <a:chOff x="660400" y="2428261"/>
              <a:chExt cx="2389028" cy="3705839"/>
            </a:xfrm>
          </p:grpSpPr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400" y="4090070"/>
                <a:ext cx="2389028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场景名称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60400" y="4864941"/>
                <a:ext cx="2389028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通信中断或极端风况安全模式，是风电AGC重要场景。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165860" y="2428261"/>
                <a:ext cx="1378108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3483557" y="2428261"/>
              <a:ext cx="2389028" cy="3705839"/>
              <a:chOff x="660400" y="2428261"/>
              <a:chExt cx="2389028" cy="3705839"/>
            </a:xfrm>
          </p:grpSpPr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60400" y="4090070"/>
                <a:ext cx="2389028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触发条件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60400" y="4864941"/>
                <a:ext cx="2389028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与调度主站通信中断超设定时间、收到紧急停机信号、极端天气预警。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165860" y="2428261"/>
                <a:ext cx="1378108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306714" y="2428261"/>
              <a:ext cx="2389028" cy="3705839"/>
              <a:chOff x="660400" y="2428261"/>
              <a:chExt cx="2389028" cy="3705839"/>
            </a:xfrm>
          </p:grpSpPr>
          <p:sp>
            <p:nvSpPr>
              <p:cNvPr id="15" name="TextBox 1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60400" y="4090070"/>
                <a:ext cx="2389028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优先级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60400" y="4864941"/>
                <a:ext cx="2389028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优先级最高，可中断其他所有场景，保障安全。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165860" y="2428261"/>
                <a:ext cx="1378108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9129872" y="2428261"/>
              <a:ext cx="2389028" cy="3705839"/>
              <a:chOff x="660400" y="2428261"/>
              <a:chExt cx="2389028" cy="3705839"/>
            </a:xfrm>
          </p:grpSpPr>
          <p:sp>
            <p:nvSpPr>
              <p:cNvPr id="19" name="TextBox 1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660400" y="4090070"/>
                <a:ext cx="2389028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 strike="noStrike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控制目标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60400" y="4864941"/>
                <a:ext cx="2389028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主目标是确保风机机械安全，次目标是维持对电网的最小冲击。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65860" y="2428261"/>
                <a:ext cx="1378108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场景介绍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0" y="2570066"/>
            <a:ext cx="5435600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子模式划分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096000" y="3166695"/>
            <a:ext cx="5435600" cy="22035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认识两种子模式及其特点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7704408-5232-4d93-8ccf-1ced88984791"/>
          <p:cNvGrpSpPr/>
          <p:nvPr/>
        </p:nvGrpSpPr>
        <p:grpSpPr>
          <a:xfrm rot="0">
            <a:off x="660399" y="1130300"/>
            <a:ext cx="11094721" cy="5003800"/>
            <a:chOff x="660399" y="1130300"/>
            <a:chExt cx="11094721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对比两种子模式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399" y="2283325"/>
              <a:ext cx="5331461" cy="1631951"/>
              <a:chOff x="660399" y="2283325"/>
              <a:chExt cx="5331461" cy="1631951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660399" y="2283325"/>
                <a:ext cx="531374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259842" y="2283325"/>
                <a:ext cx="47320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通信中断冻结模式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259842" y="2677026"/>
                <a:ext cx="4732018" cy="123825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与调度通信中断时触发，冻结最后有效AGC指令。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0">
              <a:off x="660399" y="4502149"/>
              <a:ext cx="5331461" cy="1631951"/>
              <a:chOff x="660399" y="4502149"/>
              <a:chExt cx="5331461" cy="163195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660399" y="4502149"/>
                <a:ext cx="531374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59842" y="4502149"/>
                <a:ext cx="47320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极端风况自主模式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59842" y="4895850"/>
                <a:ext cx="4732018" cy="123825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风速超切出值或湍流过强时触发，授权单机自主降载。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6423659" y="2283325"/>
              <a:ext cx="5331461" cy="1631951"/>
              <a:chOff x="6423659" y="2283325"/>
              <a:chExt cx="5331461" cy="1631951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423659" y="2283325"/>
                <a:ext cx="531374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023102" y="2283325"/>
                <a:ext cx="47320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触发条件对比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023102" y="2677026"/>
                <a:ext cx="4732018" cy="123825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前者依赖通信状态，后者取决于风速和湍流情况。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6423659" y="4502149"/>
              <a:ext cx="5331461" cy="1631951"/>
              <a:chOff x="6423659" y="4502149"/>
              <a:chExt cx="5331461" cy="1631951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423659" y="4502149"/>
                <a:ext cx="531374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023102" y="4502149"/>
                <a:ext cx="47320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功率变化率限制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023102" y="4895850"/>
                <a:ext cx="4732018" cy="123825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通信中断冻结模式功率变化率≤1%Pn/min，自主模式不主动调节。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子模式介绍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0" y="2570066"/>
            <a:ext cx="5435600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状态转移</a:t>
            </a:r>
            <a:r>
              <a:rPr lang="zh-CN" alt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</a:t>
            </a:r>
            <a:endParaRPr lang="zh-CN" altLang="en-US" sz="3200" b="1" i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096000" y="3166695"/>
            <a:ext cx="5435600" cy="22035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掌握模式切换逻辑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dda91216-dd35-424d-b56d-300e54e9bbc4"/>
          <p:cNvGrpSpPr/>
          <p:nvPr>
            <p:custDataLst>
              <p:tags r:id="rId1"/>
            </p:custDataLst>
          </p:nvPr>
        </p:nvGrpSpPr>
        <p:grpSpPr>
          <a:xfrm rot="0">
            <a:off x="660399" y="1130299"/>
            <a:ext cx="10858501" cy="4947023"/>
            <a:chOff x="660399" y="1130299"/>
            <a:chExt cx="10858501" cy="4947023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299"/>
              <a:ext cx="10858500" cy="8280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分析状态转换规则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2442986"/>
              <a:ext cx="5354692" cy="1722968"/>
              <a:chOff x="660400" y="2442986"/>
              <a:chExt cx="5354692" cy="1722968"/>
            </a:xfrm>
          </p:grpSpPr>
          <p:sp>
            <p:nvSpPr>
              <p:cNvPr id="5" name="AutoShape 5"/>
              <p:cNvSpPr/>
              <p:nvPr>
                <p:custDataLst>
                  <p:tags r:id="rId2"/>
                </p:custDataLst>
              </p:nvPr>
            </p:nvSpPr>
            <p:spPr>
              <a:xfrm>
                <a:off x="660400" y="2442986"/>
                <a:ext cx="5354692" cy="1722968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68580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6AC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84438" y="2538623"/>
                <a:ext cx="3974596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进入安全模式条件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84438" y="3186623"/>
                <a:ext cx="3974596" cy="82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正常模式满足通信超时或极端天气任一条件，进入相应安全模式。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88632" y="2651842"/>
                <a:ext cx="1095806" cy="14350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5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164208" y="2442986"/>
              <a:ext cx="5354692" cy="1722968"/>
              <a:chOff x="6164208" y="2442986"/>
              <a:chExt cx="5354692" cy="1722968"/>
            </a:xfrm>
          </p:grpSpPr>
          <p:sp>
            <p:nvSpPr>
              <p:cNvPr id="10" name="AutoShape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6164208" y="2442986"/>
                <a:ext cx="5354692" cy="1722968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68580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6AC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388246" y="2538623"/>
                <a:ext cx="3974596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退出安全模式条件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388246" y="3186623"/>
                <a:ext cx="3974596" cy="82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需同时满足通信恢复且极端天气解除，才可退出安全模式。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292440" y="2651842"/>
                <a:ext cx="1095806" cy="14350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5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60400" y="4354354"/>
              <a:ext cx="5354692" cy="1722968"/>
              <a:chOff x="660400" y="4354354"/>
              <a:chExt cx="5354692" cy="1722968"/>
            </a:xfrm>
          </p:grpSpPr>
          <p:sp>
            <p:nvSpPr>
              <p:cNvPr id="15" name="AutoShape 15"/>
              <p:cNvSpPr/>
              <p:nvPr>
                <p:custDataLst>
                  <p:tags r:id="rId10"/>
                </p:custDataLst>
              </p:nvPr>
            </p:nvSpPr>
            <p:spPr>
              <a:xfrm>
                <a:off x="660400" y="4354354"/>
                <a:ext cx="5354692" cy="1722968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68580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6AC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884438" y="4449991"/>
                <a:ext cx="3974596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多种条件同时满足处理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884438" y="5097991"/>
                <a:ext cx="3974596" cy="82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按通信中断 &gt; 极端风况优先级选择子模式。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88632" y="4563210"/>
                <a:ext cx="1095806" cy="14350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5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6164208" y="4354354"/>
              <a:ext cx="5354692" cy="1722968"/>
              <a:chOff x="6164208" y="4354354"/>
              <a:chExt cx="5354692" cy="1722968"/>
            </a:xfrm>
          </p:grpSpPr>
          <p:sp>
            <p:nvSpPr>
              <p:cNvPr id="20" name="AutoShape 20"/>
              <p:cNvSpPr/>
              <p:nvPr>
                <p:custDataLst>
                  <p:tags r:id="rId14"/>
                </p:custDataLst>
              </p:nvPr>
            </p:nvSpPr>
            <p:spPr>
              <a:xfrm>
                <a:off x="6164208" y="4354354"/>
                <a:ext cx="5354692" cy="1722968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68580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6AC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388247" y="4449991"/>
                <a:ext cx="3974596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优先级处理规则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388246" y="5097991"/>
                <a:ext cx="3974596" cy="82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通信中断优先级略高，但极端风况需气象条件解除。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6292440" y="4563210"/>
                <a:ext cx="1095806" cy="14350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5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状态转移逻辑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0" y="2570066"/>
            <a:ext cx="5435600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通信中断处理流程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096000" y="3166695"/>
            <a:ext cx="5435600" cy="22035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学习通信中断时的应对策略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623fda4-0acb-4311-8b80-387419571967"/>
          <p:cNvGrpSpPr/>
          <p:nvPr/>
        </p:nvGrpSpPr>
        <p:grpSpPr>
          <a:xfrm rot="0">
            <a:off x="2203" y="1130300"/>
            <a:ext cx="11516697" cy="5003800"/>
            <a:chOff x="2203" y="1130300"/>
            <a:chExt cx="11516697" cy="5003800"/>
          </a:xfrm>
        </p:grpSpPr>
        <p:sp>
          <p:nvSpPr>
            <p:cNvPr id="3" name="AutoShape 3"/>
            <p:cNvSpPr/>
            <p:nvPr/>
          </p:nvSpPr>
          <p:spPr>
            <a:xfrm>
              <a:off x="2203" y="2279383"/>
              <a:ext cx="11516697" cy="2496330"/>
            </a:xfrm>
            <a:custGeom>
              <a:avLst/>
              <a:gdLst/>
              <a:ahLst/>
              <a:cxnLst/>
              <a:rect l="l" t="t" r="r" b="b"/>
              <a:pathLst>
                <a:path w="11516697" h="2692888">
                  <a:moveTo>
                    <a:pt x="0" y="0"/>
                  </a:moveTo>
                  <a:lnTo>
                    <a:pt x="10231471" y="0"/>
                  </a:lnTo>
                  <a:cubicBezTo>
                    <a:pt x="10940837" y="720"/>
                    <a:pt x="11515961" y="575603"/>
                    <a:pt x="11516697" y="1285041"/>
                  </a:cubicBezTo>
                  <a:cubicBezTo>
                    <a:pt x="11515961" y="1994516"/>
                    <a:pt x="10941021" y="2569459"/>
                    <a:pt x="10231471" y="2570270"/>
                  </a:cubicBezTo>
                  <a:lnTo>
                    <a:pt x="5683489" y="2570269"/>
                  </a:lnTo>
                  <a:lnTo>
                    <a:pt x="5683489" y="2570270"/>
                  </a:lnTo>
                  <a:lnTo>
                    <a:pt x="1267798" y="2570270"/>
                  </a:lnTo>
                  <a:lnTo>
                    <a:pt x="1267798" y="2692888"/>
                  </a:lnTo>
                  <a:lnTo>
                    <a:pt x="658198" y="2339320"/>
                  </a:lnTo>
                  <a:lnTo>
                    <a:pt x="1267798" y="1985751"/>
                  </a:lnTo>
                  <a:lnTo>
                    <a:pt x="1267798" y="2163013"/>
                  </a:lnTo>
                  <a:lnTo>
                    <a:pt x="5683489" y="2163013"/>
                  </a:lnTo>
                  <a:lnTo>
                    <a:pt x="5683489" y="2164603"/>
                  </a:lnTo>
                  <a:lnTo>
                    <a:pt x="10231471" y="2164603"/>
                  </a:lnTo>
                  <a:cubicBezTo>
                    <a:pt x="10716981" y="2163995"/>
                    <a:pt x="11110477" y="1770552"/>
                    <a:pt x="11111031" y="1285041"/>
                  </a:cubicBezTo>
                  <a:cubicBezTo>
                    <a:pt x="11110477" y="799552"/>
                    <a:pt x="10716981" y="406184"/>
                    <a:pt x="10231471" y="405667"/>
                  </a:cubicBezTo>
                  <a:lnTo>
                    <a:pt x="0" y="405666"/>
                  </a:lnTo>
                  <a:close/>
                </a:path>
              </a:pathLst>
            </a:custGeom>
            <a:solidFill>
              <a:srgbClr val="35D5C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 rot="0">
              <a:off x="1027234" y="2088420"/>
              <a:ext cx="9564568" cy="1872684"/>
              <a:chOff x="660400" y="2088420"/>
              <a:chExt cx="9564568" cy="1872684"/>
            </a:xfrm>
          </p:grpSpPr>
          <p:grpSp>
            <p:nvGrpSpPr>
              <p:cNvPr id="5" name="Group 5"/>
              <p:cNvGrpSpPr/>
              <p:nvPr/>
            </p:nvGrpSpPr>
            <p:grpSpPr>
              <a:xfrm rot="0">
                <a:off x="660400" y="2088420"/>
                <a:ext cx="2810192" cy="1872684"/>
                <a:chOff x="660400" y="2088420"/>
                <a:chExt cx="2810192" cy="1872684"/>
              </a:xfrm>
            </p:grpSpPr>
            <p:sp>
              <p:nvSpPr>
                <p:cNvPr id="6" name="TextBox 6"/>
                <p:cNvSpPr txBox="1"/>
                <p:nvPr/>
              </p:nvSpPr>
              <p:spPr>
                <a:xfrm>
                  <a:off x="660400" y="2088420"/>
                  <a:ext cx="644706" cy="644700"/>
                </a:xfrm>
                <a:prstGeom prst="roundRect">
                  <a:avLst/>
                </a:prstGeom>
                <a:solidFill>
                  <a:srgbClr val="35D5C7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01</a:t>
                  </a:r>
                  <a:endParaRPr lang="en-US" sz="1100"/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660401" y="3215003"/>
                  <a:ext cx="2810191" cy="74610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600" b="0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检测到心跳超时，触发通信中断冻结模式。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660400" y="2753727"/>
                  <a:ext cx="2810191" cy="46127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2000" b="1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检测到通信中断</a:t>
                  </a:r>
                  <a:endParaRPr lang="en-US" sz="1100"/>
                </a:p>
              </p:txBody>
            </p:sp>
          </p:grpSp>
          <p:grpSp>
            <p:nvGrpSpPr>
              <p:cNvPr id="9" name="Group 9"/>
              <p:cNvGrpSpPr/>
              <p:nvPr/>
            </p:nvGrpSpPr>
            <p:grpSpPr>
              <a:xfrm rot="0">
                <a:off x="4101100" y="2088420"/>
                <a:ext cx="2810192" cy="1872684"/>
                <a:chOff x="4101100" y="2088420"/>
                <a:chExt cx="2810192" cy="1872684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4101100" y="2088420"/>
                  <a:ext cx="644706" cy="644700"/>
                </a:xfrm>
                <a:prstGeom prst="roundRect">
                  <a:avLst/>
                </a:prstGeom>
                <a:solidFill>
                  <a:srgbClr val="35D5C7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4101101" y="3215003"/>
                  <a:ext cx="2810191" cy="74610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600" b="0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记录全场功率值，冻结AGC总指令，限制功率变化率。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4101100" y="2753727"/>
                  <a:ext cx="2810191" cy="46127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2000" b="1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触发冻结模式</a:t>
                  </a:r>
                  <a:endParaRPr lang="en-US" sz="1100"/>
                </a:p>
              </p:txBody>
            </p:sp>
          </p:grpSp>
          <p:grpSp>
            <p:nvGrpSpPr>
              <p:cNvPr id="13" name="Group 13"/>
              <p:cNvGrpSpPr/>
              <p:nvPr/>
            </p:nvGrpSpPr>
            <p:grpSpPr>
              <a:xfrm rot="0">
                <a:off x="7541800" y="2088420"/>
                <a:ext cx="2683168" cy="1872684"/>
                <a:chOff x="7541800" y="2088420"/>
                <a:chExt cx="2683168" cy="1872684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7541800" y="2088420"/>
                  <a:ext cx="644706" cy="644700"/>
                </a:xfrm>
                <a:prstGeom prst="roundRect">
                  <a:avLst/>
                </a:prstGeom>
                <a:solidFill>
                  <a:srgbClr val="35D5C7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541802" y="3215003"/>
                  <a:ext cx="2683166" cy="74610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600" b="0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维持当前功率，不响应新远程设定值，仅缓慢变化。</a:t>
                  </a:r>
                  <a:endParaRPr lang="en-US" sz="1100"/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7541801" y="2753727"/>
                  <a:ext cx="2683166" cy="46127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2000" b="1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风机就地控制器动作</a:t>
                  </a:r>
                  <a:endParaRPr lang="en-US" sz="1100"/>
                </a:p>
              </p:txBody>
            </p:sp>
          </p:grpSp>
        </p:grpSp>
        <p:grpSp>
          <p:nvGrpSpPr>
            <p:cNvPr id="17" name="Group 17"/>
            <p:cNvGrpSpPr/>
            <p:nvPr/>
          </p:nvGrpSpPr>
          <p:grpSpPr>
            <a:xfrm rot="0">
              <a:off x="2747584" y="4220096"/>
              <a:ext cx="6684132" cy="1914004"/>
              <a:chOff x="4834768" y="4220096"/>
              <a:chExt cx="6684132" cy="1914004"/>
            </a:xfrm>
          </p:grpSpPr>
          <p:grpSp>
            <p:nvGrpSpPr>
              <p:cNvPr id="18" name="Group 18"/>
              <p:cNvGrpSpPr/>
              <p:nvPr/>
            </p:nvGrpSpPr>
            <p:grpSpPr>
              <a:xfrm rot="0">
                <a:off x="8275468" y="4220096"/>
                <a:ext cx="3243432" cy="1914004"/>
                <a:chOff x="8275468" y="4220096"/>
                <a:chExt cx="3243432" cy="1914004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8275468" y="4220096"/>
                  <a:ext cx="644706" cy="644700"/>
                </a:xfrm>
                <a:prstGeom prst="roundRect">
                  <a:avLst/>
                </a:prstGeom>
                <a:solidFill>
                  <a:srgbClr val="35D5C7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04</a:t>
                  </a:r>
                  <a:endParaRPr lang="en-US" sz="1100"/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8275469" y="5386753"/>
                  <a:ext cx="3243431" cy="74734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600" b="0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周期性发送连接请求，持续监测通信状态。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8275468" y="4925477"/>
                  <a:ext cx="3243431" cy="46127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2000" b="1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持续尝试恢复通信</a:t>
                  </a:r>
                  <a:endParaRPr lang="en-US" sz="1100"/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 rot="0">
                <a:off x="4834768" y="4220096"/>
                <a:ext cx="3243432" cy="1914004"/>
                <a:chOff x="4834768" y="4220096"/>
                <a:chExt cx="3243432" cy="1914004"/>
              </a:xfrm>
            </p:grpSpPr>
            <p:sp>
              <p:nvSpPr>
                <p:cNvPr id="23" name="TextBox 23"/>
                <p:cNvSpPr txBox="1"/>
                <p:nvPr/>
              </p:nvSpPr>
              <p:spPr>
                <a:xfrm>
                  <a:off x="4834768" y="4220096"/>
                  <a:ext cx="644706" cy="644700"/>
                </a:xfrm>
                <a:prstGeom prst="roundRect">
                  <a:avLst/>
                </a:prstGeom>
                <a:solidFill>
                  <a:srgbClr val="35D5C7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05</a:t>
                  </a:r>
                  <a:endParaRPr lang="en-US" sz="1100"/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834769" y="5386753"/>
                  <a:ext cx="3243431" cy="74734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600" b="0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启动恢复协调器，以设定速率爬坡至调度计划值。</a:t>
                  </a:r>
                  <a:endParaRPr lang="en-US" sz="1100"/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834768" y="4925477"/>
                  <a:ext cx="3243431" cy="46127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2000" b="1" i="0">
                      <a:solidFill>
                        <a:srgbClr val="2F2F2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通信恢复后协调</a:t>
                  </a:r>
                  <a:endParaRPr lang="en-US" sz="1100"/>
                </a:p>
              </p:txBody>
            </p:sp>
          </p:grpSp>
        </p:grpSp>
        <p:sp>
          <p:nvSpPr>
            <p:cNvPr id="26" name="TextBox 26"/>
            <p:cNvSpPr txBox="1"/>
            <p:nvPr/>
          </p:nvSpPr>
          <p:spPr>
            <a:xfrm>
              <a:off x="660400" y="1130300"/>
              <a:ext cx="10858500" cy="80645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了解具体操作流程</a:t>
              </a:r>
              <a:endParaRPr lang="en-US" sz="1100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通信中断处理步骤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0" y="2570066"/>
            <a:ext cx="5435600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极端风况处理流程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096000" y="3166695"/>
            <a:ext cx="5435600" cy="22035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知晓极端天气下的应对方式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5b6f28e-75bf-49d6-8ca4-13d49db98640"/>
          <p:cNvGrpSpPr/>
          <p:nvPr>
            <p:custDataLst>
              <p:tags r:id="rId1"/>
            </p:custDataLst>
          </p:nvPr>
        </p:nvGrpSpPr>
        <p:grpSpPr>
          <a:xfrm rot="0">
            <a:off x="660400" y="1130299"/>
            <a:ext cx="10858501" cy="5727701"/>
            <a:chOff x="660400" y="1130299"/>
            <a:chExt cx="10858501" cy="5727701"/>
          </a:xfrm>
        </p:grpSpPr>
        <p:sp>
          <p:nvSpPr>
            <p:cNvPr id="3" name="AutoShape 3"/>
            <p:cNvSpPr/>
            <p:nvPr>
              <p:custDataLst>
                <p:tags r:id="rId2"/>
              </p:custDataLst>
            </p:nvPr>
          </p:nvSpPr>
          <p:spPr>
            <a:xfrm rot="16200000">
              <a:off x="3866773" y="2698371"/>
              <a:ext cx="4054455" cy="4264804"/>
            </a:xfrm>
            <a:custGeom>
              <a:avLst/>
              <a:gdLst/>
              <a:ahLst/>
              <a:cxnLst/>
              <a:rect l="l" t="t" r="r" b="b"/>
              <a:pathLst>
                <a:path w="4054455" h="4264804">
                  <a:moveTo>
                    <a:pt x="4054455" y="2132402"/>
                  </a:moveTo>
                  <a:lnTo>
                    <a:pt x="4054454" y="2132402"/>
                  </a:lnTo>
                  <a:cubicBezTo>
                    <a:pt x="4054454" y="3310095"/>
                    <a:pt x="3131106" y="4264804"/>
                    <a:pt x="1992097" y="4264804"/>
                  </a:cubicBezTo>
                  <a:lnTo>
                    <a:pt x="0" y="4264804"/>
                  </a:lnTo>
                  <a:lnTo>
                    <a:pt x="0" y="2883507"/>
                  </a:lnTo>
                  <a:lnTo>
                    <a:pt x="2358498" y="2883508"/>
                  </a:lnTo>
                  <a:cubicBezTo>
                    <a:pt x="2759696" y="2883508"/>
                    <a:pt x="3084931" y="2547226"/>
                    <a:pt x="3084931" y="2132402"/>
                  </a:cubicBezTo>
                  <a:cubicBezTo>
                    <a:pt x="3084931" y="1717578"/>
                    <a:pt x="2759696" y="1381297"/>
                    <a:pt x="2358498" y="1381297"/>
                  </a:cubicBezTo>
                  <a:lnTo>
                    <a:pt x="0" y="1381297"/>
                  </a:lnTo>
                  <a:lnTo>
                    <a:pt x="0" y="0"/>
                  </a:lnTo>
                  <a:lnTo>
                    <a:pt x="1992099" y="0"/>
                  </a:lnTo>
                  <a:cubicBezTo>
                    <a:pt x="3131107" y="0"/>
                    <a:pt x="4054455" y="954709"/>
                    <a:pt x="4054455" y="2132402"/>
                  </a:cubicBezTo>
                  <a:close/>
                </a:path>
              </a:pathLst>
            </a:custGeom>
            <a:solidFill>
              <a:srgbClr val="FFFFFF">
                <a:alpha val="10196"/>
                <a:lumMod val="5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400" y="1130299"/>
              <a:ext cx="10858500" cy="107919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16ACEC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掌握具体处理流程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401" y="2682590"/>
              <a:ext cx="2421151" cy="3451510"/>
              <a:chOff x="660401" y="2682590"/>
              <a:chExt cx="2421151" cy="3451510"/>
            </a:xfrm>
          </p:grpSpPr>
          <p:sp>
            <p:nvSpPr>
              <p:cNvPr id="6" name="TextBox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401" y="4648501"/>
                <a:ext cx="2421151" cy="14855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通过风速仪和湍流强度计算，实时监测气象情况。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60401" y="3835400"/>
                <a:ext cx="2421151" cy="8131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2400" b="1" i="0">
                    <a:solidFill>
                      <a:srgbClr val="16ACEC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实时监测气象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0401" y="2682590"/>
                <a:ext cx="2421151" cy="1039090"/>
              </a:xfrm>
              <a:prstGeom prst="roundRect">
                <a:avLst/>
              </a:prstGeom>
              <a:solidFill>
                <a:srgbClr val="16AC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3472850" y="2682590"/>
              <a:ext cx="2421151" cy="3451510"/>
              <a:chOff x="3472850" y="2682590"/>
              <a:chExt cx="2421151" cy="3451510"/>
            </a:xfrm>
          </p:grpSpPr>
          <p:sp>
            <p:nvSpPr>
              <p:cNvPr id="10" name="TextBox 1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472850" y="4648501"/>
                <a:ext cx="2421151" cy="14855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检测到风速超限或湍流过强，触发极端风况自主模式。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472850" y="3835400"/>
                <a:ext cx="2421151" cy="8131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2400" b="1" i="0">
                    <a:solidFill>
                      <a:srgbClr val="16ACEC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触发自主模式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472850" y="2682590"/>
                <a:ext cx="2421151" cy="1039090"/>
              </a:xfrm>
              <a:prstGeom prst="roundRect">
                <a:avLst/>
              </a:prstGeom>
              <a:solidFill>
                <a:srgbClr val="16AC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6285301" y="2682590"/>
              <a:ext cx="2421151" cy="3451510"/>
              <a:chOff x="6285301" y="2682590"/>
              <a:chExt cx="2421151" cy="3451510"/>
            </a:xfrm>
          </p:grpSpPr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285301" y="4648501"/>
                <a:ext cx="2421151" cy="14855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每台风机基于本地传感器，自主决定降载或停机。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285301" y="3835400"/>
                <a:ext cx="2421151" cy="8131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2400" b="1" i="0">
                    <a:solidFill>
                      <a:srgbClr val="16ACEC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风机独立决策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285301" y="2682590"/>
                <a:ext cx="2421151" cy="1039090"/>
              </a:xfrm>
              <a:prstGeom prst="roundRect">
                <a:avLst/>
              </a:prstGeom>
              <a:solidFill>
                <a:srgbClr val="16AC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9097750" y="2682590"/>
              <a:ext cx="2421151" cy="3451510"/>
              <a:chOff x="9097750" y="2682590"/>
              <a:chExt cx="2421151" cy="3451510"/>
            </a:xfrm>
          </p:grpSpPr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097750" y="4648501"/>
                <a:ext cx="2421151" cy="14855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气象条件正常后，延时确认稳定，退出自主模式。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983450" y="3835400"/>
                <a:ext cx="2700551" cy="8131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2400" b="1" i="0">
                    <a:solidFill>
                      <a:srgbClr val="16ACEC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气象条件恢复处理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9097750" y="2682590"/>
                <a:ext cx="2421151" cy="1039090"/>
              </a:xfrm>
              <a:prstGeom prst="roundRect">
                <a:avLst/>
              </a:prstGeom>
              <a:solidFill>
                <a:srgbClr val="16AC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  <p:sp>
          <p:nvSpPr>
            <p:cNvPr id="21" name="AutoShape 21"/>
            <p:cNvSpPr/>
            <p:nvPr>
              <p:custDataLst>
                <p:tags r:id="rId15"/>
              </p:custDataLst>
            </p:nvPr>
          </p:nvSpPr>
          <p:spPr>
            <a:xfrm flipH="1">
              <a:off x="2940703" y="2935977"/>
              <a:ext cx="670451" cy="532317"/>
            </a:xfrm>
            <a:custGeom>
              <a:avLst/>
              <a:gdLst/>
              <a:ahLst/>
              <a:cxnLst/>
              <a:rect l="l" t="t" r="r" b="b"/>
              <a:pathLst>
                <a:path w="7351" h="6834">
                  <a:moveTo>
                    <a:pt x="7229" y="2532"/>
                  </a:moveTo>
                  <a:lnTo>
                    <a:pt x="3497" y="2532"/>
                  </a:lnTo>
                  <a:cubicBezTo>
                    <a:pt x="3429" y="2532"/>
                    <a:pt x="3418" y="2499"/>
                    <a:pt x="3472" y="2458"/>
                  </a:cubicBezTo>
                  <a:lnTo>
                    <a:pt x="4384" y="1766"/>
                  </a:lnTo>
                  <a:cubicBezTo>
                    <a:pt x="4437" y="1725"/>
                    <a:pt x="4481" y="1637"/>
                    <a:pt x="4481" y="1569"/>
                  </a:cubicBezTo>
                  <a:lnTo>
                    <a:pt x="4481" y="89"/>
                  </a:lnTo>
                  <a:cubicBezTo>
                    <a:pt x="4481" y="21"/>
                    <a:pt x="4438" y="0"/>
                    <a:pt x="4384" y="41"/>
                  </a:cubicBezTo>
                  <a:lnTo>
                    <a:pt x="53" y="3343"/>
                  </a:lnTo>
                  <a:cubicBezTo>
                    <a:pt x="0" y="3384"/>
                    <a:pt x="0" y="3450"/>
                    <a:pt x="53" y="3491"/>
                  </a:cubicBezTo>
                  <a:lnTo>
                    <a:pt x="4384" y="6793"/>
                  </a:lnTo>
                  <a:cubicBezTo>
                    <a:pt x="4438" y="6834"/>
                    <a:pt x="4481" y="6813"/>
                    <a:pt x="4481" y="6745"/>
                  </a:cubicBezTo>
                  <a:lnTo>
                    <a:pt x="4481" y="5265"/>
                  </a:lnTo>
                  <a:cubicBezTo>
                    <a:pt x="4481" y="5197"/>
                    <a:pt x="4438" y="5109"/>
                    <a:pt x="4384" y="5068"/>
                  </a:cubicBezTo>
                  <a:lnTo>
                    <a:pt x="3472" y="4376"/>
                  </a:lnTo>
                  <a:cubicBezTo>
                    <a:pt x="3418" y="4335"/>
                    <a:pt x="3429" y="4302"/>
                    <a:pt x="3497" y="4302"/>
                  </a:cubicBezTo>
                  <a:lnTo>
                    <a:pt x="7229" y="4302"/>
                  </a:lnTo>
                  <a:cubicBezTo>
                    <a:pt x="7296" y="4302"/>
                    <a:pt x="7351" y="4247"/>
                    <a:pt x="7351" y="4180"/>
                  </a:cubicBezTo>
                  <a:lnTo>
                    <a:pt x="7351" y="2655"/>
                  </a:lnTo>
                  <a:cubicBezTo>
                    <a:pt x="7351" y="2587"/>
                    <a:pt x="7296" y="2532"/>
                    <a:pt x="7229" y="253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5875">
              <a:solidFill>
                <a:srgbClr val="16ACEC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2" name="AutoShape 22"/>
            <p:cNvSpPr/>
            <p:nvPr>
              <p:custDataLst>
                <p:tags r:id="rId16"/>
              </p:custDataLst>
            </p:nvPr>
          </p:nvSpPr>
          <p:spPr>
            <a:xfrm flipH="1">
              <a:off x="5760774" y="2935977"/>
              <a:ext cx="670451" cy="532317"/>
            </a:xfrm>
            <a:custGeom>
              <a:avLst/>
              <a:gdLst/>
              <a:ahLst/>
              <a:cxnLst/>
              <a:rect l="l" t="t" r="r" b="b"/>
              <a:pathLst>
                <a:path w="7351" h="6834">
                  <a:moveTo>
                    <a:pt x="7229" y="2532"/>
                  </a:moveTo>
                  <a:lnTo>
                    <a:pt x="3497" y="2532"/>
                  </a:lnTo>
                  <a:cubicBezTo>
                    <a:pt x="3429" y="2532"/>
                    <a:pt x="3418" y="2499"/>
                    <a:pt x="3472" y="2458"/>
                  </a:cubicBezTo>
                  <a:lnTo>
                    <a:pt x="4384" y="1766"/>
                  </a:lnTo>
                  <a:cubicBezTo>
                    <a:pt x="4437" y="1725"/>
                    <a:pt x="4481" y="1637"/>
                    <a:pt x="4481" y="1569"/>
                  </a:cubicBezTo>
                  <a:lnTo>
                    <a:pt x="4481" y="89"/>
                  </a:lnTo>
                  <a:cubicBezTo>
                    <a:pt x="4481" y="21"/>
                    <a:pt x="4438" y="0"/>
                    <a:pt x="4384" y="41"/>
                  </a:cubicBezTo>
                  <a:lnTo>
                    <a:pt x="53" y="3343"/>
                  </a:lnTo>
                  <a:cubicBezTo>
                    <a:pt x="0" y="3384"/>
                    <a:pt x="0" y="3450"/>
                    <a:pt x="53" y="3491"/>
                  </a:cubicBezTo>
                  <a:lnTo>
                    <a:pt x="4384" y="6793"/>
                  </a:lnTo>
                  <a:cubicBezTo>
                    <a:pt x="4438" y="6834"/>
                    <a:pt x="4481" y="6813"/>
                    <a:pt x="4481" y="6745"/>
                  </a:cubicBezTo>
                  <a:lnTo>
                    <a:pt x="4481" y="5265"/>
                  </a:lnTo>
                  <a:cubicBezTo>
                    <a:pt x="4481" y="5197"/>
                    <a:pt x="4438" y="5109"/>
                    <a:pt x="4384" y="5068"/>
                  </a:cubicBezTo>
                  <a:lnTo>
                    <a:pt x="3472" y="4376"/>
                  </a:lnTo>
                  <a:cubicBezTo>
                    <a:pt x="3418" y="4335"/>
                    <a:pt x="3429" y="4302"/>
                    <a:pt x="3497" y="4302"/>
                  </a:cubicBezTo>
                  <a:lnTo>
                    <a:pt x="7229" y="4302"/>
                  </a:lnTo>
                  <a:cubicBezTo>
                    <a:pt x="7296" y="4302"/>
                    <a:pt x="7351" y="4247"/>
                    <a:pt x="7351" y="4180"/>
                  </a:cubicBezTo>
                  <a:lnTo>
                    <a:pt x="7351" y="2655"/>
                  </a:lnTo>
                  <a:cubicBezTo>
                    <a:pt x="7351" y="2587"/>
                    <a:pt x="7296" y="2532"/>
                    <a:pt x="7229" y="253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5875">
              <a:solidFill>
                <a:srgbClr val="16ACEC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3" name="AutoShape 23"/>
            <p:cNvSpPr/>
            <p:nvPr>
              <p:custDataLst>
                <p:tags r:id="rId17"/>
              </p:custDataLst>
            </p:nvPr>
          </p:nvSpPr>
          <p:spPr>
            <a:xfrm flipH="1">
              <a:off x="8580846" y="2935977"/>
              <a:ext cx="670451" cy="532317"/>
            </a:xfrm>
            <a:custGeom>
              <a:avLst/>
              <a:gdLst/>
              <a:ahLst/>
              <a:cxnLst/>
              <a:rect l="l" t="t" r="r" b="b"/>
              <a:pathLst>
                <a:path w="7351" h="6834">
                  <a:moveTo>
                    <a:pt x="7229" y="2532"/>
                  </a:moveTo>
                  <a:lnTo>
                    <a:pt x="3497" y="2532"/>
                  </a:lnTo>
                  <a:cubicBezTo>
                    <a:pt x="3429" y="2532"/>
                    <a:pt x="3418" y="2499"/>
                    <a:pt x="3472" y="2458"/>
                  </a:cubicBezTo>
                  <a:lnTo>
                    <a:pt x="4384" y="1766"/>
                  </a:lnTo>
                  <a:cubicBezTo>
                    <a:pt x="4437" y="1725"/>
                    <a:pt x="4481" y="1637"/>
                    <a:pt x="4481" y="1569"/>
                  </a:cubicBezTo>
                  <a:lnTo>
                    <a:pt x="4481" y="89"/>
                  </a:lnTo>
                  <a:cubicBezTo>
                    <a:pt x="4481" y="21"/>
                    <a:pt x="4438" y="0"/>
                    <a:pt x="4384" y="41"/>
                  </a:cubicBezTo>
                  <a:lnTo>
                    <a:pt x="53" y="3343"/>
                  </a:lnTo>
                  <a:cubicBezTo>
                    <a:pt x="0" y="3384"/>
                    <a:pt x="0" y="3450"/>
                    <a:pt x="53" y="3491"/>
                  </a:cubicBezTo>
                  <a:lnTo>
                    <a:pt x="4384" y="6793"/>
                  </a:lnTo>
                  <a:cubicBezTo>
                    <a:pt x="4438" y="6834"/>
                    <a:pt x="4481" y="6813"/>
                    <a:pt x="4481" y="6745"/>
                  </a:cubicBezTo>
                  <a:lnTo>
                    <a:pt x="4481" y="5265"/>
                  </a:lnTo>
                  <a:cubicBezTo>
                    <a:pt x="4481" y="5197"/>
                    <a:pt x="4438" y="5109"/>
                    <a:pt x="4384" y="5068"/>
                  </a:cubicBezTo>
                  <a:lnTo>
                    <a:pt x="3472" y="4376"/>
                  </a:lnTo>
                  <a:cubicBezTo>
                    <a:pt x="3418" y="4335"/>
                    <a:pt x="3429" y="4302"/>
                    <a:pt x="3497" y="4302"/>
                  </a:cubicBezTo>
                  <a:lnTo>
                    <a:pt x="7229" y="4302"/>
                  </a:lnTo>
                  <a:cubicBezTo>
                    <a:pt x="7296" y="4302"/>
                    <a:pt x="7351" y="4247"/>
                    <a:pt x="7351" y="4180"/>
                  </a:cubicBezTo>
                  <a:lnTo>
                    <a:pt x="7351" y="2655"/>
                  </a:lnTo>
                  <a:cubicBezTo>
                    <a:pt x="7351" y="2587"/>
                    <a:pt x="7296" y="2532"/>
                    <a:pt x="7229" y="253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5875">
              <a:solidFill>
                <a:srgbClr val="16ACEC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极端风况处理步骤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0" y="2570066"/>
            <a:ext cx="5435600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恢复协调机制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096000" y="3166695"/>
            <a:ext cx="5435600" cy="22035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理解通信恢复后的协调策略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23f6b8e-1c35-4ec8-a137-f4f64c05d7d8"/>
          <p:cNvGrpSpPr/>
          <p:nvPr/>
        </p:nvGrpSpPr>
        <p:grpSpPr>
          <a:xfrm rot="0">
            <a:off x="660399" y="1130304"/>
            <a:ext cx="10858501" cy="5003796"/>
            <a:chOff x="660399" y="1130304"/>
            <a:chExt cx="10858501" cy="5003796"/>
          </a:xfrm>
        </p:grpSpPr>
        <p:sp>
          <p:nvSpPr>
            <p:cNvPr id="3" name="AutoShape 3"/>
            <p:cNvSpPr/>
            <p:nvPr/>
          </p:nvSpPr>
          <p:spPr>
            <a:xfrm>
              <a:off x="1787076" y="3346423"/>
              <a:ext cx="2632524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4915441" y="3346423"/>
              <a:ext cx="2343596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7741405" y="3346423"/>
              <a:ext cx="2650819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399" y="1130304"/>
              <a:ext cx="10858500" cy="137226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明确恢复方法与参数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660400" y="3105239"/>
              <a:ext cx="2405752" cy="3028861"/>
              <a:chOff x="402360" y="3105239"/>
              <a:chExt cx="2405752" cy="3028861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349069" y="3105239"/>
                <a:ext cx="482368" cy="482368"/>
              </a:xfrm>
              <a:prstGeom prst="roundRect">
                <a:avLst/>
              </a:prstGeom>
              <a:solidFill>
                <a:srgbClr val="16AC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02360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问题提出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02360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通信恢复后直接跳变功率会对电网造成冲击。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3477983" y="3105239"/>
              <a:ext cx="2405752" cy="3028861"/>
              <a:chOff x="2643678" y="3105239"/>
              <a:chExt cx="2405752" cy="3028861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3598768" y="3105239"/>
                <a:ext cx="482368" cy="482368"/>
              </a:xfrm>
              <a:prstGeom prst="roundRect">
                <a:avLst/>
              </a:prstGeom>
              <a:solidFill>
                <a:srgbClr val="16AC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43678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解决方案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43678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采用恢复协调器实现斜坡恢复，平滑过渡功率。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6295566" y="3105239"/>
              <a:ext cx="2405752" cy="3028861"/>
              <a:chOff x="4884996" y="3105239"/>
              <a:chExt cx="2405752" cy="3028861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848467" y="3105239"/>
                <a:ext cx="482368" cy="482368"/>
              </a:xfrm>
              <a:prstGeom prst="roundRect">
                <a:avLst/>
              </a:prstGeom>
              <a:solidFill>
                <a:srgbClr val="16AC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884996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参数设定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884996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爬坡率2 MW/min、容差1 MW，保障恢复过程稳定。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9113148" y="3105239"/>
              <a:ext cx="2405752" cy="3028861"/>
              <a:chOff x="7126314" y="3105239"/>
              <a:chExt cx="2405752" cy="3028861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8098164" y="3105239"/>
                <a:ext cx="482368" cy="482368"/>
              </a:xfrm>
              <a:prstGeom prst="roundRect">
                <a:avLst/>
              </a:prstGeom>
              <a:solidFill>
                <a:srgbClr val="16ACE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126314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算法解析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26314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根据爬坡率和时间计算期望功率，控制功率变化。</a:t>
                </a:r>
                <a:endParaRPr lang="en-US" sz="1100"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恢复协调方案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0" y="2570066"/>
            <a:ext cx="5435600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C++模块设计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096000" y="3166695"/>
            <a:ext cx="5435600" cy="22035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探究系统模块构成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0e60176-7c1b-4149-8a44-57be68f1c0b4"/>
          <p:cNvGrpSpPr/>
          <p:nvPr>
            <p:custDataLst>
              <p:tags r:id="rId1"/>
            </p:custDataLst>
          </p:nvPr>
        </p:nvGrpSpPr>
        <p:grpSpPr>
          <a:xfrm rot="0">
            <a:off x="660399" y="1130300"/>
            <a:ext cx="10858500" cy="5003801"/>
            <a:chOff x="660399" y="1130300"/>
            <a:chExt cx="10858500" cy="5003801"/>
          </a:xfrm>
        </p:grpSpPr>
        <p:sp>
          <p:nvSpPr>
            <p:cNvPr id="3" name="AutoShape 3"/>
            <p:cNvSpPr/>
            <p:nvPr>
              <p:custDataLst>
                <p:tags r:id="rId2"/>
              </p:custDataLst>
            </p:nvPr>
          </p:nvSpPr>
          <p:spPr>
            <a:xfrm>
              <a:off x="1231177" y="2197102"/>
              <a:ext cx="8327195" cy="0"/>
            </a:xfrm>
            <a:prstGeom prst="line">
              <a:avLst/>
            </a:prstGeom>
            <a:ln w="6350">
              <a:solidFill>
                <a:srgbClr val="16ACEC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>
              <p:custDataLst>
                <p:tags r:id="rId3"/>
              </p:custDataLst>
            </p:nvPr>
          </p:nvSpPr>
          <p:spPr>
            <a:xfrm>
              <a:off x="660399" y="2616205"/>
              <a:ext cx="10858500" cy="3517896"/>
            </a:xfrm>
            <a:prstGeom prst="roundRect">
              <a:avLst>
                <a:gd name="adj" fmla="val 0"/>
              </a:avLst>
            </a:prstGeom>
            <a:ln w="12700">
              <a:solidFill>
                <a:srgbClr val="16ACEC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 flipH="1">
              <a:off x="660399" y="1130300"/>
              <a:ext cx="10858500" cy="6476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认识各模块功能与关系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747173" y="2003252"/>
              <a:ext cx="1978995" cy="4056788"/>
              <a:chOff x="747173" y="2003252"/>
              <a:chExt cx="1978995" cy="4056788"/>
            </a:xfrm>
          </p:grpSpPr>
          <p:sp>
            <p:nvSpPr>
              <p:cNvPr id="7" name="TextBox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843477" y="2003252"/>
                <a:ext cx="387700" cy="387700"/>
              </a:xfrm>
              <a:prstGeom prst="rect">
                <a:avLst/>
              </a:prstGeom>
              <a:solidFill>
                <a:srgbClr val="16ACEC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47173" y="2738762"/>
                <a:ext cx="1978995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SafetyModeManager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48699" y="4044710"/>
                <a:ext cx="1975222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状态机核心，负责模式决策和功率设定值更新。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2925897" y="2003252"/>
              <a:ext cx="1978995" cy="4056788"/>
              <a:chOff x="2925897" y="2003252"/>
              <a:chExt cx="1978995" cy="4056788"/>
            </a:xfrm>
          </p:grpSpPr>
          <p:sp>
            <p:nvSpPr>
              <p:cNvPr id="11" name="TextBox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022201" y="2003252"/>
                <a:ext cx="387700" cy="387700"/>
              </a:xfrm>
              <a:prstGeom prst="rect">
                <a:avLst/>
              </a:prstGeom>
              <a:solidFill>
                <a:srgbClr val="16ACEC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925897" y="2738762"/>
                <a:ext cx="1978995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CommunicationMonitor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927423" y="4044710"/>
                <a:ext cx="1975222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监测通信健康，更新心跳，状态变化时通知外部。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5104621" y="2003252"/>
              <a:ext cx="1978995" cy="4056788"/>
              <a:chOff x="5104621" y="2003252"/>
              <a:chExt cx="1978995" cy="4056788"/>
            </a:xfrm>
          </p:grpSpPr>
          <p:sp>
            <p:nvSpPr>
              <p:cNvPr id="15" name="TextBox 1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200925" y="2003252"/>
                <a:ext cx="387700" cy="387700"/>
              </a:xfrm>
              <a:prstGeom prst="rect">
                <a:avLst/>
              </a:prstGeom>
              <a:solidFill>
                <a:srgbClr val="16ACEC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104621" y="2738762"/>
                <a:ext cx="1978995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ExtremeWeatherDetector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106147" y="4044710"/>
                <a:ext cx="1975222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判断气象是否极端，基于风速和湍流数据。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7283345" y="2003252"/>
              <a:ext cx="1978995" cy="4056788"/>
              <a:chOff x="7283345" y="2003252"/>
              <a:chExt cx="1978995" cy="4056788"/>
            </a:xfrm>
          </p:grpSpPr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379649" y="2003252"/>
                <a:ext cx="387700" cy="387700"/>
              </a:xfrm>
              <a:prstGeom prst="rect">
                <a:avLst/>
              </a:prstGeom>
              <a:solidFill>
                <a:srgbClr val="16ACEC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283345" y="2738762"/>
                <a:ext cx="1978995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LocalControllerProxy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284871" y="4044710"/>
                <a:ext cx="1975222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指令下发代理，广播命令和设置相关参数。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9462068" y="2003252"/>
              <a:ext cx="1978995" cy="4056788"/>
              <a:chOff x="9462068" y="2003252"/>
              <a:chExt cx="1978995" cy="4056788"/>
            </a:xfrm>
          </p:grpSpPr>
          <p:sp>
            <p:nvSpPr>
              <p:cNvPr id="23" name="TextBox 2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9558372" y="2003252"/>
                <a:ext cx="387700" cy="387700"/>
              </a:xfrm>
              <a:prstGeom prst="rect">
                <a:avLst/>
              </a:prstGeom>
              <a:solidFill>
                <a:srgbClr val="16ACEC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9462068" y="2738762"/>
                <a:ext cx="1978995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RecoveryCoordinator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9463594" y="4044710"/>
                <a:ext cx="1975222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负责平滑恢复，控制恢复过程的功率变化。</a:t>
                </a:r>
                <a:endParaRPr lang="en-US" sz="1100"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模块设计架构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0" y="2570066"/>
            <a:ext cx="5435600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关键代码片段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096000" y="3166695"/>
            <a:ext cx="5435600" cy="22035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剖析核心代码逻辑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2bd0f18-f4a7-435d-8fe1-2e11813df7d9"/>
          <p:cNvGrpSpPr/>
          <p:nvPr/>
        </p:nvGrpSpPr>
        <p:grpSpPr>
          <a:xfrm rot="0">
            <a:off x="666750" y="1130300"/>
            <a:ext cx="10858500" cy="5003800"/>
            <a:chOff x="666750" y="1130300"/>
            <a:chExt cx="10858500" cy="5003800"/>
          </a:xfrm>
        </p:grpSpPr>
        <p:sp>
          <p:nvSpPr>
            <p:cNvPr id="3" name="AutoShape 3"/>
            <p:cNvSpPr/>
            <p:nvPr/>
          </p:nvSpPr>
          <p:spPr>
            <a:xfrm>
              <a:off x="666750" y="3282950"/>
              <a:ext cx="10858500" cy="285115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9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1130300"/>
              <a:ext cx="10858500" cy="70088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解读重要代码功能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804568" y="1879315"/>
              <a:ext cx="3262516" cy="3977533"/>
              <a:chOff x="804568" y="1879315"/>
              <a:chExt cx="3262516" cy="3977533"/>
            </a:xfrm>
          </p:grpSpPr>
          <p:sp>
            <p:nvSpPr>
              <p:cNvPr id="6" name="TextBox 6"/>
              <p:cNvSpPr txBox="1"/>
              <p:nvPr/>
            </p:nvSpPr>
            <p:spPr>
              <a:xfrm flipH="1">
                <a:off x="836338" y="3515662"/>
                <a:ext cx="3230746" cy="7122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模式决策代码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36338" y="4276076"/>
                <a:ext cx="3230746" cy="126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明确优先级，根据通信和气象状态决定模式，更新安全功率。</a:t>
                </a:r>
                <a:endParaRPr lang="en-US" sz="1100"/>
              </a:p>
            </p:txBody>
          </p:sp>
          <p:sp>
            <p:nvSpPr>
              <p:cNvPr id="8" name="AutoShape 8"/>
              <p:cNvSpPr/>
              <p:nvPr/>
            </p:nvSpPr>
            <p:spPr>
              <a:xfrm>
                <a:off x="836338" y="5676848"/>
                <a:ext cx="3230746" cy="180000"/>
              </a:xfrm>
              <a:prstGeom prst="roundRect">
                <a:avLst>
                  <a:gd name="adj" fmla="val 0"/>
                </a:avLst>
              </a:prstGeom>
              <a:solidFill>
                <a:srgbClr val="16ACEC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 flipH="1">
                <a:off x="804568" y="1879315"/>
                <a:ext cx="1389665" cy="14025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8000" b="1" i="0">
                    <a:solidFill>
                      <a:srgbClr val="16ACE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329119" y="1879315"/>
              <a:ext cx="3294266" cy="3977533"/>
              <a:chOff x="4329119" y="1879315"/>
              <a:chExt cx="3294266" cy="3977533"/>
            </a:xfrm>
          </p:grpSpPr>
          <p:sp>
            <p:nvSpPr>
              <p:cNvPr id="11" name="TextBox 11"/>
              <p:cNvSpPr txBox="1"/>
              <p:nvPr/>
            </p:nvSpPr>
            <p:spPr>
              <a:xfrm flipH="1">
                <a:off x="4392639" y="3515662"/>
                <a:ext cx="3230746" cy="7122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通信看门狗代码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392639" y="4276076"/>
                <a:ext cx="3230746" cy="126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使用单调时钟，状态变化时通过回调通知外部。</a:t>
                </a:r>
                <a:endParaRPr lang="en-US" sz="1100"/>
              </a:p>
            </p:txBody>
          </p:sp>
          <p:sp>
            <p:nvSpPr>
              <p:cNvPr id="13" name="AutoShape 13"/>
              <p:cNvSpPr/>
              <p:nvPr/>
            </p:nvSpPr>
            <p:spPr>
              <a:xfrm>
                <a:off x="4392639" y="5676848"/>
                <a:ext cx="3230746" cy="180000"/>
              </a:xfrm>
              <a:prstGeom prst="roundRect">
                <a:avLst>
                  <a:gd name="adj" fmla="val 0"/>
                </a:avLst>
              </a:prstGeom>
              <a:solidFill>
                <a:srgbClr val="35D5C7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 flipH="1">
                <a:off x="4329119" y="1879315"/>
                <a:ext cx="1389665" cy="14025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8000" b="1" i="0">
                    <a:solidFill>
                      <a:srgbClr val="35D5C7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7862860" y="1879315"/>
              <a:ext cx="3319327" cy="3977533"/>
              <a:chOff x="7862860" y="1879315"/>
              <a:chExt cx="3319327" cy="3977533"/>
            </a:xfrm>
          </p:grpSpPr>
          <p:sp>
            <p:nvSpPr>
              <p:cNvPr id="16" name="TextBox 16"/>
              <p:cNvSpPr txBox="1"/>
              <p:nvPr/>
            </p:nvSpPr>
            <p:spPr>
              <a:xfrm flipH="1">
                <a:off x="7951441" y="3515662"/>
                <a:ext cx="3230746" cy="7122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斜坡恢复算法代码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51441" y="4276076"/>
                <a:ext cx="3230746" cy="126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实现线性斜坡恢复，考虑容差和运行时间避免误判。</a:t>
                </a:r>
                <a:endParaRPr lang="en-US" sz="1100"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7951441" y="5676848"/>
                <a:ext cx="3230746" cy="180000"/>
              </a:xfrm>
              <a:prstGeom prst="roundRect">
                <a:avLst>
                  <a:gd name="adj" fmla="val 0"/>
                </a:avLst>
              </a:prstGeom>
              <a:solidFill>
                <a:srgbClr val="16ACEC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 flipH="1">
                <a:off x="7862860" y="1879315"/>
                <a:ext cx="1389665" cy="14025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8000" b="1" i="0">
                    <a:solidFill>
                      <a:srgbClr val="16ACE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代码片段解析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0" y="2570066"/>
            <a:ext cx="5435600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参数配置表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096000" y="3166695"/>
            <a:ext cx="5435600" cy="22035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了解可调参数信息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8ef84ee-40db-4a97-9a57-00725f8626d7"/>
          <p:cNvGrpSpPr/>
          <p:nvPr/>
        </p:nvGrpSpPr>
        <p:grpSpPr>
          <a:xfrm rot="0">
            <a:off x="660400" y="1130300"/>
            <a:ext cx="10860088" cy="5003800"/>
            <a:chOff x="660400" y="1130300"/>
            <a:chExt cx="10860088" cy="5003800"/>
          </a:xfrm>
        </p:grpSpPr>
        <p:sp>
          <p:nvSpPr>
            <p:cNvPr id="3" name="AutoShape 3"/>
            <p:cNvSpPr/>
            <p:nvPr/>
          </p:nvSpPr>
          <p:spPr>
            <a:xfrm>
              <a:off x="4801181" y="2740762"/>
              <a:ext cx="2589100" cy="2588226"/>
            </a:xfrm>
            <a:custGeom>
              <a:avLst/>
              <a:gdLst/>
              <a:ahLst/>
              <a:cxnLst/>
              <a:rect l="l" t="t" r="r" b="b"/>
              <a:pathLst>
                <a:path w="6508" h="6508">
                  <a:moveTo>
                    <a:pt x="3254" y="137"/>
                  </a:moveTo>
                  <a:cubicBezTo>
                    <a:pt x="4086" y="137"/>
                    <a:pt x="4869" y="461"/>
                    <a:pt x="5458" y="1050"/>
                  </a:cubicBezTo>
                  <a:cubicBezTo>
                    <a:pt x="6047" y="1639"/>
                    <a:pt x="6371" y="2421"/>
                    <a:pt x="6371" y="3254"/>
                  </a:cubicBezTo>
                  <a:cubicBezTo>
                    <a:pt x="6371" y="4087"/>
                    <a:pt x="6047" y="4869"/>
                    <a:pt x="5458" y="5458"/>
                  </a:cubicBezTo>
                  <a:cubicBezTo>
                    <a:pt x="4869" y="6047"/>
                    <a:pt x="4086" y="6371"/>
                    <a:pt x="3254" y="6371"/>
                  </a:cubicBezTo>
                  <a:cubicBezTo>
                    <a:pt x="2421" y="6371"/>
                    <a:pt x="1638" y="6047"/>
                    <a:pt x="1050" y="5458"/>
                  </a:cubicBezTo>
                  <a:cubicBezTo>
                    <a:pt x="461" y="4869"/>
                    <a:pt x="137" y="4087"/>
                    <a:pt x="137" y="3254"/>
                  </a:cubicBezTo>
                  <a:cubicBezTo>
                    <a:pt x="137" y="2421"/>
                    <a:pt x="461" y="1639"/>
                    <a:pt x="1050" y="1050"/>
                  </a:cubicBezTo>
                  <a:cubicBezTo>
                    <a:pt x="1638" y="461"/>
                    <a:pt x="2421" y="137"/>
                    <a:pt x="3254" y="137"/>
                  </a:cubicBezTo>
                  <a:moveTo>
                    <a:pt x="3254" y="0"/>
                  </a:moveTo>
                  <a:cubicBezTo>
                    <a:pt x="1457" y="0"/>
                    <a:pt x="0" y="1457"/>
                    <a:pt x="0" y="3254"/>
                  </a:cubicBezTo>
                  <a:cubicBezTo>
                    <a:pt x="0" y="5051"/>
                    <a:pt x="1457" y="6508"/>
                    <a:pt x="3254" y="6508"/>
                  </a:cubicBezTo>
                  <a:cubicBezTo>
                    <a:pt x="5051" y="6508"/>
                    <a:pt x="6508" y="5051"/>
                    <a:pt x="6508" y="3254"/>
                  </a:cubicBezTo>
                  <a:cubicBezTo>
                    <a:pt x="6508" y="1457"/>
                    <a:pt x="5051" y="0"/>
                    <a:pt x="3254" y="0"/>
                  </a:cubicBezTo>
                  <a:close/>
                </a:path>
              </a:pathLst>
            </a:custGeom>
            <a:solidFill>
              <a:srgbClr val="35D5C7">
                <a:alpha val="100000"/>
                <a:lumMod val="20000"/>
                <a:lumOff val="80000"/>
              </a:srgbClr>
            </a:solidFill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4955845" y="2898047"/>
              <a:ext cx="343408" cy="342533"/>
            </a:xfrm>
            <a:custGeom>
              <a:avLst/>
              <a:gdLst/>
              <a:ahLst/>
              <a:cxnLst/>
              <a:rect l="l" t="t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rgbClr val="16ACE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523309" y="3969338"/>
              <a:ext cx="394089" cy="176509"/>
            </a:xfrm>
            <a:custGeom>
              <a:avLst/>
              <a:gdLst/>
              <a:ahLst/>
              <a:cxnLst/>
              <a:rect l="l" t="t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rgbClr val="B2835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4945359" y="4835285"/>
              <a:ext cx="352146" cy="352146"/>
            </a:xfrm>
            <a:custGeom>
              <a:avLst/>
              <a:gdLst/>
              <a:ahLst/>
              <a:cxnLst/>
              <a:rect l="l" t="t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rgbClr val="8C582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1">
              <a:off x="6892749" y="2898047"/>
              <a:ext cx="343408" cy="342533"/>
            </a:xfrm>
            <a:custGeom>
              <a:avLst/>
              <a:gdLst/>
              <a:ahLst/>
              <a:cxnLst/>
              <a:rect l="l" t="t" r="r" b="b"/>
              <a:pathLst>
                <a:path w="863" h="861">
                  <a:moveTo>
                    <a:pt x="777" y="460"/>
                  </a:moveTo>
                  <a:cubicBezTo>
                    <a:pt x="703" y="386"/>
                    <a:pt x="590" y="376"/>
                    <a:pt x="505" y="427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30" y="503"/>
                    <a:pt x="430" y="503"/>
                    <a:pt x="430" y="503"/>
                  </a:cubicBezTo>
                  <a:cubicBezTo>
                    <a:pt x="378" y="588"/>
                    <a:pt x="389" y="700"/>
                    <a:pt x="463" y="774"/>
                  </a:cubicBezTo>
                  <a:cubicBezTo>
                    <a:pt x="549" y="861"/>
                    <a:pt x="690" y="861"/>
                    <a:pt x="777" y="774"/>
                  </a:cubicBezTo>
                  <a:cubicBezTo>
                    <a:pt x="863" y="687"/>
                    <a:pt x="863" y="547"/>
                    <a:pt x="777" y="460"/>
                  </a:cubicBezTo>
                  <a:close/>
                </a:path>
              </a:pathLst>
            </a:custGeom>
            <a:solidFill>
              <a:srgbClr val="35D5C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1">
              <a:off x="7274604" y="3969338"/>
              <a:ext cx="394089" cy="176509"/>
            </a:xfrm>
            <a:custGeom>
              <a:avLst/>
              <a:gdLst/>
              <a:ahLst/>
              <a:cxnLst/>
              <a:rect l="l" t="t" r="r" b="b"/>
              <a:pathLst>
                <a:path w="992" h="444">
                  <a:moveTo>
                    <a:pt x="770" y="0"/>
                  </a:moveTo>
                  <a:cubicBezTo>
                    <a:pt x="666" y="0"/>
                    <a:pt x="578" y="72"/>
                    <a:pt x="555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555" y="275"/>
                    <a:pt x="555" y="275"/>
                    <a:pt x="555" y="275"/>
                  </a:cubicBezTo>
                  <a:cubicBezTo>
                    <a:pt x="578" y="372"/>
                    <a:pt x="666" y="444"/>
                    <a:pt x="770" y="444"/>
                  </a:cubicBezTo>
                  <a:cubicBezTo>
                    <a:pt x="892" y="444"/>
                    <a:pt x="992" y="344"/>
                    <a:pt x="992" y="222"/>
                  </a:cubicBezTo>
                  <a:cubicBezTo>
                    <a:pt x="992" y="99"/>
                    <a:pt x="892" y="0"/>
                    <a:pt x="770" y="0"/>
                  </a:cubicBezTo>
                  <a:close/>
                </a:path>
              </a:pathLst>
            </a:custGeom>
            <a:solidFill>
              <a:srgbClr val="54DC8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flipH="1">
              <a:off x="6894497" y="4835285"/>
              <a:ext cx="352146" cy="352146"/>
            </a:xfrm>
            <a:custGeom>
              <a:avLst/>
              <a:gdLst/>
              <a:ahLst/>
              <a:cxnLst/>
              <a:rect l="l" t="t" r="r" b="b"/>
              <a:pathLst>
                <a:path w="884" h="886">
                  <a:moveTo>
                    <a:pt x="797" y="87"/>
                  </a:moveTo>
                  <a:cubicBezTo>
                    <a:pt x="710" y="0"/>
                    <a:pt x="570" y="0"/>
                    <a:pt x="483" y="87"/>
                  </a:cubicBezTo>
                  <a:cubicBezTo>
                    <a:pt x="409" y="161"/>
                    <a:pt x="399" y="273"/>
                    <a:pt x="450" y="358"/>
                  </a:cubicBezTo>
                  <a:cubicBezTo>
                    <a:pt x="0" y="811"/>
                    <a:pt x="0" y="811"/>
                    <a:pt x="0" y="811"/>
                  </a:cubicBezTo>
                  <a:cubicBezTo>
                    <a:pt x="75" y="886"/>
                    <a:pt x="75" y="886"/>
                    <a:pt x="75" y="886"/>
                  </a:cubicBezTo>
                  <a:cubicBezTo>
                    <a:pt x="525" y="434"/>
                    <a:pt x="525" y="434"/>
                    <a:pt x="525" y="434"/>
                  </a:cubicBezTo>
                  <a:cubicBezTo>
                    <a:pt x="611" y="485"/>
                    <a:pt x="723" y="475"/>
                    <a:pt x="797" y="401"/>
                  </a:cubicBezTo>
                  <a:cubicBezTo>
                    <a:pt x="884" y="314"/>
                    <a:pt x="884" y="174"/>
                    <a:pt x="797" y="87"/>
                  </a:cubicBezTo>
                  <a:close/>
                </a:path>
              </a:pathLst>
            </a:custGeom>
            <a:solidFill>
              <a:srgbClr val="66471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0400" y="1130300"/>
              <a:ext cx="10848975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掌握参数典型值与功能</a:t>
              </a:r>
              <a:endParaRPr lang="en-US" sz="1100"/>
            </a:p>
          </p:txBody>
        </p:sp>
        <p:grpSp>
          <p:nvGrpSpPr>
            <p:cNvPr id="11" name="Group 11"/>
            <p:cNvGrpSpPr/>
            <p:nvPr/>
          </p:nvGrpSpPr>
          <p:grpSpPr>
            <a:xfrm rot="0">
              <a:off x="671513" y="2001505"/>
              <a:ext cx="4399965" cy="1091806"/>
              <a:chOff x="671513" y="2001505"/>
              <a:chExt cx="4399965" cy="1091806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4225048" y="2164630"/>
                <a:ext cx="846430" cy="846430"/>
              </a:xfrm>
              <a:prstGeom prst="ellipse">
                <a:avLst/>
              </a:prstGeom>
              <a:solidFill>
                <a:srgbClr val="16ACE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4471521" y="2467727"/>
                <a:ext cx="353485" cy="240234"/>
              </a:xfrm>
              <a:custGeom>
                <a:avLst/>
                <a:gdLst/>
                <a:ahLst/>
                <a:cxnLst/>
                <a:rect l="l" t="t" r="r" b="b"/>
                <a:pathLst>
                  <a:path w="604816" h="411044">
                    <a:moveTo>
                      <a:pt x="437011" y="83550"/>
                    </a:moveTo>
                    <a:cubicBezTo>
                      <a:pt x="529565" y="83550"/>
                      <a:pt x="604816" y="142215"/>
                      <a:pt x="604816" y="214450"/>
                    </a:cubicBezTo>
                    <a:cubicBezTo>
                      <a:pt x="604816" y="254885"/>
                      <a:pt x="580922" y="292579"/>
                      <a:pt x="539177" y="317799"/>
                    </a:cubicBezTo>
                    <a:cubicBezTo>
                      <a:pt x="530938" y="322871"/>
                      <a:pt x="525308" y="331095"/>
                      <a:pt x="523523" y="340690"/>
                    </a:cubicBezTo>
                    <a:cubicBezTo>
                      <a:pt x="519953" y="360564"/>
                      <a:pt x="522974" y="381125"/>
                      <a:pt x="528878" y="400177"/>
                    </a:cubicBezTo>
                    <a:cubicBezTo>
                      <a:pt x="505122" y="387156"/>
                      <a:pt x="481366" y="370022"/>
                      <a:pt x="462004" y="353300"/>
                    </a:cubicBezTo>
                    <a:cubicBezTo>
                      <a:pt x="455824" y="348091"/>
                      <a:pt x="448134" y="345213"/>
                      <a:pt x="440033" y="345213"/>
                    </a:cubicBezTo>
                    <a:cubicBezTo>
                      <a:pt x="438934" y="345213"/>
                      <a:pt x="437835" y="345350"/>
                      <a:pt x="437011" y="345350"/>
                    </a:cubicBezTo>
                    <a:cubicBezTo>
                      <a:pt x="401308" y="345350"/>
                      <a:pt x="367253" y="336577"/>
                      <a:pt x="338279" y="319992"/>
                    </a:cubicBezTo>
                    <a:cubicBezTo>
                      <a:pt x="295023" y="295183"/>
                      <a:pt x="269207" y="255844"/>
                      <a:pt x="269207" y="214450"/>
                    </a:cubicBezTo>
                    <a:cubicBezTo>
                      <a:pt x="269207" y="206089"/>
                      <a:pt x="270168" y="198002"/>
                      <a:pt x="272091" y="190189"/>
                    </a:cubicBezTo>
                    <a:cubicBezTo>
                      <a:pt x="274013" y="182239"/>
                      <a:pt x="276760" y="174563"/>
                      <a:pt x="280467" y="167299"/>
                    </a:cubicBezTo>
                    <a:cubicBezTo>
                      <a:pt x="292826" y="142352"/>
                      <a:pt x="314797" y="121107"/>
                      <a:pt x="342948" y="106166"/>
                    </a:cubicBezTo>
                    <a:cubicBezTo>
                      <a:pt x="347067" y="103973"/>
                      <a:pt x="351187" y="102054"/>
                      <a:pt x="355581" y="100135"/>
                    </a:cubicBezTo>
                    <a:cubicBezTo>
                      <a:pt x="356542" y="99724"/>
                      <a:pt x="357503" y="99176"/>
                      <a:pt x="358602" y="98765"/>
                    </a:cubicBezTo>
                    <a:cubicBezTo>
                      <a:pt x="376454" y="91363"/>
                      <a:pt x="396228" y="86428"/>
                      <a:pt x="417375" y="84509"/>
                    </a:cubicBezTo>
                    <a:cubicBezTo>
                      <a:pt x="423829" y="83824"/>
                      <a:pt x="430283" y="83550"/>
                      <a:pt x="437011" y="83550"/>
                    </a:cubicBezTo>
                    <a:close/>
                    <a:moveTo>
                      <a:pt x="213353" y="0"/>
                    </a:moveTo>
                    <a:cubicBezTo>
                      <a:pt x="259757" y="0"/>
                      <a:pt x="304377" y="12061"/>
                      <a:pt x="340760" y="33580"/>
                    </a:cubicBezTo>
                    <a:cubicBezTo>
                      <a:pt x="337740" y="34676"/>
                      <a:pt x="334856" y="36047"/>
                      <a:pt x="331973" y="37143"/>
                    </a:cubicBezTo>
                    <a:cubicBezTo>
                      <a:pt x="330326" y="37966"/>
                      <a:pt x="328678" y="38514"/>
                      <a:pt x="327031" y="39336"/>
                    </a:cubicBezTo>
                    <a:cubicBezTo>
                      <a:pt x="321264" y="41803"/>
                      <a:pt x="315773" y="44545"/>
                      <a:pt x="310418" y="47423"/>
                    </a:cubicBezTo>
                    <a:cubicBezTo>
                      <a:pt x="309183" y="48108"/>
                      <a:pt x="308084" y="48793"/>
                      <a:pt x="306849" y="49479"/>
                    </a:cubicBezTo>
                    <a:cubicBezTo>
                      <a:pt x="302730" y="51809"/>
                      <a:pt x="298611" y="54139"/>
                      <a:pt x="294630" y="56743"/>
                    </a:cubicBezTo>
                    <a:cubicBezTo>
                      <a:pt x="292845" y="57839"/>
                      <a:pt x="291060" y="59073"/>
                      <a:pt x="289413" y="60307"/>
                    </a:cubicBezTo>
                    <a:cubicBezTo>
                      <a:pt x="285980" y="62500"/>
                      <a:pt x="282685" y="64830"/>
                      <a:pt x="279528" y="67297"/>
                    </a:cubicBezTo>
                    <a:cubicBezTo>
                      <a:pt x="277880" y="68530"/>
                      <a:pt x="276233" y="69901"/>
                      <a:pt x="274585" y="71134"/>
                    </a:cubicBezTo>
                    <a:cubicBezTo>
                      <a:pt x="271015" y="74013"/>
                      <a:pt x="267720" y="76891"/>
                      <a:pt x="264425" y="79906"/>
                    </a:cubicBezTo>
                    <a:cubicBezTo>
                      <a:pt x="263327" y="80866"/>
                      <a:pt x="262229" y="81825"/>
                      <a:pt x="261130" y="82784"/>
                    </a:cubicBezTo>
                    <a:cubicBezTo>
                      <a:pt x="257012" y="86759"/>
                      <a:pt x="253030" y="90871"/>
                      <a:pt x="249186" y="95120"/>
                    </a:cubicBezTo>
                    <a:cubicBezTo>
                      <a:pt x="248088" y="96216"/>
                      <a:pt x="247264" y="97450"/>
                      <a:pt x="246165" y="98683"/>
                    </a:cubicBezTo>
                    <a:cubicBezTo>
                      <a:pt x="243420" y="101836"/>
                      <a:pt x="240811" y="105125"/>
                      <a:pt x="238203" y="108552"/>
                    </a:cubicBezTo>
                    <a:cubicBezTo>
                      <a:pt x="237104" y="110197"/>
                      <a:pt x="235869" y="111704"/>
                      <a:pt x="234770" y="113349"/>
                    </a:cubicBezTo>
                    <a:cubicBezTo>
                      <a:pt x="232573" y="116501"/>
                      <a:pt x="230377" y="119791"/>
                      <a:pt x="228317" y="123080"/>
                    </a:cubicBezTo>
                    <a:cubicBezTo>
                      <a:pt x="227356" y="124725"/>
                      <a:pt x="226395" y="126233"/>
                      <a:pt x="225434" y="127877"/>
                    </a:cubicBezTo>
                    <a:cubicBezTo>
                      <a:pt x="223100" y="132126"/>
                      <a:pt x="220904" y="136238"/>
                      <a:pt x="218844" y="140487"/>
                    </a:cubicBezTo>
                    <a:cubicBezTo>
                      <a:pt x="218432" y="141309"/>
                      <a:pt x="218021" y="142132"/>
                      <a:pt x="217609" y="142954"/>
                    </a:cubicBezTo>
                    <a:cubicBezTo>
                      <a:pt x="215275" y="148025"/>
                      <a:pt x="213215" y="153233"/>
                      <a:pt x="211430" y="158442"/>
                    </a:cubicBezTo>
                    <a:cubicBezTo>
                      <a:pt x="210881" y="159949"/>
                      <a:pt x="210469" y="161457"/>
                      <a:pt x="209920" y="163102"/>
                    </a:cubicBezTo>
                    <a:cubicBezTo>
                      <a:pt x="208685" y="166940"/>
                      <a:pt x="207724" y="170777"/>
                      <a:pt x="206763" y="174752"/>
                    </a:cubicBezTo>
                    <a:cubicBezTo>
                      <a:pt x="206213" y="176671"/>
                      <a:pt x="205801" y="178453"/>
                      <a:pt x="205527" y="180371"/>
                    </a:cubicBezTo>
                    <a:cubicBezTo>
                      <a:pt x="204703" y="184209"/>
                      <a:pt x="204017" y="188184"/>
                      <a:pt x="203467" y="192159"/>
                    </a:cubicBezTo>
                    <a:cubicBezTo>
                      <a:pt x="203193" y="193940"/>
                      <a:pt x="202918" y="195585"/>
                      <a:pt x="202781" y="197367"/>
                    </a:cubicBezTo>
                    <a:cubicBezTo>
                      <a:pt x="202232" y="203123"/>
                      <a:pt x="201820" y="208743"/>
                      <a:pt x="201820" y="214499"/>
                    </a:cubicBezTo>
                    <a:cubicBezTo>
                      <a:pt x="201820" y="221901"/>
                      <a:pt x="202506" y="229028"/>
                      <a:pt x="203467" y="236155"/>
                    </a:cubicBezTo>
                    <a:cubicBezTo>
                      <a:pt x="203605" y="238074"/>
                      <a:pt x="203879" y="239719"/>
                      <a:pt x="204154" y="241637"/>
                    </a:cubicBezTo>
                    <a:cubicBezTo>
                      <a:pt x="205390" y="248627"/>
                      <a:pt x="206763" y="255755"/>
                      <a:pt x="208822" y="262608"/>
                    </a:cubicBezTo>
                    <a:cubicBezTo>
                      <a:pt x="208822" y="262745"/>
                      <a:pt x="208959" y="262882"/>
                      <a:pt x="208959" y="263019"/>
                    </a:cubicBezTo>
                    <a:cubicBezTo>
                      <a:pt x="211019" y="269735"/>
                      <a:pt x="213627" y="276451"/>
                      <a:pt x="216373" y="282893"/>
                    </a:cubicBezTo>
                    <a:cubicBezTo>
                      <a:pt x="217197" y="284537"/>
                      <a:pt x="217883" y="286182"/>
                      <a:pt x="218707" y="287827"/>
                    </a:cubicBezTo>
                    <a:cubicBezTo>
                      <a:pt x="221727" y="294406"/>
                      <a:pt x="225160" y="300847"/>
                      <a:pt x="229004" y="307152"/>
                    </a:cubicBezTo>
                    <a:cubicBezTo>
                      <a:pt x="229141" y="307289"/>
                      <a:pt x="229278" y="307563"/>
                      <a:pt x="229416" y="307700"/>
                    </a:cubicBezTo>
                    <a:cubicBezTo>
                      <a:pt x="233260" y="313731"/>
                      <a:pt x="237653" y="319625"/>
                      <a:pt x="242321" y="325381"/>
                    </a:cubicBezTo>
                    <a:cubicBezTo>
                      <a:pt x="243420" y="326752"/>
                      <a:pt x="244518" y="328122"/>
                      <a:pt x="245616" y="329630"/>
                    </a:cubicBezTo>
                    <a:cubicBezTo>
                      <a:pt x="246852" y="331001"/>
                      <a:pt x="247950" y="332371"/>
                      <a:pt x="249186" y="333742"/>
                    </a:cubicBezTo>
                    <a:cubicBezTo>
                      <a:pt x="237379" y="335387"/>
                      <a:pt x="225572" y="336209"/>
                      <a:pt x="213490" y="336209"/>
                    </a:cubicBezTo>
                    <a:lnTo>
                      <a:pt x="213353" y="336209"/>
                    </a:lnTo>
                    <a:cubicBezTo>
                      <a:pt x="204154" y="335661"/>
                      <a:pt x="194681" y="337991"/>
                      <a:pt x="187679" y="344159"/>
                    </a:cubicBezTo>
                    <a:cubicBezTo>
                      <a:pt x="158847" y="368692"/>
                      <a:pt x="122602" y="394323"/>
                      <a:pt x="87318" y="411044"/>
                    </a:cubicBezTo>
                    <a:cubicBezTo>
                      <a:pt x="97890" y="384317"/>
                      <a:pt x="105029" y="353479"/>
                      <a:pt x="99674" y="324148"/>
                    </a:cubicBezTo>
                    <a:cubicBezTo>
                      <a:pt x="98027" y="314691"/>
                      <a:pt x="92261" y="306330"/>
                      <a:pt x="84023" y="301259"/>
                    </a:cubicBezTo>
                    <a:cubicBezTo>
                      <a:pt x="30616" y="268912"/>
                      <a:pt x="0" y="220393"/>
                      <a:pt x="0" y="168036"/>
                    </a:cubicBezTo>
                    <a:cubicBezTo>
                      <a:pt x="0" y="75383"/>
                      <a:pt x="95693" y="0"/>
                      <a:pt x="213353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71513" y="2469062"/>
                <a:ext cx="3486183" cy="6242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典型值60秒，无报文则判定通信中断。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71513" y="2001505"/>
                <a:ext cx="3486183" cy="4675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通信超时阈值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671514" y="3495382"/>
              <a:ext cx="3797956" cy="1091806"/>
              <a:chOff x="671514" y="3495382"/>
              <a:chExt cx="3797956" cy="1091806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3622073" y="3606417"/>
                <a:ext cx="847397" cy="846430"/>
              </a:xfrm>
              <a:prstGeom prst="ellipse">
                <a:avLst/>
              </a:prstGeom>
              <a:solidFill>
                <a:srgbClr val="B28359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3875298" y="3859416"/>
                <a:ext cx="340948" cy="340433"/>
              </a:xfrm>
              <a:custGeom>
                <a:avLst/>
                <a:gdLst/>
                <a:ahLst/>
                <a:cxnLst/>
                <a:rect l="l" t="t" r="r" b="b"/>
                <a:pathLst>
                  <a:path w="6827" h="6827">
                    <a:moveTo>
                      <a:pt x="3413" y="0"/>
                    </a:moveTo>
                    <a:cubicBezTo>
                      <a:pt x="1531" y="0"/>
                      <a:pt x="0" y="1531"/>
                      <a:pt x="0" y="3413"/>
                    </a:cubicBezTo>
                    <a:cubicBezTo>
                      <a:pt x="0" y="5295"/>
                      <a:pt x="1531" y="6827"/>
                      <a:pt x="3413" y="6827"/>
                    </a:cubicBezTo>
                    <a:cubicBezTo>
                      <a:pt x="5296" y="6827"/>
                      <a:pt x="6827" y="5295"/>
                      <a:pt x="6827" y="3413"/>
                    </a:cubicBezTo>
                    <a:cubicBezTo>
                      <a:pt x="6827" y="1531"/>
                      <a:pt x="5296" y="0"/>
                      <a:pt x="3413" y="0"/>
                    </a:cubicBezTo>
                    <a:close/>
                    <a:moveTo>
                      <a:pt x="5017" y="3033"/>
                    </a:moveTo>
                    <a:lnTo>
                      <a:pt x="3431" y="4619"/>
                    </a:lnTo>
                    <a:cubicBezTo>
                      <a:pt x="3257" y="4792"/>
                      <a:pt x="2976" y="4792"/>
                      <a:pt x="2802" y="4619"/>
                    </a:cubicBezTo>
                    <a:lnTo>
                      <a:pt x="1884" y="3701"/>
                    </a:lnTo>
                    <a:cubicBezTo>
                      <a:pt x="1710" y="3527"/>
                      <a:pt x="1710" y="3245"/>
                      <a:pt x="1884" y="3072"/>
                    </a:cubicBezTo>
                    <a:cubicBezTo>
                      <a:pt x="2058" y="2898"/>
                      <a:pt x="2340" y="2898"/>
                      <a:pt x="2514" y="3072"/>
                    </a:cubicBezTo>
                    <a:lnTo>
                      <a:pt x="3117" y="3674"/>
                    </a:lnTo>
                    <a:lnTo>
                      <a:pt x="4387" y="2404"/>
                    </a:lnTo>
                    <a:cubicBezTo>
                      <a:pt x="4561" y="2230"/>
                      <a:pt x="4843" y="2230"/>
                      <a:pt x="5017" y="2404"/>
                    </a:cubicBezTo>
                    <a:cubicBezTo>
                      <a:pt x="5190" y="2578"/>
                      <a:pt x="5190" y="2859"/>
                      <a:pt x="5017" y="303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71514" y="3962939"/>
                <a:ext cx="2882020" cy="6242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1%Pn/min，冻结期间功率变化上限。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71514" y="3495382"/>
                <a:ext cx="2882020" cy="4675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安全模式爬坡率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671513" y="5042294"/>
              <a:ext cx="4395597" cy="1091806"/>
              <a:chOff x="671513" y="5042294"/>
              <a:chExt cx="4395597" cy="1091806"/>
            </a:xfrm>
          </p:grpSpPr>
          <p:sp>
            <p:nvSpPr>
              <p:cNvPr id="22" name="AutoShape 22"/>
              <p:cNvSpPr/>
              <p:nvPr/>
            </p:nvSpPr>
            <p:spPr>
              <a:xfrm>
                <a:off x="4220680" y="5050778"/>
                <a:ext cx="846430" cy="847396"/>
              </a:xfrm>
              <a:prstGeom prst="ellipse">
                <a:avLst/>
              </a:prstGeom>
              <a:solidFill>
                <a:srgbClr val="8C582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>
                <a:off x="4472794" y="5345056"/>
                <a:ext cx="342202" cy="258842"/>
              </a:xfrm>
              <a:custGeom>
                <a:avLst/>
                <a:gdLst/>
                <a:ahLst/>
                <a:cxnLst/>
                <a:rect l="l" t="t" r="r" b="b"/>
                <a:pathLst>
                  <a:path w="606298" h="458605">
                    <a:moveTo>
                      <a:pt x="303150" y="172180"/>
                    </a:moveTo>
                    <a:cubicBezTo>
                      <a:pt x="362037" y="172180"/>
                      <a:pt x="409775" y="219855"/>
                      <a:pt x="409775" y="278664"/>
                    </a:cubicBezTo>
                    <a:cubicBezTo>
                      <a:pt x="409775" y="337473"/>
                      <a:pt x="362037" y="385148"/>
                      <a:pt x="303150" y="385148"/>
                    </a:cubicBezTo>
                    <a:cubicBezTo>
                      <a:pt x="244263" y="385148"/>
                      <a:pt x="196525" y="337473"/>
                      <a:pt x="196525" y="278664"/>
                    </a:cubicBezTo>
                    <a:cubicBezTo>
                      <a:pt x="196525" y="219855"/>
                      <a:pt x="244263" y="172180"/>
                      <a:pt x="303150" y="172180"/>
                    </a:cubicBezTo>
                    <a:close/>
                    <a:moveTo>
                      <a:pt x="303149" y="131787"/>
                    </a:moveTo>
                    <a:cubicBezTo>
                      <a:pt x="222053" y="131787"/>
                      <a:pt x="156060" y="197681"/>
                      <a:pt x="156060" y="278654"/>
                    </a:cubicBezTo>
                    <a:cubicBezTo>
                      <a:pt x="156060" y="359536"/>
                      <a:pt x="222053" y="425430"/>
                      <a:pt x="303149" y="425430"/>
                    </a:cubicBezTo>
                    <a:cubicBezTo>
                      <a:pt x="384245" y="425430"/>
                      <a:pt x="450147" y="359536"/>
                      <a:pt x="450147" y="278654"/>
                    </a:cubicBezTo>
                    <a:cubicBezTo>
                      <a:pt x="450147" y="197681"/>
                      <a:pt x="384245" y="131787"/>
                      <a:pt x="303149" y="131787"/>
                    </a:cubicBezTo>
                    <a:close/>
                    <a:moveTo>
                      <a:pt x="72767" y="60502"/>
                    </a:moveTo>
                    <a:cubicBezTo>
                      <a:pt x="66085" y="60502"/>
                      <a:pt x="60593" y="65985"/>
                      <a:pt x="60593" y="72657"/>
                    </a:cubicBezTo>
                    <a:lnTo>
                      <a:pt x="60593" y="98155"/>
                    </a:lnTo>
                    <a:lnTo>
                      <a:pt x="165762" y="98155"/>
                    </a:lnTo>
                    <a:lnTo>
                      <a:pt x="165762" y="72657"/>
                    </a:lnTo>
                    <a:cubicBezTo>
                      <a:pt x="165762" y="65985"/>
                      <a:pt x="160270" y="60502"/>
                      <a:pt x="153588" y="60502"/>
                    </a:cubicBezTo>
                    <a:close/>
                    <a:moveTo>
                      <a:pt x="72767" y="0"/>
                    </a:moveTo>
                    <a:lnTo>
                      <a:pt x="153588" y="0"/>
                    </a:lnTo>
                    <a:cubicBezTo>
                      <a:pt x="193770" y="0"/>
                      <a:pt x="226355" y="32536"/>
                      <a:pt x="226355" y="72657"/>
                    </a:cubicBezTo>
                    <a:lnTo>
                      <a:pt x="226355" y="98612"/>
                    </a:lnTo>
                    <a:lnTo>
                      <a:pt x="417654" y="98612"/>
                    </a:lnTo>
                    <a:lnTo>
                      <a:pt x="417654" y="74119"/>
                    </a:lnTo>
                    <a:cubicBezTo>
                      <a:pt x="417654" y="56389"/>
                      <a:pt x="432024" y="42041"/>
                      <a:pt x="449781" y="42041"/>
                    </a:cubicBezTo>
                    <a:lnTo>
                      <a:pt x="506713" y="42041"/>
                    </a:lnTo>
                    <a:cubicBezTo>
                      <a:pt x="524561" y="42041"/>
                      <a:pt x="538932" y="56389"/>
                      <a:pt x="538932" y="74119"/>
                    </a:cubicBezTo>
                    <a:lnTo>
                      <a:pt x="538932" y="98612"/>
                    </a:lnTo>
                    <a:lnTo>
                      <a:pt x="546712" y="98612"/>
                    </a:lnTo>
                    <a:cubicBezTo>
                      <a:pt x="579571" y="98612"/>
                      <a:pt x="606298" y="125299"/>
                      <a:pt x="606298" y="158108"/>
                    </a:cubicBezTo>
                    <a:lnTo>
                      <a:pt x="606298" y="399109"/>
                    </a:lnTo>
                    <a:cubicBezTo>
                      <a:pt x="606298" y="431919"/>
                      <a:pt x="579571" y="458605"/>
                      <a:pt x="546712" y="458605"/>
                    </a:cubicBezTo>
                    <a:lnTo>
                      <a:pt x="59495" y="458605"/>
                    </a:lnTo>
                    <a:cubicBezTo>
                      <a:pt x="26635" y="458605"/>
                      <a:pt x="0" y="431919"/>
                      <a:pt x="0" y="399109"/>
                    </a:cubicBezTo>
                    <a:lnTo>
                      <a:pt x="0" y="72657"/>
                    </a:lnTo>
                    <a:cubicBezTo>
                      <a:pt x="0" y="32536"/>
                      <a:pt x="32585" y="0"/>
                      <a:pt x="72767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71513" y="5509851"/>
                <a:ext cx="3486183" cy="6242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25 m/s，超过此值风机必须停机。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71513" y="5042294"/>
                <a:ext cx="3486183" cy="4675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切出风速</a:t>
                </a:r>
                <a:endParaRPr lang="en-US" sz="1100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0">
              <a:off x="7115280" y="5042294"/>
              <a:ext cx="4405207" cy="1091806"/>
              <a:chOff x="7115280" y="5042294"/>
              <a:chExt cx="4405207" cy="1091806"/>
            </a:xfrm>
          </p:grpSpPr>
          <p:sp>
            <p:nvSpPr>
              <p:cNvPr id="27" name="AutoShape 27"/>
              <p:cNvSpPr/>
              <p:nvPr/>
            </p:nvSpPr>
            <p:spPr>
              <a:xfrm>
                <a:off x="7115280" y="5050778"/>
                <a:ext cx="846430" cy="847396"/>
              </a:xfrm>
              <a:prstGeom prst="ellipse">
                <a:avLst/>
              </a:prstGeom>
              <a:solidFill>
                <a:srgbClr val="66471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8" name="AutoShape 28"/>
              <p:cNvSpPr/>
              <p:nvPr/>
            </p:nvSpPr>
            <p:spPr>
              <a:xfrm>
                <a:off x="7366140" y="5302382"/>
                <a:ext cx="344710" cy="344189"/>
              </a:xfrm>
              <a:custGeom>
                <a:avLst/>
                <a:gdLst/>
                <a:ahLst/>
                <a:cxnLst/>
                <a:rect l="l" t="t" r="r" b="b"/>
                <a:pathLst>
                  <a:path w="607639" h="606722">
                    <a:moveTo>
                      <a:pt x="257564" y="92370"/>
                    </a:moveTo>
                    <a:cubicBezTo>
                      <a:pt x="268511" y="92370"/>
                      <a:pt x="277411" y="101168"/>
                      <a:pt x="277411" y="112098"/>
                    </a:cubicBezTo>
                    <a:lnTo>
                      <a:pt x="277411" y="329729"/>
                    </a:lnTo>
                    <a:lnTo>
                      <a:pt x="495281" y="329729"/>
                    </a:lnTo>
                    <a:cubicBezTo>
                      <a:pt x="506228" y="329729"/>
                      <a:pt x="515128" y="338616"/>
                      <a:pt x="515128" y="349546"/>
                    </a:cubicBezTo>
                    <a:cubicBezTo>
                      <a:pt x="515128" y="491286"/>
                      <a:pt x="399607" y="606722"/>
                      <a:pt x="257564" y="606722"/>
                    </a:cubicBezTo>
                    <a:cubicBezTo>
                      <a:pt x="115521" y="606722"/>
                      <a:pt x="0" y="491286"/>
                      <a:pt x="0" y="349546"/>
                    </a:cubicBezTo>
                    <a:cubicBezTo>
                      <a:pt x="0" y="207717"/>
                      <a:pt x="115521" y="92370"/>
                      <a:pt x="257564" y="92370"/>
                    </a:cubicBezTo>
                    <a:close/>
                    <a:moveTo>
                      <a:pt x="350027" y="0"/>
                    </a:moveTo>
                    <a:cubicBezTo>
                      <a:pt x="492007" y="0"/>
                      <a:pt x="607639" y="115367"/>
                      <a:pt x="607639" y="257220"/>
                    </a:cubicBezTo>
                    <a:cubicBezTo>
                      <a:pt x="607639" y="268152"/>
                      <a:pt x="598737" y="277040"/>
                      <a:pt x="587788" y="277040"/>
                    </a:cubicBezTo>
                    <a:lnTo>
                      <a:pt x="350027" y="277040"/>
                    </a:lnTo>
                    <a:cubicBezTo>
                      <a:pt x="339078" y="277040"/>
                      <a:pt x="330176" y="268152"/>
                      <a:pt x="330176" y="257220"/>
                    </a:cubicBezTo>
                    <a:lnTo>
                      <a:pt x="330176" y="19820"/>
                    </a:lnTo>
                    <a:cubicBezTo>
                      <a:pt x="330176" y="8888"/>
                      <a:pt x="339078" y="0"/>
                      <a:pt x="350027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035352" y="5509851"/>
                <a:ext cx="3485135" cy="6242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0.25，强湍流触发自主模式。</a:t>
                </a:r>
                <a:endParaRPr lang="en-US" sz="110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35352" y="5042294"/>
                <a:ext cx="3485135" cy="4675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湍流强度阈值</a:t>
                </a:r>
                <a:endParaRPr lang="en-US" sz="1100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7712046" y="3495382"/>
              <a:ext cx="3808442" cy="1091806"/>
              <a:chOff x="7712046" y="3495382"/>
              <a:chExt cx="3808442" cy="1091806"/>
            </a:xfrm>
          </p:grpSpPr>
          <p:sp>
            <p:nvSpPr>
              <p:cNvPr id="32" name="AutoShape 32"/>
              <p:cNvSpPr/>
              <p:nvPr/>
            </p:nvSpPr>
            <p:spPr>
              <a:xfrm>
                <a:off x="7712046" y="3606417"/>
                <a:ext cx="847397" cy="846430"/>
              </a:xfrm>
              <a:prstGeom prst="ellipse">
                <a:avLst/>
              </a:prstGeom>
              <a:solidFill>
                <a:srgbClr val="54DC8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3" name="AutoShape 33"/>
              <p:cNvSpPr/>
              <p:nvPr/>
            </p:nvSpPr>
            <p:spPr>
              <a:xfrm>
                <a:off x="7963389" y="3857537"/>
                <a:ext cx="344710" cy="344189"/>
              </a:xfrm>
              <a:custGeom>
                <a:avLst/>
                <a:gdLst/>
                <a:ahLst/>
                <a:cxnLst/>
                <a:rect l="l" t="t" r="r" b="b"/>
                <a:pathLst>
                  <a:path w="607639" h="606722">
                    <a:moveTo>
                      <a:pt x="106370" y="436610"/>
                    </a:moveTo>
                    <a:lnTo>
                      <a:pt x="61329" y="480515"/>
                    </a:lnTo>
                    <a:lnTo>
                      <a:pt x="126397" y="545485"/>
                    </a:lnTo>
                    <a:lnTo>
                      <a:pt x="170369" y="500513"/>
                    </a:lnTo>
                    <a:close/>
                    <a:moveTo>
                      <a:pt x="455714" y="404481"/>
                    </a:moveTo>
                    <a:lnTo>
                      <a:pt x="531614" y="404481"/>
                    </a:lnTo>
                    <a:lnTo>
                      <a:pt x="531703" y="404481"/>
                    </a:lnTo>
                    <a:lnTo>
                      <a:pt x="531792" y="404481"/>
                    </a:lnTo>
                    <a:cubicBezTo>
                      <a:pt x="538020" y="404481"/>
                      <a:pt x="543715" y="406792"/>
                      <a:pt x="548075" y="410525"/>
                    </a:cubicBezTo>
                    <a:cubicBezTo>
                      <a:pt x="549321" y="411591"/>
                      <a:pt x="550388" y="412747"/>
                      <a:pt x="551456" y="413991"/>
                    </a:cubicBezTo>
                    <a:cubicBezTo>
                      <a:pt x="554748" y="418079"/>
                      <a:pt x="556795" y="423323"/>
                      <a:pt x="556973" y="429012"/>
                    </a:cubicBezTo>
                    <a:cubicBezTo>
                      <a:pt x="556973" y="429278"/>
                      <a:pt x="556973" y="429545"/>
                      <a:pt x="556973" y="429811"/>
                    </a:cubicBezTo>
                    <a:lnTo>
                      <a:pt x="556973" y="505625"/>
                    </a:lnTo>
                    <a:cubicBezTo>
                      <a:pt x="556973" y="519579"/>
                      <a:pt x="545673" y="530867"/>
                      <a:pt x="531614" y="530867"/>
                    </a:cubicBezTo>
                    <a:cubicBezTo>
                      <a:pt x="517644" y="530867"/>
                      <a:pt x="506343" y="519579"/>
                      <a:pt x="506343" y="505625"/>
                    </a:cubicBezTo>
                    <a:lnTo>
                      <a:pt x="476001" y="546065"/>
                    </a:lnTo>
                    <a:cubicBezTo>
                      <a:pt x="471018" y="552731"/>
                      <a:pt x="463366" y="556197"/>
                      <a:pt x="455714" y="556197"/>
                    </a:cubicBezTo>
                    <a:cubicBezTo>
                      <a:pt x="450375" y="556197"/>
                      <a:pt x="445125" y="554508"/>
                      <a:pt x="440498" y="551131"/>
                    </a:cubicBezTo>
                    <a:cubicBezTo>
                      <a:pt x="429375" y="542776"/>
                      <a:pt x="427062" y="526867"/>
                      <a:pt x="435515" y="515757"/>
                    </a:cubicBezTo>
                    <a:lnTo>
                      <a:pt x="481073" y="455053"/>
                    </a:lnTo>
                    <a:lnTo>
                      <a:pt x="455714" y="455053"/>
                    </a:lnTo>
                    <a:cubicBezTo>
                      <a:pt x="441744" y="455053"/>
                      <a:pt x="430443" y="443765"/>
                      <a:pt x="430443" y="429811"/>
                    </a:cubicBezTo>
                    <a:cubicBezTo>
                      <a:pt x="430443" y="415857"/>
                      <a:pt x="441744" y="404481"/>
                      <a:pt x="455714" y="404481"/>
                    </a:cubicBezTo>
                    <a:close/>
                    <a:moveTo>
                      <a:pt x="157786" y="282117"/>
                    </a:moveTo>
                    <a:cubicBezTo>
                      <a:pt x="164272" y="282117"/>
                      <a:pt x="170770" y="284584"/>
                      <a:pt x="175710" y="289516"/>
                    </a:cubicBezTo>
                    <a:lnTo>
                      <a:pt x="317685" y="431277"/>
                    </a:lnTo>
                    <a:cubicBezTo>
                      <a:pt x="327565" y="441142"/>
                      <a:pt x="327565" y="457140"/>
                      <a:pt x="317685" y="467006"/>
                    </a:cubicBezTo>
                    <a:lnTo>
                      <a:pt x="245229" y="539441"/>
                    </a:lnTo>
                    <a:cubicBezTo>
                      <a:pt x="240422" y="544152"/>
                      <a:pt x="234013" y="546818"/>
                      <a:pt x="227248" y="546818"/>
                    </a:cubicBezTo>
                    <a:cubicBezTo>
                      <a:pt x="220572" y="546818"/>
                      <a:pt x="214163" y="544152"/>
                      <a:pt x="209357" y="539441"/>
                    </a:cubicBezTo>
                    <a:lnTo>
                      <a:pt x="206241" y="536242"/>
                    </a:lnTo>
                    <a:lnTo>
                      <a:pt x="144734" y="599079"/>
                    </a:lnTo>
                    <a:cubicBezTo>
                      <a:pt x="140016" y="603967"/>
                      <a:pt x="133518" y="606633"/>
                      <a:pt x="126753" y="606722"/>
                    </a:cubicBezTo>
                    <a:lnTo>
                      <a:pt x="126575" y="606722"/>
                    </a:lnTo>
                    <a:cubicBezTo>
                      <a:pt x="119899" y="606722"/>
                      <a:pt x="113491" y="604056"/>
                      <a:pt x="108684" y="599256"/>
                    </a:cubicBezTo>
                    <a:lnTo>
                      <a:pt x="7388" y="498113"/>
                    </a:lnTo>
                    <a:cubicBezTo>
                      <a:pt x="2670" y="493403"/>
                      <a:pt x="0" y="486914"/>
                      <a:pt x="0" y="480160"/>
                    </a:cubicBezTo>
                    <a:cubicBezTo>
                      <a:pt x="89" y="473405"/>
                      <a:pt x="2759" y="466917"/>
                      <a:pt x="7655" y="462206"/>
                    </a:cubicBezTo>
                    <a:lnTo>
                      <a:pt x="70587" y="400792"/>
                    </a:lnTo>
                    <a:lnTo>
                      <a:pt x="67382" y="397681"/>
                    </a:lnTo>
                    <a:cubicBezTo>
                      <a:pt x="62665" y="392882"/>
                      <a:pt x="59994" y="386482"/>
                      <a:pt x="59994" y="379728"/>
                    </a:cubicBezTo>
                    <a:cubicBezTo>
                      <a:pt x="59994" y="373062"/>
                      <a:pt x="62665" y="366663"/>
                      <a:pt x="67382" y="361863"/>
                    </a:cubicBezTo>
                    <a:lnTo>
                      <a:pt x="139927" y="289516"/>
                    </a:lnTo>
                    <a:cubicBezTo>
                      <a:pt x="144823" y="284584"/>
                      <a:pt x="151299" y="282117"/>
                      <a:pt x="157786" y="282117"/>
                    </a:cubicBezTo>
                    <a:close/>
                    <a:moveTo>
                      <a:pt x="363724" y="101159"/>
                    </a:moveTo>
                    <a:cubicBezTo>
                      <a:pt x="359930" y="101159"/>
                      <a:pt x="356147" y="102604"/>
                      <a:pt x="353254" y="105492"/>
                    </a:cubicBezTo>
                    <a:lnTo>
                      <a:pt x="320945" y="137752"/>
                    </a:lnTo>
                    <a:cubicBezTo>
                      <a:pt x="321835" y="138463"/>
                      <a:pt x="322814" y="139174"/>
                      <a:pt x="323793" y="139974"/>
                    </a:cubicBezTo>
                    <a:cubicBezTo>
                      <a:pt x="327709" y="142818"/>
                      <a:pt x="331715" y="145662"/>
                      <a:pt x="335898" y="148417"/>
                    </a:cubicBezTo>
                    <a:cubicBezTo>
                      <a:pt x="337678" y="149572"/>
                      <a:pt x="339369" y="150728"/>
                      <a:pt x="341149" y="151794"/>
                    </a:cubicBezTo>
                    <a:cubicBezTo>
                      <a:pt x="347113" y="155527"/>
                      <a:pt x="353254" y="159082"/>
                      <a:pt x="359930" y="162459"/>
                    </a:cubicBezTo>
                    <a:cubicBezTo>
                      <a:pt x="376040" y="170724"/>
                      <a:pt x="392863" y="183344"/>
                      <a:pt x="408439" y="198897"/>
                    </a:cubicBezTo>
                    <a:cubicBezTo>
                      <a:pt x="424016" y="214449"/>
                      <a:pt x="436655" y="231246"/>
                      <a:pt x="444933" y="247243"/>
                    </a:cubicBezTo>
                    <a:cubicBezTo>
                      <a:pt x="448315" y="253998"/>
                      <a:pt x="451875" y="260130"/>
                      <a:pt x="455614" y="266084"/>
                    </a:cubicBezTo>
                    <a:cubicBezTo>
                      <a:pt x="456682" y="267862"/>
                      <a:pt x="457839" y="269550"/>
                      <a:pt x="458907" y="271239"/>
                    </a:cubicBezTo>
                    <a:cubicBezTo>
                      <a:pt x="461666" y="275416"/>
                      <a:pt x="464514" y="279504"/>
                      <a:pt x="467452" y="283326"/>
                    </a:cubicBezTo>
                    <a:cubicBezTo>
                      <a:pt x="468164" y="284303"/>
                      <a:pt x="468876" y="285281"/>
                      <a:pt x="469677" y="286258"/>
                    </a:cubicBezTo>
                    <a:lnTo>
                      <a:pt x="501987" y="253998"/>
                    </a:lnTo>
                    <a:cubicBezTo>
                      <a:pt x="507772" y="248221"/>
                      <a:pt x="507772" y="238800"/>
                      <a:pt x="501987" y="233024"/>
                    </a:cubicBezTo>
                    <a:lnTo>
                      <a:pt x="374260" y="105492"/>
                    </a:lnTo>
                    <a:cubicBezTo>
                      <a:pt x="371323" y="102604"/>
                      <a:pt x="367518" y="101159"/>
                      <a:pt x="363724" y="101159"/>
                    </a:cubicBezTo>
                    <a:close/>
                    <a:moveTo>
                      <a:pt x="177209" y="50521"/>
                    </a:moveTo>
                    <a:cubicBezTo>
                      <a:pt x="183683" y="50521"/>
                      <a:pt x="190157" y="52987"/>
                      <a:pt x="195096" y="57919"/>
                    </a:cubicBezTo>
                    <a:cubicBezTo>
                      <a:pt x="205063" y="67784"/>
                      <a:pt x="205063" y="83869"/>
                      <a:pt x="195096" y="93644"/>
                    </a:cubicBezTo>
                    <a:lnTo>
                      <a:pt x="137075" y="151675"/>
                    </a:lnTo>
                    <a:lnTo>
                      <a:pt x="151936" y="151675"/>
                    </a:lnTo>
                    <a:cubicBezTo>
                      <a:pt x="165908" y="151675"/>
                      <a:pt x="177209" y="162961"/>
                      <a:pt x="177209" y="176914"/>
                    </a:cubicBezTo>
                    <a:cubicBezTo>
                      <a:pt x="177209" y="190866"/>
                      <a:pt x="165908" y="202241"/>
                      <a:pt x="151936" y="202241"/>
                    </a:cubicBezTo>
                    <a:lnTo>
                      <a:pt x="75939" y="202241"/>
                    </a:lnTo>
                    <a:cubicBezTo>
                      <a:pt x="69621" y="202241"/>
                      <a:pt x="63836" y="199842"/>
                      <a:pt x="59387" y="196020"/>
                    </a:cubicBezTo>
                    <a:cubicBezTo>
                      <a:pt x="58141" y="194954"/>
                      <a:pt x="56984" y="193710"/>
                      <a:pt x="55916" y="192288"/>
                    </a:cubicBezTo>
                    <a:cubicBezTo>
                      <a:pt x="52980" y="188466"/>
                      <a:pt x="51111" y="183845"/>
                      <a:pt x="50755" y="178691"/>
                    </a:cubicBezTo>
                    <a:cubicBezTo>
                      <a:pt x="50666" y="178069"/>
                      <a:pt x="50666" y="177447"/>
                      <a:pt x="50666" y="176736"/>
                    </a:cubicBezTo>
                    <a:lnTo>
                      <a:pt x="50666" y="101109"/>
                    </a:lnTo>
                    <a:cubicBezTo>
                      <a:pt x="50666" y="87157"/>
                      <a:pt x="61968" y="75782"/>
                      <a:pt x="75939" y="75782"/>
                    </a:cubicBezTo>
                    <a:cubicBezTo>
                      <a:pt x="89910" y="75782"/>
                      <a:pt x="101301" y="87157"/>
                      <a:pt x="101301" y="101109"/>
                    </a:cubicBezTo>
                    <a:lnTo>
                      <a:pt x="101301" y="115861"/>
                    </a:lnTo>
                    <a:lnTo>
                      <a:pt x="159322" y="57919"/>
                    </a:lnTo>
                    <a:cubicBezTo>
                      <a:pt x="164261" y="52987"/>
                      <a:pt x="170735" y="50521"/>
                      <a:pt x="177209" y="50521"/>
                    </a:cubicBezTo>
                    <a:close/>
                    <a:moveTo>
                      <a:pt x="480892" y="0"/>
                    </a:moveTo>
                    <a:cubicBezTo>
                      <a:pt x="487122" y="0"/>
                      <a:pt x="494154" y="2666"/>
                      <a:pt x="498960" y="7376"/>
                    </a:cubicBezTo>
                    <a:lnTo>
                      <a:pt x="600162" y="108513"/>
                    </a:lnTo>
                    <a:cubicBezTo>
                      <a:pt x="604969" y="113312"/>
                      <a:pt x="607639" y="119800"/>
                      <a:pt x="607639" y="126554"/>
                    </a:cubicBezTo>
                    <a:cubicBezTo>
                      <a:pt x="607550" y="133309"/>
                      <a:pt x="604880" y="139708"/>
                      <a:pt x="599984" y="144507"/>
                    </a:cubicBezTo>
                    <a:lnTo>
                      <a:pt x="541417" y="201741"/>
                    </a:lnTo>
                    <a:cubicBezTo>
                      <a:pt x="562957" y="227425"/>
                      <a:pt x="561978" y="265640"/>
                      <a:pt x="537768" y="289724"/>
                    </a:cubicBezTo>
                    <a:lnTo>
                      <a:pt x="486499" y="340915"/>
                    </a:lnTo>
                    <a:cubicBezTo>
                      <a:pt x="485965" y="341537"/>
                      <a:pt x="485342" y="341715"/>
                      <a:pt x="484719" y="342159"/>
                    </a:cubicBezTo>
                    <a:cubicBezTo>
                      <a:pt x="483206" y="343403"/>
                      <a:pt x="481693" y="344470"/>
                      <a:pt x="480002" y="345270"/>
                    </a:cubicBezTo>
                    <a:cubicBezTo>
                      <a:pt x="478845" y="345892"/>
                      <a:pt x="477688" y="346425"/>
                      <a:pt x="476530" y="346869"/>
                    </a:cubicBezTo>
                    <a:cubicBezTo>
                      <a:pt x="474750" y="347403"/>
                      <a:pt x="472970" y="347669"/>
                      <a:pt x="471190" y="347847"/>
                    </a:cubicBezTo>
                    <a:cubicBezTo>
                      <a:pt x="470300" y="347936"/>
                      <a:pt x="469499" y="348380"/>
                      <a:pt x="468609" y="348380"/>
                    </a:cubicBezTo>
                    <a:cubicBezTo>
                      <a:pt x="468253" y="348380"/>
                      <a:pt x="467808" y="348114"/>
                      <a:pt x="467452" y="348114"/>
                    </a:cubicBezTo>
                    <a:cubicBezTo>
                      <a:pt x="465582" y="348025"/>
                      <a:pt x="463891" y="347580"/>
                      <a:pt x="462111" y="347047"/>
                    </a:cubicBezTo>
                    <a:cubicBezTo>
                      <a:pt x="460776" y="346692"/>
                      <a:pt x="459530" y="346514"/>
                      <a:pt x="458373" y="345981"/>
                    </a:cubicBezTo>
                    <a:cubicBezTo>
                      <a:pt x="458017" y="345892"/>
                      <a:pt x="457661" y="345892"/>
                      <a:pt x="457305" y="345714"/>
                    </a:cubicBezTo>
                    <a:lnTo>
                      <a:pt x="428911" y="331494"/>
                    </a:lnTo>
                    <a:cubicBezTo>
                      <a:pt x="421702" y="327940"/>
                      <a:pt x="412979" y="329273"/>
                      <a:pt x="407282" y="335049"/>
                    </a:cubicBezTo>
                    <a:lnTo>
                      <a:pt x="376308" y="365888"/>
                    </a:lnTo>
                    <a:cubicBezTo>
                      <a:pt x="367763" y="374509"/>
                      <a:pt x="356370" y="379219"/>
                      <a:pt x="344265" y="379219"/>
                    </a:cubicBezTo>
                    <a:cubicBezTo>
                      <a:pt x="332160" y="379219"/>
                      <a:pt x="320678" y="374509"/>
                      <a:pt x="312133" y="365888"/>
                    </a:cubicBezTo>
                    <a:lnTo>
                      <a:pt x="241194" y="295057"/>
                    </a:lnTo>
                    <a:cubicBezTo>
                      <a:pt x="223481" y="277371"/>
                      <a:pt x="223481" y="248576"/>
                      <a:pt x="241194" y="230891"/>
                    </a:cubicBezTo>
                    <a:lnTo>
                      <a:pt x="272079" y="200052"/>
                    </a:lnTo>
                    <a:cubicBezTo>
                      <a:pt x="277776" y="194364"/>
                      <a:pt x="279200" y="185655"/>
                      <a:pt x="275551" y="178456"/>
                    </a:cubicBezTo>
                    <a:lnTo>
                      <a:pt x="261398" y="150106"/>
                    </a:lnTo>
                    <a:cubicBezTo>
                      <a:pt x="261220" y="149750"/>
                      <a:pt x="261220" y="149395"/>
                      <a:pt x="261131" y="149039"/>
                    </a:cubicBezTo>
                    <a:cubicBezTo>
                      <a:pt x="260508" y="147884"/>
                      <a:pt x="260330" y="146640"/>
                      <a:pt x="260063" y="145307"/>
                    </a:cubicBezTo>
                    <a:cubicBezTo>
                      <a:pt x="259529" y="143529"/>
                      <a:pt x="259084" y="141841"/>
                      <a:pt x="258995" y="139974"/>
                    </a:cubicBezTo>
                    <a:cubicBezTo>
                      <a:pt x="258906" y="138730"/>
                      <a:pt x="259084" y="137486"/>
                      <a:pt x="259262" y="136242"/>
                    </a:cubicBezTo>
                    <a:cubicBezTo>
                      <a:pt x="259440" y="134375"/>
                      <a:pt x="259707" y="132687"/>
                      <a:pt x="260241" y="130909"/>
                    </a:cubicBezTo>
                    <a:cubicBezTo>
                      <a:pt x="260686" y="129754"/>
                      <a:pt x="261220" y="128599"/>
                      <a:pt x="261754" y="127443"/>
                    </a:cubicBezTo>
                    <a:cubicBezTo>
                      <a:pt x="262644" y="125755"/>
                      <a:pt x="263713" y="124155"/>
                      <a:pt x="264959" y="122733"/>
                    </a:cubicBezTo>
                    <a:cubicBezTo>
                      <a:pt x="265404" y="122111"/>
                      <a:pt x="265582" y="121400"/>
                      <a:pt x="266116" y="120955"/>
                    </a:cubicBezTo>
                    <a:lnTo>
                      <a:pt x="317384" y="69676"/>
                    </a:lnTo>
                    <a:cubicBezTo>
                      <a:pt x="341505" y="45592"/>
                      <a:pt x="379868" y="44525"/>
                      <a:pt x="405591" y="66121"/>
                    </a:cubicBezTo>
                    <a:lnTo>
                      <a:pt x="462912" y="7554"/>
                    </a:lnTo>
                    <a:cubicBezTo>
                      <a:pt x="467719" y="2755"/>
                      <a:pt x="474127" y="89"/>
                      <a:pt x="480892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638468" y="3962939"/>
                <a:ext cx="2882020" cy="6242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 MW/min，恢复时功率上升速率。</a:t>
                </a:r>
                <a:endParaRPr lang="en-US" sz="1100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638468" y="3495382"/>
                <a:ext cx="2882020" cy="4675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恢复爬坡率</a:t>
                </a:r>
                <a:endParaRPr lang="en-US" sz="1100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0">
              <a:off x="7109163" y="2001505"/>
              <a:ext cx="4411324" cy="1091806"/>
              <a:chOff x="7109163" y="2001505"/>
              <a:chExt cx="4411324" cy="1091806"/>
            </a:xfrm>
          </p:grpSpPr>
          <p:sp>
            <p:nvSpPr>
              <p:cNvPr id="37" name="AutoShape 37"/>
              <p:cNvSpPr/>
              <p:nvPr/>
            </p:nvSpPr>
            <p:spPr>
              <a:xfrm>
                <a:off x="7109163" y="2164630"/>
                <a:ext cx="846430" cy="846430"/>
              </a:xfrm>
              <a:prstGeom prst="ellipse">
                <a:avLst/>
              </a:prstGeom>
              <a:solidFill>
                <a:srgbClr val="35D5C7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8" name="AutoShape 38"/>
              <p:cNvSpPr/>
              <p:nvPr/>
            </p:nvSpPr>
            <p:spPr>
              <a:xfrm>
                <a:off x="7360651" y="2418014"/>
                <a:ext cx="343455" cy="339662"/>
              </a:xfrm>
              <a:custGeom>
                <a:avLst/>
                <a:gdLst/>
                <a:ahLst/>
                <a:cxnLst/>
                <a:rect l="l" t="t" r="r" b="b"/>
                <a:pathLst>
                  <a:path w="600511" h="593879">
                    <a:moveTo>
                      <a:pt x="466437" y="421770"/>
                    </a:moveTo>
                    <a:cubicBezTo>
                      <a:pt x="487560" y="421770"/>
                      <a:pt x="504684" y="438878"/>
                      <a:pt x="504684" y="459981"/>
                    </a:cubicBezTo>
                    <a:cubicBezTo>
                      <a:pt x="504684" y="481084"/>
                      <a:pt x="487560" y="498192"/>
                      <a:pt x="466437" y="498192"/>
                    </a:cubicBezTo>
                    <a:cubicBezTo>
                      <a:pt x="445314" y="498192"/>
                      <a:pt x="428190" y="481084"/>
                      <a:pt x="428190" y="459981"/>
                    </a:cubicBezTo>
                    <a:cubicBezTo>
                      <a:pt x="428190" y="438878"/>
                      <a:pt x="445314" y="421770"/>
                      <a:pt x="466437" y="421770"/>
                    </a:cubicBezTo>
                    <a:close/>
                    <a:moveTo>
                      <a:pt x="453390" y="375066"/>
                    </a:moveTo>
                    <a:lnTo>
                      <a:pt x="421127" y="386990"/>
                    </a:lnTo>
                    <a:cubicBezTo>
                      <a:pt x="419191" y="387957"/>
                      <a:pt x="418223" y="389890"/>
                      <a:pt x="418868" y="392146"/>
                    </a:cubicBezTo>
                    <a:lnTo>
                      <a:pt x="424031" y="406325"/>
                    </a:lnTo>
                    <a:cubicBezTo>
                      <a:pt x="424998" y="408259"/>
                      <a:pt x="424676" y="410515"/>
                      <a:pt x="423385" y="411481"/>
                    </a:cubicBezTo>
                    <a:cubicBezTo>
                      <a:pt x="422417" y="412448"/>
                      <a:pt x="418223" y="414382"/>
                      <a:pt x="416287" y="413737"/>
                    </a:cubicBezTo>
                    <a:lnTo>
                      <a:pt x="402414" y="407292"/>
                    </a:lnTo>
                    <a:cubicBezTo>
                      <a:pt x="400478" y="406325"/>
                      <a:pt x="398220" y="407292"/>
                      <a:pt x="397252" y="409226"/>
                    </a:cubicBezTo>
                    <a:lnTo>
                      <a:pt x="383056" y="440485"/>
                    </a:lnTo>
                    <a:cubicBezTo>
                      <a:pt x="382088" y="442096"/>
                      <a:pt x="383056" y="444674"/>
                      <a:pt x="384669" y="445318"/>
                    </a:cubicBezTo>
                    <a:lnTo>
                      <a:pt x="398542" y="451764"/>
                    </a:lnTo>
                    <a:cubicBezTo>
                      <a:pt x="400478" y="452730"/>
                      <a:pt x="402091" y="454664"/>
                      <a:pt x="401769" y="455953"/>
                    </a:cubicBezTo>
                    <a:cubicBezTo>
                      <a:pt x="401769" y="457564"/>
                      <a:pt x="400156" y="462076"/>
                      <a:pt x="398220" y="462720"/>
                    </a:cubicBezTo>
                    <a:lnTo>
                      <a:pt x="384024" y="467876"/>
                    </a:lnTo>
                    <a:cubicBezTo>
                      <a:pt x="382088" y="468521"/>
                      <a:pt x="381120" y="470777"/>
                      <a:pt x="381766" y="472710"/>
                    </a:cubicBezTo>
                    <a:lnTo>
                      <a:pt x="393380" y="504936"/>
                    </a:lnTo>
                    <a:cubicBezTo>
                      <a:pt x="394348" y="506870"/>
                      <a:pt x="396607" y="507836"/>
                      <a:pt x="398542" y="507192"/>
                    </a:cubicBezTo>
                    <a:lnTo>
                      <a:pt x="412738" y="502036"/>
                    </a:lnTo>
                    <a:cubicBezTo>
                      <a:pt x="414674" y="501391"/>
                      <a:pt x="417255" y="501713"/>
                      <a:pt x="417900" y="502680"/>
                    </a:cubicBezTo>
                    <a:cubicBezTo>
                      <a:pt x="418868" y="503969"/>
                      <a:pt x="421127" y="508159"/>
                      <a:pt x="420159" y="510092"/>
                    </a:cubicBezTo>
                    <a:lnTo>
                      <a:pt x="413706" y="523949"/>
                    </a:lnTo>
                    <a:cubicBezTo>
                      <a:pt x="412738" y="525561"/>
                      <a:pt x="413706" y="527816"/>
                      <a:pt x="415642" y="528783"/>
                    </a:cubicBezTo>
                    <a:lnTo>
                      <a:pt x="446937" y="543285"/>
                    </a:lnTo>
                    <a:cubicBezTo>
                      <a:pt x="448873" y="544251"/>
                      <a:pt x="451132" y="543285"/>
                      <a:pt x="451777" y="541351"/>
                    </a:cubicBezTo>
                    <a:lnTo>
                      <a:pt x="458230" y="527494"/>
                    </a:lnTo>
                    <a:cubicBezTo>
                      <a:pt x="459198" y="525561"/>
                      <a:pt x="461133" y="524272"/>
                      <a:pt x="462424" y="524272"/>
                    </a:cubicBezTo>
                    <a:cubicBezTo>
                      <a:pt x="464037" y="524272"/>
                      <a:pt x="468554" y="525883"/>
                      <a:pt x="469199" y="528139"/>
                    </a:cubicBezTo>
                    <a:lnTo>
                      <a:pt x="474361" y="542318"/>
                    </a:lnTo>
                    <a:cubicBezTo>
                      <a:pt x="475007" y="544251"/>
                      <a:pt x="477265" y="545218"/>
                      <a:pt x="479201" y="544574"/>
                    </a:cubicBezTo>
                    <a:lnTo>
                      <a:pt x="511464" y="532650"/>
                    </a:lnTo>
                    <a:cubicBezTo>
                      <a:pt x="513400" y="532006"/>
                      <a:pt x="514368" y="529750"/>
                      <a:pt x="513723" y="527816"/>
                    </a:cubicBezTo>
                    <a:lnTo>
                      <a:pt x="508560" y="513315"/>
                    </a:lnTo>
                    <a:cubicBezTo>
                      <a:pt x="507915" y="511381"/>
                      <a:pt x="508238" y="509125"/>
                      <a:pt x="509206" y="508159"/>
                    </a:cubicBezTo>
                    <a:cubicBezTo>
                      <a:pt x="510496" y="507192"/>
                      <a:pt x="514691" y="505258"/>
                      <a:pt x="516626" y="506225"/>
                    </a:cubicBezTo>
                    <a:lnTo>
                      <a:pt x="530500" y="512348"/>
                    </a:lnTo>
                    <a:cubicBezTo>
                      <a:pt x="532435" y="513315"/>
                      <a:pt x="534694" y="512348"/>
                      <a:pt x="535339" y="510737"/>
                    </a:cubicBezTo>
                    <a:lnTo>
                      <a:pt x="549858" y="479478"/>
                    </a:lnTo>
                    <a:cubicBezTo>
                      <a:pt x="550825" y="477544"/>
                      <a:pt x="549858" y="475288"/>
                      <a:pt x="547922" y="474322"/>
                    </a:cubicBezTo>
                    <a:lnTo>
                      <a:pt x="534049" y="467876"/>
                    </a:lnTo>
                    <a:cubicBezTo>
                      <a:pt x="532113" y="467232"/>
                      <a:pt x="531145" y="462398"/>
                      <a:pt x="531145" y="461109"/>
                    </a:cubicBezTo>
                    <a:cubicBezTo>
                      <a:pt x="531145" y="459498"/>
                      <a:pt x="532435" y="457886"/>
                      <a:pt x="534694" y="457242"/>
                    </a:cubicBezTo>
                    <a:lnTo>
                      <a:pt x="548890" y="451764"/>
                    </a:lnTo>
                    <a:cubicBezTo>
                      <a:pt x="550825" y="451119"/>
                      <a:pt x="551793" y="448863"/>
                      <a:pt x="551148" y="446930"/>
                    </a:cubicBezTo>
                    <a:lnTo>
                      <a:pt x="539211" y="414704"/>
                    </a:lnTo>
                    <a:cubicBezTo>
                      <a:pt x="538565" y="412770"/>
                      <a:pt x="536307" y="411804"/>
                      <a:pt x="534371" y="412448"/>
                    </a:cubicBezTo>
                    <a:lnTo>
                      <a:pt x="520175" y="417604"/>
                    </a:lnTo>
                    <a:cubicBezTo>
                      <a:pt x="517917" y="418571"/>
                      <a:pt x="515658" y="418249"/>
                      <a:pt x="514691" y="416960"/>
                    </a:cubicBezTo>
                    <a:cubicBezTo>
                      <a:pt x="513723" y="415993"/>
                      <a:pt x="511787" y="411481"/>
                      <a:pt x="512755" y="409548"/>
                    </a:cubicBezTo>
                    <a:lnTo>
                      <a:pt x="518885" y="396013"/>
                    </a:lnTo>
                    <a:cubicBezTo>
                      <a:pt x="519853" y="394079"/>
                      <a:pt x="518885" y="391824"/>
                      <a:pt x="516949" y="390857"/>
                    </a:cubicBezTo>
                    <a:lnTo>
                      <a:pt x="485976" y="376355"/>
                    </a:lnTo>
                    <a:cubicBezTo>
                      <a:pt x="484040" y="375711"/>
                      <a:pt x="481782" y="376355"/>
                      <a:pt x="480814" y="378289"/>
                    </a:cubicBezTo>
                    <a:lnTo>
                      <a:pt x="474361" y="392146"/>
                    </a:lnTo>
                    <a:cubicBezTo>
                      <a:pt x="473716" y="394079"/>
                      <a:pt x="471780" y="395691"/>
                      <a:pt x="470167" y="395368"/>
                    </a:cubicBezTo>
                    <a:cubicBezTo>
                      <a:pt x="468877" y="395368"/>
                      <a:pt x="464360" y="393757"/>
                      <a:pt x="463714" y="391824"/>
                    </a:cubicBezTo>
                    <a:lnTo>
                      <a:pt x="458230" y="377322"/>
                    </a:lnTo>
                    <a:cubicBezTo>
                      <a:pt x="457584" y="375389"/>
                      <a:pt x="455326" y="374422"/>
                      <a:pt x="453390" y="375066"/>
                    </a:cubicBezTo>
                    <a:close/>
                    <a:moveTo>
                      <a:pt x="0" y="372515"/>
                    </a:moveTo>
                    <a:cubicBezTo>
                      <a:pt x="0" y="424064"/>
                      <a:pt x="104223" y="465626"/>
                      <a:pt x="233292" y="465626"/>
                    </a:cubicBezTo>
                    <a:cubicBezTo>
                      <a:pt x="258461" y="465626"/>
                      <a:pt x="282661" y="464015"/>
                      <a:pt x="305248" y="461116"/>
                    </a:cubicBezTo>
                    <a:cubicBezTo>
                      <a:pt x="305571" y="493978"/>
                      <a:pt x="315574" y="524264"/>
                      <a:pt x="332998" y="549716"/>
                    </a:cubicBezTo>
                    <a:cubicBezTo>
                      <a:pt x="302667" y="555515"/>
                      <a:pt x="268786" y="558737"/>
                      <a:pt x="233292" y="558737"/>
                    </a:cubicBezTo>
                    <a:cubicBezTo>
                      <a:pt x="104546" y="558737"/>
                      <a:pt x="0" y="517175"/>
                      <a:pt x="0" y="465626"/>
                    </a:cubicBezTo>
                    <a:close/>
                    <a:moveTo>
                      <a:pt x="466295" y="326083"/>
                    </a:moveTo>
                    <a:cubicBezTo>
                      <a:pt x="540501" y="326083"/>
                      <a:pt x="600511" y="386023"/>
                      <a:pt x="600511" y="459820"/>
                    </a:cubicBezTo>
                    <a:cubicBezTo>
                      <a:pt x="600511" y="533939"/>
                      <a:pt x="540501" y="593879"/>
                      <a:pt x="466295" y="593879"/>
                    </a:cubicBezTo>
                    <a:cubicBezTo>
                      <a:pt x="392412" y="593879"/>
                      <a:pt x="332080" y="533939"/>
                      <a:pt x="332080" y="459820"/>
                    </a:cubicBezTo>
                    <a:cubicBezTo>
                      <a:pt x="332080" y="386023"/>
                      <a:pt x="392412" y="326083"/>
                      <a:pt x="466295" y="326083"/>
                    </a:cubicBezTo>
                    <a:close/>
                    <a:moveTo>
                      <a:pt x="0" y="232654"/>
                    </a:moveTo>
                    <a:cubicBezTo>
                      <a:pt x="0" y="284212"/>
                      <a:pt x="104554" y="326103"/>
                      <a:pt x="233309" y="326103"/>
                    </a:cubicBezTo>
                    <a:cubicBezTo>
                      <a:pt x="362065" y="326103"/>
                      <a:pt x="466296" y="284212"/>
                      <a:pt x="466296" y="232654"/>
                    </a:cubicBezTo>
                    <a:lnTo>
                      <a:pt x="466296" y="299035"/>
                    </a:lnTo>
                    <a:cubicBezTo>
                      <a:pt x="393689" y="299035"/>
                      <a:pt x="332377" y="347370"/>
                      <a:pt x="312370" y="413429"/>
                    </a:cubicBezTo>
                    <a:cubicBezTo>
                      <a:pt x="287522" y="416973"/>
                      <a:pt x="261061" y="419229"/>
                      <a:pt x="233309" y="419229"/>
                    </a:cubicBezTo>
                    <a:cubicBezTo>
                      <a:pt x="104231" y="419229"/>
                      <a:pt x="0" y="377338"/>
                      <a:pt x="0" y="326103"/>
                    </a:cubicBezTo>
                    <a:close/>
                    <a:moveTo>
                      <a:pt x="233309" y="23200"/>
                    </a:moveTo>
                    <a:cubicBezTo>
                      <a:pt x="105199" y="23200"/>
                      <a:pt x="23234" y="64445"/>
                      <a:pt x="23234" y="93123"/>
                    </a:cubicBezTo>
                    <a:cubicBezTo>
                      <a:pt x="23234" y="121479"/>
                      <a:pt x="105199" y="163046"/>
                      <a:pt x="233309" y="163046"/>
                    </a:cubicBezTo>
                    <a:cubicBezTo>
                      <a:pt x="361420" y="163046"/>
                      <a:pt x="443062" y="121479"/>
                      <a:pt x="443062" y="93123"/>
                    </a:cubicBezTo>
                    <a:cubicBezTo>
                      <a:pt x="443062" y="64445"/>
                      <a:pt x="361420" y="23200"/>
                      <a:pt x="233309" y="23200"/>
                    </a:cubicBezTo>
                    <a:close/>
                    <a:moveTo>
                      <a:pt x="233309" y="0"/>
                    </a:moveTo>
                    <a:cubicBezTo>
                      <a:pt x="362065" y="0"/>
                      <a:pt x="466296" y="41567"/>
                      <a:pt x="466296" y="93123"/>
                    </a:cubicBezTo>
                    <a:lnTo>
                      <a:pt x="466296" y="186246"/>
                    </a:lnTo>
                    <a:cubicBezTo>
                      <a:pt x="466296" y="237802"/>
                      <a:pt x="362065" y="279369"/>
                      <a:pt x="233309" y="279369"/>
                    </a:cubicBezTo>
                    <a:cubicBezTo>
                      <a:pt x="104231" y="279369"/>
                      <a:pt x="0" y="237802"/>
                      <a:pt x="0" y="186246"/>
                    </a:cubicBezTo>
                    <a:lnTo>
                      <a:pt x="0" y="93123"/>
                    </a:lnTo>
                    <a:cubicBezTo>
                      <a:pt x="0" y="41567"/>
                      <a:pt x="104554" y="0"/>
                      <a:pt x="233309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035352" y="2469062"/>
                <a:ext cx="3485135" cy="6242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 MW，认为到达目标的误差范围。</a:t>
                </a:r>
                <a:endParaRPr lang="en-US" sz="1100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035352" y="2001505"/>
                <a:ext cx="3485135" cy="4675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恢复容差</a:t>
                </a:r>
                <a:endParaRPr lang="en-US" sz="1100"/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参数配置说明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0" y="2570066"/>
            <a:ext cx="5435600" cy="5847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总结与优势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096000" y="3166695"/>
            <a:ext cx="5435600" cy="22035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总结场景价值与设计亮点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d389ac72-6f0c-4a89-8e1b-62513a4b7757"/>
          <p:cNvGrpSpPr/>
          <p:nvPr>
            <p:custDataLst>
              <p:tags r:id="rId1"/>
            </p:custDataLst>
          </p:nvPr>
        </p:nvGrpSpPr>
        <p:grpSpPr>
          <a:xfrm rot="0">
            <a:off x="609599" y="1143001"/>
            <a:ext cx="10858500" cy="4991099"/>
            <a:chOff x="609599" y="1143001"/>
            <a:chExt cx="10858500" cy="4991099"/>
          </a:xfrm>
        </p:grpSpPr>
        <p:sp>
          <p:nvSpPr>
            <p:cNvPr id="3" name="TextBox 3"/>
            <p:cNvSpPr txBox="1"/>
            <p:nvPr/>
          </p:nvSpPr>
          <p:spPr>
            <a:xfrm>
              <a:off x="609599" y="11430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回顾场景核心要点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1431289" y="2374900"/>
              <a:ext cx="3430833" cy="3759200"/>
              <a:chOff x="1629810" y="2374900"/>
              <a:chExt cx="3430833" cy="3759200"/>
            </a:xfrm>
          </p:grpSpPr>
          <p:sp>
            <p:nvSpPr>
              <p:cNvPr id="5" name="TextBox 5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3018201" y="2374900"/>
                <a:ext cx="654050" cy="654050"/>
              </a:xfrm>
              <a:prstGeom prst="roundRect">
                <a:avLst/>
              </a:prstGeom>
              <a:gradFill>
                <a:gsLst>
                  <a:gs pos="30000">
                    <a:srgbClr val="16ACEC">
                      <a:alpha val="100000"/>
                    </a:srgbClr>
                  </a:gs>
                  <a:gs pos="100000">
                    <a:srgbClr val="16ACEC">
                      <a:alpha val="100000"/>
                      <a:lumMod val="60000"/>
                      <a:lumOff val="40000"/>
                    </a:srgbClr>
                  </a:gs>
                </a:gsLst>
                <a:lin ang="135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629810" y="3244850"/>
                <a:ext cx="3430833" cy="85615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核心价值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629810" y="4101000"/>
                <a:ext cx="3430833" cy="20331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保障风机机械安全，避免风电场失控冲击电网，实现平滑恢复。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0">
              <a:off x="7069437" y="2374900"/>
              <a:ext cx="3430833" cy="3759200"/>
              <a:chOff x="3596405" y="2374900"/>
              <a:chExt cx="3430833" cy="3759200"/>
            </a:xfrm>
          </p:grpSpPr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985431" y="2374900"/>
                <a:ext cx="654050" cy="654050"/>
              </a:xfrm>
              <a:prstGeom prst="roundRect">
                <a:avLst/>
              </a:prstGeom>
              <a:gradFill>
                <a:gsLst>
                  <a:gs pos="30000">
                    <a:srgbClr val="16ACEC">
                      <a:alpha val="100000"/>
                    </a:srgbClr>
                  </a:gs>
                  <a:gs pos="100000">
                    <a:srgbClr val="16ACEC">
                      <a:alpha val="100000"/>
                      <a:lumMod val="60000"/>
                      <a:lumOff val="40000"/>
                    </a:srgbClr>
                  </a:gs>
                </a:gsLst>
                <a:lin ang="135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596405" y="3244850"/>
                <a:ext cx="3430833" cy="85615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设计亮点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596405" y="4101000"/>
                <a:ext cx="3430833" cy="20331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采用分层状态机、模块解耦、模拟验证，具有可扩展性。</a:t>
                </a:r>
                <a:endParaRPr lang="en-US" sz="1100"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场景总结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02135" y="1382861"/>
            <a:ext cx="4816764" cy="233997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000" b="1" i="0">
                <a:ln w="19050"/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702135" y="5655502"/>
            <a:ext cx="4816764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章渲祺</a:t>
            </a:r>
            <a:endParaRPr lang="en-US" sz="1600" b="0" i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702135" y="5310924"/>
            <a:ext cx="4816764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2026.4.7</a:t>
            </a:r>
            <a:endParaRPr 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3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4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5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6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7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8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9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0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1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2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3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4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5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16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17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18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19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20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21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22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23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24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25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26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27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28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29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30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31.xml><?xml version="1.0" encoding="utf-8"?>
<p:tagLst xmlns:p="http://schemas.openxmlformats.org/presentationml/2006/main">
  <p:tag name="KSO_WM_DIAGRAM_VIRTUALLY_FRAME" val="{&quot;height&quot;:389.52937007874016,&quot;left&quot;:51.999921259842516,&quot;top&quot;:88.99992125984252,&quot;width&quot;:855.0000787401575}"/>
</p:tagLst>
</file>

<file path=ppt/tags/tag32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33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34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35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36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37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38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39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40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41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42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43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44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45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46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47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48.xml><?xml version="1.0" encoding="utf-8"?>
<p:tagLst xmlns:p="http://schemas.openxmlformats.org/presentationml/2006/main">
  <p:tag name="KSO_WM_DIAGRAM_VIRTUALLY_FRAME" val="{&quot;height&quot;:451.00007874015745,&quot;left&quot;:52,&quot;top&quot;:88.99992125984252,&quot;width&quot;:855.0000787401575}"/>
</p:tagLst>
</file>

<file path=ppt/tags/tag49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0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1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2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3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4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5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6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7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8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9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0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1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2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3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4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5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6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7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6,&quot;width&quot;:855}"/>
</p:tagLst>
</file>

<file path=ppt/tags/tag68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6,&quot;width&quot;:855}"/>
</p:tagLst>
</file>

<file path=ppt/tags/tag69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6,&quot;width&quot;:855}"/>
</p:tagLst>
</file>

<file path=ppt/tags/tag70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6,&quot;width&quot;:855}"/>
</p:tagLst>
</file>

<file path=ppt/tags/tag71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6,&quot;width&quot;:855}"/>
</p:tagLst>
</file>

<file path=ppt/tags/tag72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6,&quot;width&quot;:855}"/>
</p:tagLst>
</file>

<file path=ppt/tags/tag73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6,&quot;width&quot;:855}"/>
</p:tagLst>
</file>

<file path=ppt/theme/theme1.xml><?xml version="1.0" encoding="utf-8"?>
<a:theme xmlns:a="http://schemas.openxmlformats.org/drawingml/2006/main" name="b4b7b7bf-1517-4513-b70a-ef0a66c3f32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1733</Words>
  <Application>WPS 演示</Application>
  <PresentationFormat>On-screen Show (4:3)</PresentationFormat>
  <Paragraphs>343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b4b7b7bf-1517-4513-b70a-ef0a66c3f326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眠風</cp:lastModifiedBy>
  <cp:revision>7</cp:revision>
  <dcterms:created xsi:type="dcterms:W3CDTF">2006-08-16T00:00:00Z</dcterms:created>
  <dcterms:modified xsi:type="dcterms:W3CDTF">2026-04-07T06:29:25Z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6A9E70ABD9CF4BC1B1FF431216934DE9_12</vt:lpwstr>
  </property>
</Properties>
</file>