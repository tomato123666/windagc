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48"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大家汇报我们暑期研发项目的成果——风电场AGC自动发电控制系统的多场景统一架构改造与智能工况切换系统。本次项目旨在解决当前风电场AGC系统存在的痛点，通过构建一个统一、智能、可扩展的架构，提升风电场的自动化控制水平和运行效率。项目历时一个暑期，代码规模约2万行C++，最终成功交付了一套统一的AGC系统、实时数据库监控工具以及六个独立的场景策略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一下项目的来源和背景。随着全国风电装机容量的快速增长，AGC系统作为电网调度的核心，其重要性不言而喻。然而，我们在前期调研中发现，现有的风电场AGC系统存在诸多问题。各个控制场景的仿真程序如同一个个孤岛，数据无法共享；系统缺乏标准的监控接口，运行状态如同黑盒；更严重的是，大量代码重复，开发模式混乱，这不仅增加了维护难度，也极大地限制了系统的扩展性。这些痛点正是我们本次改造的出发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上述问题，我们设计了全新的四层系统架构。自顶向下分别是统一AGC层、公共基础层、共享内存层和场景策略层。统一AGC层作为大脑，负责工况检测和策略调度；公共基础层提供统一的类型定义和算法库；共享内存层作为高速数据总线，连接所有模块；最底层是保留了原有算法逻辑的六个场景策略。我们的设计遵循了算法与通信解耦、最小侵入改造和策略模式三大原则，确保了系统的高内聚、低耦合和良好的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架构改造的第一步是统一基础。我们创建了CommonTypes.h文件，将原先分散在6个场景中的类型定义进行了全面梳理和合并，形成了一套全系统通用的类型系统。同时，我们将重复实现的PID控制器、限幅函数、功率曲线等核心算法抽象出来，构建了公共算法库。通过这项工作，我们成功消除了大量重复代码，例如PID控制器从4份减少到1份，不仅提升了代码质量，也为后续的维护和扩展奠定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表格展示了我们纳入统一架构的六个典型场景。每个场景都有其独特的核心算法和性能指标。值得强调的是，在将这些原有代码接入新架构的过程中，我们遵循了“最小侵入”原则。每个场景平均只需要修改不到10行代码，并且所有原始的算法逻辑都得到了完整保留。这充分证明了我们架构设计的合理性和兼容性，实现了对现有资产的最大化利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深入了解统一AGC系统的核心工作流程。每个控制周期，系统首先通过工况检测器分析当前的风机状态和调度指令，根据预设的优先级规则，决定应该激活哪个场景策略。然后，通过多态调用，执行该策略的step方法，计算出具体的风机控制指令。最后，将结果更新到共享内存中。整个流程清晰高效，而这一切的核心逻辑，仅仅用4行C++代码就可以概括，这充分体现了策略模式带来的简洁性和强大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工况检测器是实现智能切换的关键。我们设计了一个7级优先级的决策树。如大家所见，安全永远是最高优先级，其次是一次调频、风速波动抑制等。特别值得一提的是，我们为爬坡跟踪场景设计了滞回机制，有效防止了工况的频繁切换。所有这些决策逻辑的阈值都是可配置的，使得系统能够灵活适应不同风电场的运行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验证系统的有效性，我们进行了一场长达24小时的连续仿真测试。在测试中，我们模拟了启动、风速突变、通信中断、频率扰动、调度指令阶跃、限电管理以及极端风况等一系列复杂工况。从表格中可以看到，系统成功地自动识别并切换到了对应的场景策略，所有6个场景都被成功触发，并且切换过程平滑、无扰动。统计数据显示，系统在大部分时间内都稳定运行在常规模式，同时能够及时响应各种异常情况，这充分验证了我们设计的正确性和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代码质量和可靠性方面，我们进行了严格的编译和测试。所有11个目标文件，包括静态库、守护进程、测试程序以及6个独立场景和统一系统，均实现零错误编译。更重要的是，我们为公共算法库编写了全面的单元测试，覆盖了PID控制器、限幅函数、功率曲线等核心模块的22个测试点，所有测试全部通过。集成测试也表明，系统的阶跃响应快速且稳定。这些结果保证了交付系统的高质量和高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本系统的特点进行总结。它实现了工况的自动识别与无缝切换，构建了统一的数据空间，并通过算法与通信的分离，保证了系统的可扩展性和可演进性。新场景可以“即插即用”，系统具备容错降级能力，并且每一层都经过了充分的测试。这些特点共同构成了一个智能、高效、可靠且易于维护的现代化AGC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项目，我们成功交付了包括统一AGC系统、公共库、改造后的场景代码、完整的文档以及全面的测试报告在内的一系列成果。所有交付物均已通过验证。展望未来，我们计划开发更友好的GUI监控面板，进行更严苛的故障注入测试，并探索多场景并行仿真的可能性，持续推动系统向更智能、更强大的方向发展。我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jpe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jpe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5.jpeg"/><Relationship Id="rId7"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3.svg"/><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22.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26.svg"/><Relationship Id="rId4" Type="http://schemas.openxmlformats.org/officeDocument/2006/relationships/image" Target="../media/image25.sv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24.svg"/><Relationship Id="rId4" Type="http://schemas.openxmlformats.org/officeDocument/2006/relationships/image" Target="../media/image27.jpe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32.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31.svg"/><Relationship Id="rId4" Type="http://schemas.openxmlformats.org/officeDocument/2006/relationships/image" Target="../media/image30.svg"/></Relationships>
</file>

<file path=ppt/slides/_rels/slide10.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5.jpeg"/><Relationship Id="rId7" Type="http://schemas.openxmlformats.org/officeDocument/2006/relationships/image" Target="../media/image34.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20.svg"/><Relationship Id="rId10" Type="http://schemas.openxmlformats.org/officeDocument/2006/relationships/image" Target="../media/image22.svg"/><Relationship Id="rId4" Type="http://schemas.openxmlformats.org/officeDocument/2006/relationships/image" Target="../media/image3.svg"/><Relationship Id="rId9" Type="http://schemas.openxmlformats.org/officeDocument/2006/relationships/image" Target="../media/image36.svg"/></Relationships>
</file>

<file path=ppt/slides/_rels/slide1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5.jpeg"/><Relationship Id="rId7" Type="http://schemas.openxmlformats.org/officeDocument/2006/relationships/image" Target="../media/image13.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3.svg"/><Relationship Id="rId5" Type="http://schemas.openxmlformats.org/officeDocument/2006/relationships/image" Target="../media/image26.svg"/><Relationship Id="rId4" Type="http://schemas.openxmlformats.org/officeDocument/2006/relationships/image" Target="../media/image37.svg"/><Relationship Id="rId9" Type="http://schemas.openxmlformats.org/officeDocument/2006/relationships/image" Target="../media/image24.svg"/></Relationships>
</file>

<file path=ppt/slides/_rels/slide1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5.jpeg"/><Relationship Id="rId7" Type="http://schemas.openxmlformats.org/officeDocument/2006/relationships/image" Target="../media/image32.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0.svg"/><Relationship Id="rId5" Type="http://schemas.openxmlformats.org/officeDocument/2006/relationships/image" Target="../media/image39.jpeg"/><Relationship Id="rId4" Type="http://schemas.openxmlformats.org/officeDocument/2006/relationships/image" Target="../media/image38.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977079"/>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4800" b="1" i="0" u="none" strike="noStrike" dirty="0">
                <a:solidFill>
                  <a:srgbClr val="FFFFFF"/>
                </a:solidFill>
                <a:latin typeface="SimHei"/>
                <a:ea typeface="SimHei"/>
                <a:cs typeface="SimHei"/>
                <a:sym typeface="SimHei"/>
              </a:rPr>
              <a:t>下一代</a:t>
            </a:r>
            <a:r>
              <a:rPr lang="en-US" sz="4800" b="1" i="0" u="none" strike="noStrike" dirty="0" err="1">
                <a:solidFill>
                  <a:srgbClr val="FFFFFF"/>
                </a:solidFill>
                <a:latin typeface="SimHei"/>
                <a:ea typeface="SimHei"/>
                <a:cs typeface="SimHei"/>
                <a:sym typeface="SimHei"/>
              </a:rPr>
              <a:t>风电场AGC自动发电控制系统</a:t>
            </a:r>
            <a:endParaRPr lang="en-US" sz="1100" dirty="0"/>
          </a:p>
        </p:txBody>
      </p:sp>
      <p:sp>
        <p:nvSpPr>
          <p:cNvPr id="4" name="AutoShape 4"/>
          <p:cNvSpPr/>
          <p:nvPr/>
        </p:nvSpPr>
        <p:spPr>
          <a:xfrm>
            <a:off x="2230337" y="3247079"/>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600" b="0" i="0" u="none" strike="noStrike" dirty="0">
                <a:solidFill>
                  <a:srgbClr val="FFFFFF">
                    <a:alpha val="85098"/>
                  </a:srgbClr>
                </a:solidFill>
                <a:latin typeface="SimHei"/>
                <a:ea typeface="SimHei"/>
                <a:cs typeface="SimHei"/>
                <a:sym typeface="SimHei"/>
              </a:rPr>
              <a:t>——</a:t>
            </a:r>
            <a:r>
              <a:rPr lang="en-US" sz="2600" b="0" i="0" u="none" strike="noStrike" dirty="0" err="1">
                <a:solidFill>
                  <a:srgbClr val="FFFFFF">
                    <a:alpha val="85098"/>
                  </a:srgbClr>
                </a:solidFill>
                <a:latin typeface="SimHei"/>
                <a:ea typeface="SimHei"/>
                <a:cs typeface="SimHei"/>
                <a:sym typeface="SimHei"/>
              </a:rPr>
              <a:t>多场景统一架构改造与智能工况切换系统</a:t>
            </a:r>
            <a:endParaRPr lang="en-US" sz="2600" dirty="0"/>
          </a:p>
        </p:txBody>
      </p:sp>
      <p:sp>
        <p:nvSpPr>
          <p:cNvPr id="5" name="AutoShape 5"/>
          <p:cNvSpPr/>
          <p:nvPr/>
        </p:nvSpPr>
        <p:spPr>
          <a:xfrm>
            <a:off x="1490494" y="4348400"/>
            <a:ext cx="2667000" cy="1524000"/>
          </a:xfrm>
          <a:prstGeom prst="roundRect">
            <a:avLst>
              <a:gd name="adj" fmla="val 0"/>
            </a:avLst>
          </a:prstGeom>
          <a:solidFill>
            <a:srgbClr val="FFFFFF">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80994" y="4538900"/>
            <a:ext cx="304800" cy="304800"/>
          </a:xfrm>
          <a:prstGeom prst="rect">
            <a:avLst/>
          </a:prstGeom>
        </p:spPr>
      </p:pic>
      <p:sp>
        <p:nvSpPr>
          <p:cNvPr id="7" name="AutoShape 7"/>
          <p:cNvSpPr/>
          <p:nvPr/>
        </p:nvSpPr>
        <p:spPr>
          <a:xfrm>
            <a:off x="2100094" y="45389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SimHei"/>
                <a:ea typeface="SimHei"/>
                <a:cs typeface="SimHei"/>
                <a:sym typeface="SimHei"/>
              </a:rPr>
              <a:t>研发背景</a:t>
            </a:r>
            <a:endParaRPr lang="en-US" sz="1100"/>
          </a:p>
        </p:txBody>
      </p:sp>
      <p:sp>
        <p:nvSpPr>
          <p:cNvPr id="8" name="AutoShape 8"/>
          <p:cNvSpPr/>
          <p:nvPr/>
        </p:nvSpPr>
        <p:spPr>
          <a:xfrm>
            <a:off x="1680994" y="49834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74902"/>
                  </a:srgbClr>
                </a:solidFill>
                <a:latin typeface="SimHei"/>
                <a:ea typeface="SimHei"/>
                <a:cs typeface="SimHei"/>
                <a:sym typeface="SimHei"/>
              </a:rPr>
              <a:t>聚焦新能源控制痛点，开展暑期专项攻坚，打造高可靠、高并发的智能调度核心系统。</a:t>
            </a:r>
            <a:endParaRPr lang="en-US" sz="1100"/>
          </a:p>
        </p:txBody>
      </p:sp>
      <p:sp>
        <p:nvSpPr>
          <p:cNvPr id="13" name="AutoShape 13"/>
          <p:cNvSpPr/>
          <p:nvPr/>
        </p:nvSpPr>
        <p:spPr>
          <a:xfrm>
            <a:off x="4762500" y="4356235"/>
            <a:ext cx="2667000" cy="1524000"/>
          </a:xfrm>
          <a:prstGeom prst="roundRect">
            <a:avLst>
              <a:gd name="adj" fmla="val 0"/>
            </a:avLst>
          </a:prstGeom>
          <a:solidFill>
            <a:srgbClr val="FFFFFF">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53000" y="4546735"/>
            <a:ext cx="304800" cy="304800"/>
          </a:xfrm>
          <a:prstGeom prst="rect">
            <a:avLst/>
          </a:prstGeom>
        </p:spPr>
      </p:pic>
      <p:sp>
        <p:nvSpPr>
          <p:cNvPr id="15" name="AutoShape 15"/>
          <p:cNvSpPr/>
          <p:nvPr/>
        </p:nvSpPr>
        <p:spPr>
          <a:xfrm>
            <a:off x="5372100" y="4546735"/>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2C55E"/>
                </a:solidFill>
                <a:latin typeface="SimHei"/>
                <a:ea typeface="SimHei"/>
                <a:cs typeface="SimHei"/>
                <a:sym typeface="SimHei"/>
              </a:rPr>
              <a:t>工程体量</a:t>
            </a:r>
            <a:endParaRPr lang="en-US" sz="1100" dirty="0"/>
          </a:p>
        </p:txBody>
      </p:sp>
      <p:sp>
        <p:nvSpPr>
          <p:cNvPr id="16" name="AutoShape 16"/>
          <p:cNvSpPr/>
          <p:nvPr/>
        </p:nvSpPr>
        <p:spPr>
          <a:xfrm>
            <a:off x="4953000" y="4991235"/>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FFFFFF">
                    <a:alpha val="74902"/>
                  </a:srgbClr>
                </a:solidFill>
                <a:latin typeface="SimHei"/>
                <a:ea typeface="SimHei"/>
                <a:cs typeface="SimHei"/>
                <a:sym typeface="SimHei"/>
              </a:rPr>
              <a:t>累计编写100+工程源文件，沉淀20,000行高质量C++</a:t>
            </a:r>
            <a:r>
              <a:rPr lang="en-US" sz="1300" b="0" i="0" u="none" strike="noStrike" dirty="0" err="1">
                <a:solidFill>
                  <a:srgbClr val="FFFFFF">
                    <a:alpha val="74902"/>
                  </a:srgbClr>
                </a:solidFill>
                <a:latin typeface="SimHei"/>
                <a:ea typeface="SimHei"/>
                <a:cs typeface="SimHei"/>
                <a:sym typeface="SimHei"/>
              </a:rPr>
              <a:t>核心代码，构建高可用系统内核</a:t>
            </a:r>
            <a:r>
              <a:rPr lang="en-US" sz="1300" b="0" i="0" u="none" strike="noStrike" dirty="0">
                <a:solidFill>
                  <a:srgbClr val="FFFFFF">
                    <a:alpha val="74902"/>
                  </a:srgbClr>
                </a:solidFill>
                <a:latin typeface="SimHei"/>
                <a:ea typeface="SimHei"/>
                <a:cs typeface="SimHei"/>
                <a:sym typeface="SimHei"/>
              </a:rPr>
              <a:t>。</a:t>
            </a:r>
            <a:endParaRPr lang="en-US" sz="1100" dirty="0"/>
          </a:p>
        </p:txBody>
      </p:sp>
      <p:sp>
        <p:nvSpPr>
          <p:cNvPr id="17" name="AutoShape 17"/>
          <p:cNvSpPr/>
          <p:nvPr/>
        </p:nvSpPr>
        <p:spPr>
          <a:xfrm>
            <a:off x="8034506" y="4356235"/>
            <a:ext cx="2667000" cy="1524000"/>
          </a:xfrm>
          <a:prstGeom prst="roundRect">
            <a:avLst>
              <a:gd name="adj" fmla="val 0"/>
            </a:avLst>
          </a:prstGeom>
          <a:solidFill>
            <a:srgbClr val="FFFFFF">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25006" y="4546735"/>
            <a:ext cx="304800" cy="304800"/>
          </a:xfrm>
          <a:prstGeom prst="rect">
            <a:avLst/>
          </a:prstGeom>
        </p:spPr>
      </p:pic>
      <p:sp>
        <p:nvSpPr>
          <p:cNvPr id="19" name="AutoShape 19"/>
          <p:cNvSpPr/>
          <p:nvPr/>
        </p:nvSpPr>
        <p:spPr>
          <a:xfrm>
            <a:off x="8644106" y="4546735"/>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2C55E"/>
                </a:solidFill>
                <a:latin typeface="SimHei"/>
                <a:ea typeface="SimHei"/>
                <a:cs typeface="SimHei"/>
                <a:sym typeface="SimHei"/>
              </a:rPr>
              <a:t>核心成果</a:t>
            </a:r>
            <a:endParaRPr lang="en-US" sz="1100" dirty="0"/>
          </a:p>
        </p:txBody>
      </p:sp>
      <p:sp>
        <p:nvSpPr>
          <p:cNvPr id="20" name="AutoShape 20"/>
          <p:cNvSpPr/>
          <p:nvPr/>
        </p:nvSpPr>
        <p:spPr>
          <a:xfrm>
            <a:off x="8225006" y="4991235"/>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FFFFFF">
                    <a:alpha val="74902"/>
                  </a:srgbClr>
                </a:solidFill>
                <a:latin typeface="SimHei"/>
                <a:ea typeface="SimHei"/>
                <a:cs typeface="SimHei"/>
                <a:sym typeface="SimHei"/>
              </a:rPr>
              <a:t>交付统一AGC系统、RT_DB实时监控工具及6大独立场景策略模块，实现即插即用。</a:t>
            </a:r>
            <a:endParaRPr lang="en-US" sz="1100"/>
          </a:p>
        </p:txBody>
      </p:sp>
      <p:sp>
        <p:nvSpPr>
          <p:cNvPr id="24" name="AutoShape 4">
            <a:extLst>
              <a:ext uri="{FF2B5EF4-FFF2-40B4-BE49-F238E27FC236}">
                <a16:creationId xmlns:a16="http://schemas.microsoft.com/office/drawing/2014/main" id="{72E15319-EC12-F9EA-030E-7D5B2FBB4FC0}"/>
              </a:ext>
            </a:extLst>
          </p:cNvPr>
          <p:cNvSpPr/>
          <p:nvPr/>
        </p:nvSpPr>
        <p:spPr>
          <a:xfrm>
            <a:off x="4195325" y="612775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600" i="0" u="none" strike="noStrike" dirty="0">
                <a:solidFill>
                  <a:srgbClr val="FFFFFF">
                    <a:alpha val="85098"/>
                  </a:srgbClr>
                </a:solidFill>
                <a:latin typeface="SimHei"/>
                <a:ea typeface="SimHei"/>
                <a:cs typeface="SimHei"/>
                <a:sym typeface="SimHei"/>
              </a:rPr>
              <a:t>汇报人：王翰铭</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项目来源与背景</a:t>
            </a:r>
            <a:endParaRPr lang="en-US" sz="1100"/>
          </a:p>
        </p:txBody>
      </p:sp>
      <p:pic>
        <p:nvPicPr>
          <p:cNvPr id="4" name="Picture 4"/>
          <p:cNvPicPr>
            <a:picLocks noChangeAspect="1"/>
          </p:cNvPicPr>
          <p:nvPr/>
        </p:nvPicPr>
        <p:blipFill>
          <a:blip r:embed="rId4"/>
          <a:srcRect t="1440" b="1440"/>
          <a:stretch>
            <a:fillRect/>
          </a:stretch>
        </p:blipFill>
        <p:spPr>
          <a:xfrm>
            <a:off x="762000" y="1778000"/>
            <a:ext cx="4318000" cy="2794000"/>
          </a:xfrm>
          <a:prstGeom prst="roundRect">
            <a:avLst>
              <a:gd name="adj" fmla="val 5454"/>
            </a:avLst>
          </a:prstGeom>
          <a:noFill/>
          <a:ln w="25400" cap="flat" cmpd="sng">
            <a:noFill/>
            <a:prstDash val="solid"/>
            <a:round/>
          </a:ln>
          <a:effectLst>
            <a:outerShdw blurRad="203200" dist="76200" dir="2700000" algn="tl" rotWithShape="0">
              <a:srgbClr val="000000">
                <a:alpha val="10000"/>
              </a:srgbClr>
            </a:outerShdw>
          </a:effectLst>
        </p:spPr>
      </p:pic>
      <p:sp>
        <p:nvSpPr>
          <p:cNvPr id="5" name="AutoShape 5"/>
          <p:cNvSpPr/>
          <p:nvPr/>
        </p:nvSpPr>
        <p:spPr>
          <a:xfrm>
            <a:off x="762000" y="48895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a:solidFill>
                  <a:srgbClr val="374151"/>
                </a:solidFill>
                <a:latin typeface="SimHei"/>
                <a:ea typeface="SimHei"/>
                <a:cs typeface="SimHei"/>
                <a:sym typeface="SimHei"/>
              </a:rPr>
              <a:t>风电作为清洁能源的核心支柱，其装机规模的持续攀升对电网调度的智能化水平提出了更高要求。AGC系统作为平衡电力供需、保障电网稳定的关键中枢，是实现风电场精细化管理与高效并网的技术基石。</a:t>
            </a:r>
            <a:endParaRPr lang="en-US" sz="1200" dirty="0"/>
          </a:p>
        </p:txBody>
      </p:sp>
      <p:sp>
        <p:nvSpPr>
          <p:cNvPr id="6" name="AutoShape 6"/>
          <p:cNvSpPr/>
          <p:nvPr/>
        </p:nvSpPr>
        <p:spPr>
          <a:xfrm>
            <a:off x="5461000" y="1778000"/>
            <a:ext cx="5969000" cy="1778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9600" y="2006600"/>
            <a:ext cx="279400" cy="279400"/>
          </a:xfrm>
          <a:prstGeom prst="rect">
            <a:avLst/>
          </a:prstGeom>
        </p:spPr>
      </p:pic>
      <p:sp>
        <p:nvSpPr>
          <p:cNvPr id="8" name="AutoShape 8"/>
          <p:cNvSpPr/>
          <p:nvPr/>
        </p:nvSpPr>
        <p:spPr>
          <a:xfrm>
            <a:off x="6096000" y="1981200"/>
            <a:ext cx="520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22C55E"/>
                </a:solidFill>
                <a:latin typeface="SimHei"/>
                <a:ea typeface="SimHei"/>
                <a:cs typeface="SimHei"/>
                <a:sym typeface="SimHei"/>
              </a:rPr>
              <a:t>行业现状与需求升级</a:t>
            </a:r>
            <a:endParaRPr lang="en-US" sz="1200" dirty="0"/>
          </a:p>
        </p:txBody>
      </p:sp>
      <p:sp>
        <p:nvSpPr>
          <p:cNvPr id="9" name="AutoShape 9"/>
          <p:cNvSpPr/>
          <p:nvPr/>
        </p:nvSpPr>
        <p:spPr>
          <a:xfrm>
            <a:off x="5689600" y="2377030"/>
            <a:ext cx="5524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b="0" i="0" u="none" strike="noStrike" dirty="0">
                <a:solidFill>
                  <a:srgbClr val="374151"/>
                </a:solidFill>
                <a:latin typeface="SimHei"/>
                <a:ea typeface="SimHei"/>
                <a:cs typeface="SimHei"/>
                <a:sym typeface="SimHei"/>
              </a:rPr>
              <a:t>全国风电装机已突破4亿kW，AGC成为电网自动化调度的核心。面对常规调度、风速波动等6种典型工况，传统控制策略难以适配复杂多变的电网需求，亟需构建一套高鲁棒性、可扩展的控制系统。</a:t>
            </a:r>
            <a:endParaRPr lang="en-US" sz="1200" dirty="0"/>
          </a:p>
        </p:txBody>
      </p:sp>
      <p:sp>
        <p:nvSpPr>
          <p:cNvPr id="10" name="AutoShape 10"/>
          <p:cNvSpPr/>
          <p:nvPr/>
        </p:nvSpPr>
        <p:spPr>
          <a:xfrm>
            <a:off x="5461000" y="3810000"/>
            <a:ext cx="2857500" cy="1206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51500" y="4000500"/>
            <a:ext cx="254000" cy="254000"/>
          </a:xfrm>
          <a:prstGeom prst="rect">
            <a:avLst/>
          </a:prstGeom>
        </p:spPr>
      </p:pic>
      <p:sp>
        <p:nvSpPr>
          <p:cNvPr id="12" name="AutoShape 12"/>
          <p:cNvSpPr/>
          <p:nvPr/>
        </p:nvSpPr>
        <p:spPr>
          <a:xfrm>
            <a:off x="5994400" y="39751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信息孤岛效应显著</a:t>
            </a:r>
            <a:endParaRPr lang="en-US" sz="1200" dirty="0"/>
          </a:p>
        </p:txBody>
      </p:sp>
      <p:sp>
        <p:nvSpPr>
          <p:cNvPr id="13" name="AutoShape 13"/>
          <p:cNvSpPr/>
          <p:nvPr/>
        </p:nvSpPr>
        <p:spPr>
          <a:xfrm>
            <a:off x="5651500" y="4332404"/>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1300" dirty="0">
                <a:solidFill>
                  <a:srgbClr val="4B5563"/>
                </a:solidFill>
                <a:latin typeface="SimHei"/>
                <a:ea typeface="SimHei"/>
                <a:cs typeface="SimHei"/>
                <a:sym typeface="SimHei"/>
              </a:rPr>
              <a:t>多</a:t>
            </a:r>
            <a:r>
              <a:rPr lang="en-US" sz="1300" b="0" i="0" u="none" strike="noStrike" dirty="0" err="1">
                <a:solidFill>
                  <a:srgbClr val="4B5563"/>
                </a:solidFill>
                <a:latin typeface="SimHei"/>
                <a:ea typeface="SimHei"/>
                <a:cs typeface="SimHei"/>
                <a:sym typeface="SimHei"/>
              </a:rPr>
              <a:t>个仿真程序独立运行，无进程通信机制，数据完全割裂，形成管理盲区</a:t>
            </a:r>
            <a:r>
              <a:rPr lang="en-US" sz="1300" b="0" i="0" u="none" strike="noStrike" dirty="0">
                <a:solidFill>
                  <a:srgbClr val="4B5563"/>
                </a:solidFill>
                <a:latin typeface="SimHei"/>
                <a:ea typeface="SimHei"/>
                <a:cs typeface="SimHei"/>
                <a:sym typeface="SimHei"/>
              </a:rPr>
              <a:t>。</a:t>
            </a:r>
            <a:endParaRPr lang="en-US" sz="1300" dirty="0"/>
          </a:p>
        </p:txBody>
      </p:sp>
      <p:sp>
        <p:nvSpPr>
          <p:cNvPr id="14" name="AutoShape 14"/>
          <p:cNvSpPr/>
          <p:nvPr/>
        </p:nvSpPr>
        <p:spPr>
          <a:xfrm>
            <a:off x="8572500" y="3810000"/>
            <a:ext cx="2857500" cy="1206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63000" y="4000500"/>
            <a:ext cx="254000" cy="254000"/>
          </a:xfrm>
          <a:prstGeom prst="rect">
            <a:avLst/>
          </a:prstGeom>
        </p:spPr>
      </p:pic>
      <p:sp>
        <p:nvSpPr>
          <p:cNvPr id="16" name="AutoShape 16"/>
          <p:cNvSpPr/>
          <p:nvPr/>
        </p:nvSpPr>
        <p:spPr>
          <a:xfrm>
            <a:off x="9105900" y="39751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外部监控接口缺失</a:t>
            </a:r>
            <a:endParaRPr lang="en-US" sz="1200" dirty="0"/>
          </a:p>
        </p:txBody>
      </p:sp>
      <p:sp>
        <p:nvSpPr>
          <p:cNvPr id="17" name="AutoShape 17"/>
          <p:cNvSpPr/>
          <p:nvPr/>
        </p:nvSpPr>
        <p:spPr>
          <a:xfrm>
            <a:off x="8763000" y="4332404"/>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SimHei"/>
                <a:ea typeface="SimHei"/>
                <a:cs typeface="SimHei"/>
                <a:sym typeface="SimHei"/>
              </a:rPr>
              <a:t>无标准OPC</a:t>
            </a:r>
            <a:r>
              <a:rPr lang="en-US" sz="1300" b="0" i="0" u="none" strike="noStrike" dirty="0">
                <a:solidFill>
                  <a:srgbClr val="4B5563"/>
                </a:solidFill>
                <a:latin typeface="SimHei"/>
                <a:ea typeface="SimHei"/>
                <a:cs typeface="SimHei"/>
                <a:sym typeface="SimHei"/>
              </a:rPr>
              <a:t>/</a:t>
            </a:r>
            <a:r>
              <a:rPr lang="en-US" sz="1300" b="0" i="0" u="none" strike="noStrike" dirty="0" err="1">
                <a:solidFill>
                  <a:srgbClr val="4B5563"/>
                </a:solidFill>
                <a:latin typeface="SimHei"/>
                <a:ea typeface="SimHei"/>
                <a:cs typeface="SimHei"/>
                <a:sym typeface="SimHei"/>
              </a:rPr>
              <a:t>API接口，SCADA系统无法接入，运行状态完全不透明</a:t>
            </a:r>
            <a:r>
              <a:rPr lang="en-US" sz="1300" b="0" i="0" u="none" strike="noStrike" dirty="0">
                <a:solidFill>
                  <a:srgbClr val="4B5563"/>
                </a:solidFill>
                <a:latin typeface="SimHei"/>
                <a:ea typeface="SimHei"/>
                <a:cs typeface="SimHei"/>
                <a:sym typeface="SimHei"/>
              </a:rPr>
              <a:t>。</a:t>
            </a:r>
            <a:endParaRPr lang="en-US" sz="1300" dirty="0"/>
          </a:p>
        </p:txBody>
      </p:sp>
      <p:sp>
        <p:nvSpPr>
          <p:cNvPr id="18" name="AutoShape 18"/>
          <p:cNvSpPr/>
          <p:nvPr/>
        </p:nvSpPr>
        <p:spPr>
          <a:xfrm>
            <a:off x="5461000" y="5143500"/>
            <a:ext cx="2857500" cy="1206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1500" y="5334000"/>
            <a:ext cx="254000" cy="254000"/>
          </a:xfrm>
          <a:prstGeom prst="rect">
            <a:avLst/>
          </a:prstGeom>
        </p:spPr>
      </p:pic>
      <p:sp>
        <p:nvSpPr>
          <p:cNvPr id="20" name="AutoShape 20"/>
          <p:cNvSpPr/>
          <p:nvPr/>
        </p:nvSpPr>
        <p:spPr>
          <a:xfrm>
            <a:off x="5994400" y="53086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核心代码高度冗余</a:t>
            </a:r>
            <a:endParaRPr lang="en-US" sz="1200" dirty="0"/>
          </a:p>
        </p:txBody>
      </p:sp>
      <p:sp>
        <p:nvSpPr>
          <p:cNvPr id="21" name="AutoShape 21"/>
          <p:cNvSpPr/>
          <p:nvPr/>
        </p:nvSpPr>
        <p:spPr>
          <a:xfrm>
            <a:off x="5651500" y="5665904"/>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SimHei"/>
                <a:ea typeface="SimHei"/>
                <a:cs typeface="SimHei"/>
                <a:sym typeface="SimHei"/>
              </a:rPr>
              <a:t>PID等核心算法重复开发，场景定义不统一，维护成本高且迭代困难</a:t>
            </a:r>
            <a:r>
              <a:rPr lang="en-US" sz="1300" b="0" i="0" u="none" strike="noStrike" dirty="0">
                <a:solidFill>
                  <a:srgbClr val="4B5563"/>
                </a:solidFill>
                <a:latin typeface="SimHei"/>
                <a:ea typeface="SimHei"/>
                <a:cs typeface="SimHei"/>
                <a:sym typeface="SimHei"/>
              </a:rPr>
              <a:t>。</a:t>
            </a:r>
            <a:endParaRPr lang="en-US" sz="1300" dirty="0"/>
          </a:p>
        </p:txBody>
      </p:sp>
      <p:sp>
        <p:nvSpPr>
          <p:cNvPr id="22" name="AutoShape 22"/>
          <p:cNvSpPr/>
          <p:nvPr/>
        </p:nvSpPr>
        <p:spPr>
          <a:xfrm>
            <a:off x="8572500" y="5143500"/>
            <a:ext cx="2857500" cy="1206500"/>
          </a:xfrm>
          <a:prstGeom prst="roundRect">
            <a:avLst>
              <a:gd name="adj" fmla="val 0"/>
            </a:avLst>
          </a:prstGeom>
          <a:solidFill>
            <a:srgbClr val="FFFFFF">
              <a:alpha val="5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63000" y="5334000"/>
            <a:ext cx="254000" cy="254000"/>
          </a:xfrm>
          <a:prstGeom prst="rect">
            <a:avLst/>
          </a:prstGeom>
        </p:spPr>
      </p:pic>
      <p:sp>
        <p:nvSpPr>
          <p:cNvPr id="24" name="AutoShape 24"/>
          <p:cNvSpPr/>
          <p:nvPr/>
        </p:nvSpPr>
        <p:spPr>
          <a:xfrm>
            <a:off x="9105900" y="53086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开发模式分散低效</a:t>
            </a:r>
            <a:endParaRPr lang="en-US" sz="1200" dirty="0"/>
          </a:p>
        </p:txBody>
      </p:sp>
      <p:sp>
        <p:nvSpPr>
          <p:cNvPr id="25" name="AutoShape 25"/>
          <p:cNvSpPr/>
          <p:nvPr/>
        </p:nvSpPr>
        <p:spPr>
          <a:xfrm>
            <a:off x="8763000" y="5665904"/>
            <a:ext cx="254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SimHei"/>
                <a:ea typeface="SimHei"/>
                <a:cs typeface="SimHei"/>
                <a:sym typeface="SimHei"/>
              </a:rPr>
              <a:t>各自为政的“长沙盒”开发，风格迥异，系统集成与功能扩展严重受限</a:t>
            </a:r>
            <a:r>
              <a:rPr lang="en-US" sz="1300" b="0" i="0" u="none" strike="noStrike" dirty="0">
                <a:solidFill>
                  <a:srgbClr val="4B5563"/>
                </a:solidFill>
                <a:latin typeface="SimHei"/>
                <a:ea typeface="SimHei"/>
                <a:cs typeface="SimHei"/>
                <a:sym typeface="SimHei"/>
              </a:rPr>
              <a: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系统总体架构</a:t>
            </a:r>
            <a:endParaRPr lang="en-US" sz="1100"/>
          </a:p>
        </p:txBody>
      </p:sp>
      <p:grpSp>
        <p:nvGrpSpPr>
          <p:cNvPr id="26" name="组合 25">
            <a:extLst>
              <a:ext uri="{FF2B5EF4-FFF2-40B4-BE49-F238E27FC236}">
                <a16:creationId xmlns:a16="http://schemas.microsoft.com/office/drawing/2014/main" id="{F45ED570-E975-5BE7-D8F7-8AE63DBFF027}"/>
              </a:ext>
            </a:extLst>
          </p:cNvPr>
          <p:cNvGrpSpPr/>
          <p:nvPr/>
        </p:nvGrpSpPr>
        <p:grpSpPr>
          <a:xfrm>
            <a:off x="762000" y="5270500"/>
            <a:ext cx="5207000" cy="1079500"/>
            <a:chOff x="762000" y="1651000"/>
            <a:chExt cx="5207000" cy="1079500"/>
          </a:xfrm>
        </p:grpSpPr>
        <p:sp>
          <p:nvSpPr>
            <p:cNvPr id="4" name="AutoShape 4"/>
            <p:cNvSpPr/>
            <p:nvPr/>
          </p:nvSpPr>
          <p:spPr>
            <a:xfrm>
              <a:off x="762000" y="1651000"/>
              <a:ext cx="5207000" cy="1079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89000" y="1752600"/>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22C55E"/>
                  </a:solidFill>
                  <a:latin typeface="SimHei"/>
                  <a:ea typeface="SimHei"/>
                  <a:cs typeface="SimHei"/>
                  <a:sym typeface="SimHei"/>
                </a:rPr>
                <a:t>04 </a:t>
              </a:r>
              <a:r>
                <a:rPr lang="en-US" sz="1800" b="1" i="0" u="none" strike="noStrike" dirty="0" err="1">
                  <a:solidFill>
                    <a:srgbClr val="22C55E"/>
                  </a:solidFill>
                  <a:latin typeface="SimHei"/>
                  <a:ea typeface="SimHei"/>
                  <a:cs typeface="SimHei"/>
                  <a:sym typeface="SimHei"/>
                </a:rPr>
                <a:t>统一AGC层</a:t>
              </a:r>
              <a:r>
                <a:rPr lang="en-US" sz="1800" b="1" i="0" u="none" strike="noStrike" dirty="0">
                  <a:solidFill>
                    <a:srgbClr val="22C55E"/>
                  </a:solidFill>
                  <a:latin typeface="SimHei"/>
                  <a:ea typeface="SimHei"/>
                  <a:cs typeface="SimHei"/>
                  <a:sym typeface="SimHei"/>
                </a:rPr>
                <a:t> (</a:t>
              </a:r>
              <a:r>
                <a:rPr lang="en-US" sz="1800" b="1" i="0" u="none" strike="noStrike" dirty="0" err="1">
                  <a:solidFill>
                    <a:srgbClr val="22C55E"/>
                  </a:solidFill>
                  <a:latin typeface="SimHei"/>
                  <a:ea typeface="SimHei"/>
                  <a:cs typeface="SimHei"/>
                  <a:sym typeface="SimHei"/>
                </a:rPr>
                <a:t>unified_agc</a:t>
              </a:r>
              <a:r>
                <a:rPr lang="en-US" sz="1800" b="1" i="0" u="none" strike="noStrike" dirty="0">
                  <a:solidFill>
                    <a:srgbClr val="22C55E"/>
                  </a:solidFill>
                  <a:latin typeface="SimHei"/>
                  <a:ea typeface="SimHei"/>
                  <a:cs typeface="SimHei"/>
                  <a:sym typeface="SimHei"/>
                </a:rPr>
                <a:t>/)</a:t>
              </a:r>
              <a:endParaRPr lang="en-US" sz="1800" dirty="0"/>
            </a:p>
            <a:p>
              <a:pPr marL="0" indent="0" algn="l">
                <a:lnSpc>
                  <a:spcPct val="108333"/>
                </a:lnSpc>
              </a:pPr>
              <a:r>
                <a:rPr lang="en-US" b="0" i="0" u="none" strike="noStrike" dirty="0">
                  <a:solidFill>
                    <a:srgbClr val="374151"/>
                  </a:solidFill>
                  <a:latin typeface="SimHei"/>
                  <a:ea typeface="SimHei"/>
                  <a:cs typeface="SimHei"/>
                  <a:sym typeface="SimHei"/>
                </a:rPr>
                <a:t>系统“大脑”，含11个核心文件。实现工况检测(</a:t>
              </a:r>
              <a:r>
                <a:rPr lang="en-US" b="0" i="0" u="none" strike="noStrike" dirty="0" err="1">
                  <a:solidFill>
                    <a:srgbClr val="374151"/>
                  </a:solidFill>
                  <a:latin typeface="SimHei"/>
                  <a:ea typeface="SimHei"/>
                  <a:cs typeface="SimHei"/>
                  <a:sym typeface="SimHei"/>
                </a:rPr>
                <a:t>ConditionDetector</a:t>
              </a:r>
              <a:r>
                <a:rPr lang="en-US" b="0" i="0" u="none" strike="noStrike" dirty="0">
                  <a:solidFill>
                    <a:srgbClr val="374151"/>
                  </a:solidFill>
                  <a:latin typeface="SimHei"/>
                  <a:ea typeface="SimHei"/>
                  <a:cs typeface="SimHei"/>
                  <a:sym typeface="SimHei"/>
                </a:rPr>
                <a:t>)与6大策略的智能调度，通过step()</a:t>
              </a:r>
              <a:r>
                <a:rPr lang="en-US" b="0" i="0" u="none" strike="noStrike" dirty="0" err="1">
                  <a:solidFill>
                    <a:srgbClr val="374151"/>
                  </a:solidFill>
                  <a:latin typeface="SimHei"/>
                  <a:ea typeface="SimHei"/>
                  <a:cs typeface="SimHei"/>
                  <a:sym typeface="SimHei"/>
                </a:rPr>
                <a:t>驱动执行，统筹全局控制逻辑</a:t>
              </a:r>
              <a:r>
                <a:rPr lang="en-US" b="0" i="0" u="none" strike="noStrike" dirty="0">
                  <a:solidFill>
                    <a:srgbClr val="374151"/>
                  </a:solidFill>
                  <a:latin typeface="SimHei"/>
                  <a:ea typeface="SimHei"/>
                  <a:cs typeface="SimHei"/>
                  <a:sym typeface="SimHei"/>
                </a:rPr>
                <a:t>。</a:t>
              </a:r>
            </a:p>
          </p:txBody>
        </p:sp>
      </p:grpSp>
      <p:grpSp>
        <p:nvGrpSpPr>
          <p:cNvPr id="27" name="组合 26">
            <a:extLst>
              <a:ext uri="{FF2B5EF4-FFF2-40B4-BE49-F238E27FC236}">
                <a16:creationId xmlns:a16="http://schemas.microsoft.com/office/drawing/2014/main" id="{F31FEF35-7786-C865-EB32-06B9967EB011}"/>
              </a:ext>
            </a:extLst>
          </p:cNvPr>
          <p:cNvGrpSpPr/>
          <p:nvPr/>
        </p:nvGrpSpPr>
        <p:grpSpPr>
          <a:xfrm>
            <a:off x="762000" y="2857500"/>
            <a:ext cx="5207000" cy="1079500"/>
            <a:chOff x="762000" y="2857500"/>
            <a:chExt cx="5207000" cy="1079500"/>
          </a:xfrm>
        </p:grpSpPr>
        <p:sp>
          <p:nvSpPr>
            <p:cNvPr id="6" name="AutoShape 6"/>
            <p:cNvSpPr/>
            <p:nvPr/>
          </p:nvSpPr>
          <p:spPr>
            <a:xfrm>
              <a:off x="762000" y="2857500"/>
              <a:ext cx="5207000" cy="1079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89000" y="2897730"/>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22C55E"/>
                  </a:solidFill>
                  <a:latin typeface="SimHei"/>
                  <a:ea typeface="SimHei"/>
                  <a:cs typeface="SimHei"/>
                  <a:sym typeface="SimHei"/>
                </a:rPr>
                <a:t>02 </a:t>
              </a:r>
              <a:r>
                <a:rPr lang="en-US" sz="1800" b="1" i="0" u="none" strike="noStrike" dirty="0" err="1">
                  <a:solidFill>
                    <a:srgbClr val="22C55E"/>
                  </a:solidFill>
                  <a:latin typeface="SimHei"/>
                  <a:ea typeface="SimHei"/>
                  <a:cs typeface="SimHei"/>
                  <a:sym typeface="SimHei"/>
                </a:rPr>
                <a:t>公共基础层</a:t>
              </a:r>
              <a:r>
                <a:rPr lang="en-US" sz="1800" b="1" i="0" u="none" strike="noStrike" dirty="0">
                  <a:solidFill>
                    <a:srgbClr val="22C55E"/>
                  </a:solidFill>
                  <a:latin typeface="SimHei"/>
                  <a:ea typeface="SimHei"/>
                  <a:cs typeface="SimHei"/>
                  <a:sym typeface="SimHei"/>
                </a:rPr>
                <a:t> (common/)</a:t>
              </a:r>
              <a:endParaRPr lang="en-US" sz="1800" dirty="0"/>
            </a:p>
            <a:p>
              <a:pPr marL="0" indent="0" algn="l">
                <a:lnSpc>
                  <a:spcPct val="108333"/>
                </a:lnSpc>
              </a:pPr>
              <a:r>
                <a:rPr lang="en-US" b="0" i="0" u="none" strike="noStrike" dirty="0" err="1">
                  <a:solidFill>
                    <a:srgbClr val="374151"/>
                  </a:solidFill>
                  <a:latin typeface="SimHei"/>
                  <a:ea typeface="SimHei"/>
                  <a:cs typeface="SimHei"/>
                  <a:sym typeface="SimHei"/>
                </a:rPr>
                <a:t>底层通用能力库，封装通用数据类型、PID控制算法、安全限幅器及风机功率曲线模型，为上层提供稳定的算法支撑</a:t>
              </a:r>
              <a:r>
                <a:rPr lang="en-US" b="0" i="0" u="none" strike="noStrike" dirty="0">
                  <a:solidFill>
                    <a:srgbClr val="374151"/>
                  </a:solidFill>
                  <a:latin typeface="SimHei"/>
                  <a:ea typeface="SimHei"/>
                  <a:cs typeface="SimHei"/>
                  <a:sym typeface="SimHei"/>
                </a:rPr>
                <a:t>。</a:t>
              </a:r>
            </a:p>
          </p:txBody>
        </p:sp>
      </p:grpSp>
      <p:grpSp>
        <p:nvGrpSpPr>
          <p:cNvPr id="28" name="组合 27">
            <a:extLst>
              <a:ext uri="{FF2B5EF4-FFF2-40B4-BE49-F238E27FC236}">
                <a16:creationId xmlns:a16="http://schemas.microsoft.com/office/drawing/2014/main" id="{77AEAC0B-715D-3A1F-8B77-5E26D9D55DC5}"/>
              </a:ext>
            </a:extLst>
          </p:cNvPr>
          <p:cNvGrpSpPr/>
          <p:nvPr/>
        </p:nvGrpSpPr>
        <p:grpSpPr>
          <a:xfrm>
            <a:off x="762000" y="1651000"/>
            <a:ext cx="5207000" cy="1079500"/>
            <a:chOff x="762000" y="4064000"/>
            <a:chExt cx="5207000" cy="1079500"/>
          </a:xfrm>
        </p:grpSpPr>
        <p:sp>
          <p:nvSpPr>
            <p:cNvPr id="8" name="AutoShape 8"/>
            <p:cNvSpPr/>
            <p:nvPr/>
          </p:nvSpPr>
          <p:spPr>
            <a:xfrm>
              <a:off x="762000" y="4064000"/>
              <a:ext cx="5207000" cy="1079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89000" y="4104230"/>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22C55E"/>
                  </a:solidFill>
                  <a:latin typeface="SimHei"/>
                  <a:ea typeface="SimHei"/>
                  <a:cs typeface="SimHei"/>
                  <a:sym typeface="SimHei"/>
                </a:rPr>
                <a:t>01 </a:t>
              </a:r>
              <a:r>
                <a:rPr lang="en-US" sz="1800" b="1" i="0" u="none" strike="noStrike" dirty="0" err="1">
                  <a:solidFill>
                    <a:srgbClr val="22C55E"/>
                  </a:solidFill>
                  <a:latin typeface="SimHei"/>
                  <a:ea typeface="SimHei"/>
                  <a:cs typeface="SimHei"/>
                  <a:sym typeface="SimHei"/>
                </a:rPr>
                <a:t>共享内存层</a:t>
              </a:r>
              <a:r>
                <a:rPr lang="en-US" sz="1800" b="1" i="0" u="none" strike="noStrike" dirty="0">
                  <a:solidFill>
                    <a:srgbClr val="22C55E"/>
                  </a:solidFill>
                  <a:latin typeface="SimHei"/>
                  <a:ea typeface="SimHei"/>
                  <a:cs typeface="SimHei"/>
                  <a:sym typeface="SimHei"/>
                </a:rPr>
                <a:t> (RT_DB)</a:t>
              </a:r>
              <a:endParaRPr lang="en-US" sz="1800" dirty="0"/>
            </a:p>
            <a:p>
              <a:pPr marL="0" indent="0" algn="l">
                <a:lnSpc>
                  <a:spcPct val="108333"/>
                </a:lnSpc>
              </a:pPr>
              <a:r>
                <a:rPr lang="en-US" b="0" i="0" u="none" strike="noStrike" dirty="0">
                  <a:solidFill>
                    <a:srgbClr val="374151"/>
                  </a:solidFill>
                  <a:latin typeface="SimHei"/>
                  <a:ea typeface="SimHei"/>
                  <a:cs typeface="SimHei"/>
                  <a:sym typeface="SimHei"/>
                </a:rPr>
                <a:t>高速数据总线，承载881个实时数据点与256个指令队列。采用seqlock无锁读写与SPSC环形队列，保障微秒级低延迟通信。</a:t>
              </a:r>
            </a:p>
          </p:txBody>
        </p:sp>
      </p:grpSp>
      <p:grpSp>
        <p:nvGrpSpPr>
          <p:cNvPr id="29" name="组合 28">
            <a:extLst>
              <a:ext uri="{FF2B5EF4-FFF2-40B4-BE49-F238E27FC236}">
                <a16:creationId xmlns:a16="http://schemas.microsoft.com/office/drawing/2014/main" id="{06A4364B-0A76-0CF6-2704-3C15FCA63CB5}"/>
              </a:ext>
            </a:extLst>
          </p:cNvPr>
          <p:cNvGrpSpPr/>
          <p:nvPr/>
        </p:nvGrpSpPr>
        <p:grpSpPr>
          <a:xfrm>
            <a:off x="762000" y="4064000"/>
            <a:ext cx="5207000" cy="1079500"/>
            <a:chOff x="762000" y="5270500"/>
            <a:chExt cx="5207000" cy="1079500"/>
          </a:xfrm>
        </p:grpSpPr>
        <p:sp>
          <p:nvSpPr>
            <p:cNvPr id="10" name="AutoShape 10"/>
            <p:cNvSpPr/>
            <p:nvPr/>
          </p:nvSpPr>
          <p:spPr>
            <a:xfrm>
              <a:off x="762000" y="5270500"/>
              <a:ext cx="5207000" cy="1079500"/>
            </a:xfrm>
            <a:prstGeom prst="roundRect">
              <a:avLst>
                <a:gd name="adj" fmla="val 0"/>
              </a:avLst>
            </a:prstGeom>
            <a:solidFill>
              <a:srgbClr val="FFFFFF">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5310730"/>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22C55E"/>
                  </a:solidFill>
                  <a:latin typeface="SimHei"/>
                  <a:ea typeface="SimHei"/>
                  <a:cs typeface="SimHei"/>
                  <a:sym typeface="SimHei"/>
                </a:rPr>
                <a:t>03 </a:t>
              </a:r>
              <a:r>
                <a:rPr lang="en-US" sz="1800" b="1" i="0" u="none" strike="noStrike" dirty="0" err="1">
                  <a:solidFill>
                    <a:srgbClr val="22C55E"/>
                  </a:solidFill>
                  <a:latin typeface="SimHei"/>
                  <a:ea typeface="SimHei"/>
                  <a:cs typeface="SimHei"/>
                  <a:sym typeface="SimHei"/>
                </a:rPr>
                <a:t>场景策略层</a:t>
              </a:r>
              <a:r>
                <a:rPr lang="en-US" sz="1800" b="1" i="0" u="none" strike="noStrike" dirty="0">
                  <a:solidFill>
                    <a:srgbClr val="22C55E"/>
                  </a:solidFill>
                  <a:latin typeface="SimHei"/>
                  <a:ea typeface="SimHei"/>
                  <a:cs typeface="SimHei"/>
                  <a:sym typeface="SimHei"/>
                </a:rPr>
                <a:t> (Scene Strategies)</a:t>
              </a:r>
              <a:endParaRPr lang="en-US" sz="1800" dirty="0"/>
            </a:p>
            <a:p>
              <a:pPr marL="0" indent="0" algn="l">
                <a:lnSpc>
                  <a:spcPct val="108333"/>
                </a:lnSpc>
              </a:pPr>
              <a:r>
                <a:rPr lang="en-US" b="0" i="0" u="none" strike="noStrike" dirty="0">
                  <a:solidFill>
                    <a:srgbClr val="374151"/>
                  </a:solidFill>
                  <a:latin typeface="SimHei"/>
                  <a:ea typeface="SimHei"/>
                  <a:cs typeface="SimHei"/>
                  <a:sym typeface="SimHei"/>
                </a:rPr>
                <a:t>保留核心算法，覆盖6种典型应用场景（如100台集群控制、单机控制等），</a:t>
              </a:r>
              <a:r>
                <a:rPr lang="en-US" b="0" i="0" u="none" strike="noStrike" dirty="0" err="1">
                  <a:solidFill>
                    <a:srgbClr val="374151"/>
                  </a:solidFill>
                  <a:latin typeface="SimHei"/>
                  <a:ea typeface="SimHei"/>
                  <a:cs typeface="SimHei"/>
                  <a:sym typeface="SimHei"/>
                </a:rPr>
                <a:t>实现业务逻辑与底层架构的无缝衔接</a:t>
              </a:r>
              <a:r>
                <a:rPr lang="en-US" b="0" i="0" u="none" strike="noStrike" dirty="0">
                  <a:solidFill>
                    <a:srgbClr val="374151"/>
                  </a:solidFill>
                  <a:latin typeface="SimHei"/>
                  <a:ea typeface="SimHei"/>
                  <a:cs typeface="SimHei"/>
                  <a:sym typeface="SimHei"/>
                </a:rPr>
                <a:t>。</a:t>
              </a:r>
            </a:p>
          </p:txBody>
        </p:sp>
      </p:grpSp>
      <p:pic>
        <p:nvPicPr>
          <p:cNvPr id="12" name="Picture 12"/>
          <p:cNvPicPr>
            <a:picLocks noChangeAspect="1"/>
          </p:cNvPicPr>
          <p:nvPr/>
        </p:nvPicPr>
        <p:blipFill>
          <a:blip r:embed="rId4"/>
          <a:srcRect t="1755" b="1755"/>
          <a:stretch>
            <a:fillRect/>
          </a:stretch>
        </p:blipFill>
        <p:spPr>
          <a:xfrm>
            <a:off x="6350000" y="1651000"/>
            <a:ext cx="3556000" cy="2286000"/>
          </a:xfrm>
          <a:prstGeom prst="roundRect">
            <a:avLst>
              <a:gd name="adj" fmla="val 6666"/>
            </a:avLst>
          </a:prstGeom>
          <a:noFill/>
          <a:ln w="25400" cap="flat" cmpd="sng">
            <a:solidFill>
              <a:srgbClr val="22C55E">
                <a:alpha val="60000"/>
              </a:srgbClr>
            </a:solidFill>
            <a:prstDash val="solid"/>
            <a:round/>
          </a:ln>
        </p:spPr>
      </p:pic>
      <p:sp>
        <p:nvSpPr>
          <p:cNvPr id="13" name="AutoShape 13"/>
          <p:cNvSpPr/>
          <p:nvPr/>
        </p:nvSpPr>
        <p:spPr>
          <a:xfrm>
            <a:off x="10033000" y="1651000"/>
            <a:ext cx="177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800" b="1" i="0" u="none" strike="noStrike" dirty="0" err="1">
                <a:solidFill>
                  <a:srgbClr val="1F2937"/>
                </a:solidFill>
                <a:latin typeface="SimHei"/>
                <a:ea typeface="SimHei"/>
                <a:cs typeface="SimHei"/>
                <a:sym typeface="SimHei"/>
              </a:rPr>
              <a:t>算力底座保障</a:t>
            </a:r>
            <a:endParaRPr lang="en-US" dirty="0"/>
          </a:p>
          <a:p>
            <a:pPr marL="0" indent="0" algn="l">
              <a:lnSpc>
                <a:spcPct val="116666"/>
              </a:lnSpc>
            </a:pPr>
            <a:r>
              <a:rPr lang="en-US" b="0" i="0" u="none" strike="noStrike" dirty="0">
                <a:solidFill>
                  <a:srgbClr val="4B5563"/>
                </a:solidFill>
                <a:latin typeface="SimHei"/>
                <a:ea typeface="SimHei"/>
                <a:cs typeface="SimHei"/>
                <a:sym typeface="SimHei"/>
              </a:rPr>
              <a:t>依托高性能分布式计算集群，确保海量数据毫秒级处理与系统7x24小时不间断稳定运行。</a:t>
            </a:r>
          </a:p>
        </p:txBody>
      </p:sp>
      <p:sp>
        <p:nvSpPr>
          <p:cNvPr id="14" name="AutoShape 14"/>
          <p:cNvSpPr/>
          <p:nvPr/>
        </p:nvSpPr>
        <p:spPr>
          <a:xfrm>
            <a:off x="6350000" y="4381500"/>
            <a:ext cx="1841500" cy="1968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02400" y="4546600"/>
            <a:ext cx="304800" cy="304800"/>
          </a:xfrm>
          <a:prstGeom prst="rect">
            <a:avLst/>
          </a:prstGeom>
        </p:spPr>
      </p:pic>
      <p:sp>
        <p:nvSpPr>
          <p:cNvPr id="16" name="AutoShape 16"/>
          <p:cNvSpPr/>
          <p:nvPr/>
        </p:nvSpPr>
        <p:spPr>
          <a:xfrm>
            <a:off x="6858000" y="45466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逻辑解耦</a:t>
            </a:r>
            <a:endParaRPr lang="en-US" dirty="0"/>
          </a:p>
        </p:txBody>
      </p:sp>
      <p:sp>
        <p:nvSpPr>
          <p:cNvPr id="17" name="AutoShape 17"/>
          <p:cNvSpPr/>
          <p:nvPr/>
        </p:nvSpPr>
        <p:spPr>
          <a:xfrm>
            <a:off x="6502400" y="5016500"/>
            <a:ext cx="158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控制算法与通信机制分离，策略层无需感知总线细节，专注业务逻辑，降低系统耦合度</a:t>
            </a:r>
            <a:r>
              <a:rPr lang="en-US" b="0" i="0" u="none" strike="noStrike" dirty="0">
                <a:solidFill>
                  <a:srgbClr val="4B5563"/>
                </a:solidFill>
                <a:latin typeface="SimHei"/>
                <a:ea typeface="SimHei"/>
                <a:cs typeface="SimHei"/>
                <a:sym typeface="SimHei"/>
              </a:rPr>
              <a:t>。</a:t>
            </a:r>
            <a:endParaRPr lang="en-US" sz="1200" dirty="0"/>
          </a:p>
        </p:txBody>
      </p:sp>
      <p:sp>
        <p:nvSpPr>
          <p:cNvPr id="18" name="AutoShape 18"/>
          <p:cNvSpPr/>
          <p:nvPr/>
        </p:nvSpPr>
        <p:spPr>
          <a:xfrm>
            <a:off x="8280400" y="4381500"/>
            <a:ext cx="1841500" cy="1968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4546600"/>
            <a:ext cx="304800" cy="304800"/>
          </a:xfrm>
          <a:prstGeom prst="rect">
            <a:avLst/>
          </a:prstGeom>
        </p:spPr>
      </p:pic>
      <p:sp>
        <p:nvSpPr>
          <p:cNvPr id="20" name="AutoShape 20"/>
          <p:cNvSpPr/>
          <p:nvPr/>
        </p:nvSpPr>
        <p:spPr>
          <a:xfrm>
            <a:off x="8788400" y="45466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平滑迁移</a:t>
            </a:r>
            <a:endParaRPr lang="en-US" dirty="0"/>
          </a:p>
        </p:txBody>
      </p:sp>
      <p:sp>
        <p:nvSpPr>
          <p:cNvPr id="21" name="AutoShape 21"/>
          <p:cNvSpPr/>
          <p:nvPr/>
        </p:nvSpPr>
        <p:spPr>
          <a:xfrm>
            <a:off x="8432800" y="5016500"/>
            <a:ext cx="158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原场景算法逻辑零改动，仅需简单适配即可接入新架构，最大化复用历史资产，降低改造成本</a:t>
            </a:r>
            <a:r>
              <a:rPr lang="en-US" b="0" i="0" u="none" strike="noStrike" dirty="0">
                <a:solidFill>
                  <a:srgbClr val="4B5563"/>
                </a:solidFill>
                <a:latin typeface="SimHei"/>
                <a:ea typeface="SimHei"/>
                <a:cs typeface="SimHei"/>
                <a:sym typeface="SimHei"/>
              </a:rPr>
              <a:t>。</a:t>
            </a:r>
            <a:endParaRPr lang="en-US" sz="1200" dirty="0"/>
          </a:p>
        </p:txBody>
      </p:sp>
      <p:sp>
        <p:nvSpPr>
          <p:cNvPr id="22" name="AutoShape 22"/>
          <p:cNvSpPr/>
          <p:nvPr/>
        </p:nvSpPr>
        <p:spPr>
          <a:xfrm>
            <a:off x="10223500" y="4381500"/>
            <a:ext cx="1841500" cy="1968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75900" y="4546600"/>
            <a:ext cx="304800" cy="304800"/>
          </a:xfrm>
          <a:prstGeom prst="rect">
            <a:avLst/>
          </a:prstGeom>
        </p:spPr>
      </p:pic>
      <p:sp>
        <p:nvSpPr>
          <p:cNvPr id="24" name="AutoShape 24"/>
          <p:cNvSpPr/>
          <p:nvPr/>
        </p:nvSpPr>
        <p:spPr>
          <a:xfrm>
            <a:off x="10731500" y="4546600"/>
            <a:ext cx="139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灵活扩展</a:t>
            </a:r>
            <a:endParaRPr lang="en-US" dirty="0"/>
          </a:p>
        </p:txBody>
      </p:sp>
      <p:sp>
        <p:nvSpPr>
          <p:cNvPr id="25" name="AutoShape 25"/>
          <p:cNvSpPr/>
          <p:nvPr/>
        </p:nvSpPr>
        <p:spPr>
          <a:xfrm>
            <a:off x="10375900" y="5016500"/>
            <a:ext cx="158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基于策略模式与多态设计，新增控制策略无需修改核心代码，系统具备极强的扩展性与维护性</a:t>
            </a:r>
            <a:r>
              <a:rPr lang="en-US" b="0" i="0" u="none" strike="noStrike" dirty="0">
                <a:solidFill>
                  <a:srgbClr val="4B5563"/>
                </a:solidFill>
                <a:latin typeface="SimHei"/>
                <a:ea typeface="SimHei"/>
                <a:cs typeface="SimHei"/>
                <a:sym typeface="SimHei"/>
              </a:rPr>
              <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统一类型系统与公共算法库</a:t>
            </a:r>
            <a:endParaRPr lang="en-US" sz="1100"/>
          </a:p>
        </p:txBody>
      </p:sp>
      <p:sp>
        <p:nvSpPr>
          <p:cNvPr id="4" name="AutoShape 4"/>
          <p:cNvSpPr/>
          <p:nvPr/>
        </p:nvSpPr>
        <p:spPr>
          <a:xfrm>
            <a:off x="762000" y="1524000"/>
            <a:ext cx="10668000" cy="1206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14500"/>
            <a:ext cx="304800" cy="304800"/>
          </a:xfrm>
          <a:prstGeom prst="rect">
            <a:avLst/>
          </a:prstGeom>
        </p:spPr>
      </p:pic>
      <p:sp>
        <p:nvSpPr>
          <p:cNvPr id="6" name="AutoShape 6"/>
          <p:cNvSpPr/>
          <p:nvPr/>
        </p:nvSpPr>
        <p:spPr>
          <a:xfrm>
            <a:off x="1460500" y="1689100"/>
            <a:ext cx="990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1F2937"/>
                </a:solidFill>
                <a:latin typeface="SimHei"/>
                <a:ea typeface="SimHei"/>
                <a:cs typeface="SimHei"/>
                <a:sym typeface="SimHei"/>
              </a:rPr>
              <a:t>CommonTypes.h</a:t>
            </a:r>
            <a:r>
              <a:rPr lang="en-US" sz="2000" b="1" i="0" u="none" strike="noStrike" dirty="0">
                <a:solidFill>
                  <a:srgbClr val="1F2937"/>
                </a:solidFill>
                <a:latin typeface="SimHei"/>
                <a:ea typeface="SimHei"/>
                <a:cs typeface="SimHei"/>
                <a:sym typeface="SimHei"/>
              </a:rPr>
              <a:t> — </a:t>
            </a:r>
            <a:r>
              <a:rPr lang="en-US" sz="2000" b="1" i="0" u="none" strike="noStrike" dirty="0" err="1">
                <a:solidFill>
                  <a:srgbClr val="1F2937"/>
                </a:solidFill>
                <a:latin typeface="SimHei"/>
                <a:ea typeface="SimHei"/>
                <a:cs typeface="SimHei"/>
                <a:sym typeface="SimHei"/>
              </a:rPr>
              <a:t>全场景类型定义统一基石</a:t>
            </a:r>
            <a:endParaRPr lang="en-US" sz="1200" dirty="0"/>
          </a:p>
        </p:txBody>
      </p:sp>
      <p:sp>
        <p:nvSpPr>
          <p:cNvPr id="7" name="AutoShape 7"/>
          <p:cNvSpPr/>
          <p:nvPr/>
        </p:nvSpPr>
        <p:spPr>
          <a:xfrm>
            <a:off x="1016000" y="2133600"/>
            <a:ext cx="1016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0" i="0" u="none" strike="noStrike" dirty="0">
                <a:solidFill>
                  <a:srgbClr val="4B5563"/>
                </a:solidFill>
                <a:latin typeface="SimHei"/>
                <a:ea typeface="SimHei"/>
                <a:cs typeface="SimHei"/>
                <a:sym typeface="SimHei"/>
              </a:rPr>
              <a:t>整合</a:t>
            </a:r>
            <a:r>
              <a:rPr lang="en-US" sz="1500" b="1" i="0" u="none" strike="noStrike" dirty="0">
                <a:solidFill>
                  <a:srgbClr val="22C55E"/>
                </a:solidFill>
                <a:latin typeface="SimHei"/>
                <a:ea typeface="SimHei"/>
                <a:cs typeface="SimHei"/>
                <a:sym typeface="SimHei"/>
              </a:rPr>
              <a:t>10组核心枚举</a:t>
            </a:r>
            <a:r>
              <a:rPr lang="en-US" sz="1500" b="0" i="0" u="none" strike="noStrike" dirty="0">
                <a:solidFill>
                  <a:srgbClr val="4B5563"/>
                </a:solidFill>
                <a:latin typeface="SimHei"/>
                <a:ea typeface="SimHei"/>
                <a:cs typeface="SimHei"/>
                <a:sym typeface="SimHei"/>
              </a:rPr>
              <a:t>（运行状态/控制模式等）与</a:t>
            </a:r>
            <a:r>
              <a:rPr lang="en-US" sz="1500" b="1" i="0" u="none" strike="noStrike" dirty="0">
                <a:solidFill>
                  <a:srgbClr val="22C55E"/>
                </a:solidFill>
                <a:latin typeface="SimHei"/>
                <a:ea typeface="SimHei"/>
                <a:cs typeface="SimHei"/>
                <a:sym typeface="SimHei"/>
              </a:rPr>
              <a:t>6组关键结构体</a:t>
            </a:r>
            <a:r>
              <a:rPr lang="en-US" sz="1500" b="0" i="0" u="none" strike="noStrike" dirty="0">
                <a:solidFill>
                  <a:srgbClr val="4B5563"/>
                </a:solidFill>
                <a:latin typeface="SimHei"/>
                <a:ea typeface="SimHei"/>
                <a:cs typeface="SimHei"/>
                <a:sym typeface="SimHei"/>
              </a:rPr>
              <a:t>（机组状态/</a:t>
            </a:r>
            <a:r>
              <a:rPr lang="en-US" sz="1500" b="0" i="0" u="none" strike="noStrike" dirty="0" err="1">
                <a:solidFill>
                  <a:srgbClr val="4B5563"/>
                </a:solidFill>
                <a:latin typeface="SimHei"/>
                <a:ea typeface="SimHei"/>
                <a:cs typeface="SimHei"/>
                <a:sym typeface="SimHei"/>
              </a:rPr>
              <a:t>调度指令等</a:t>
            </a:r>
            <a:r>
              <a:rPr lang="en-US" sz="1500" b="0" i="0" u="none" strike="noStrike" dirty="0">
                <a:solidFill>
                  <a:srgbClr val="4B5563"/>
                </a:solidFill>
                <a:latin typeface="SimHei"/>
                <a:ea typeface="SimHei"/>
                <a:cs typeface="SimHei"/>
                <a:sym typeface="SimHei"/>
              </a:rPr>
              <a:t>），消除6套异构定义，实现跨场景数据交互零歧义，筑牢系统数据层基础。</a:t>
            </a:r>
            <a:endParaRPr lang="en-US" sz="1500" dirty="0"/>
          </a:p>
        </p:txBody>
      </p:sp>
      <p:sp>
        <p:nvSpPr>
          <p:cNvPr id="8" name="AutoShape 8"/>
          <p:cNvSpPr/>
          <p:nvPr/>
        </p:nvSpPr>
        <p:spPr>
          <a:xfrm>
            <a:off x="762000" y="2984500"/>
            <a:ext cx="2540000" cy="1714500"/>
          </a:xfrm>
          <a:prstGeom prst="roundRect">
            <a:avLst>
              <a:gd name="adj" fmla="val 0"/>
            </a:avLst>
          </a:prstGeom>
          <a:solidFill>
            <a:srgbClr val="F0FDF4">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175000"/>
            <a:ext cx="254000" cy="254000"/>
          </a:xfrm>
          <a:prstGeom prst="rect">
            <a:avLst/>
          </a:prstGeom>
        </p:spPr>
      </p:pic>
      <p:sp>
        <p:nvSpPr>
          <p:cNvPr id="10" name="AutoShape 10"/>
          <p:cNvSpPr/>
          <p:nvPr/>
        </p:nvSpPr>
        <p:spPr>
          <a:xfrm>
            <a:off x="1270000" y="31496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PID控制器</a:t>
            </a:r>
            <a:endParaRPr lang="en-US" sz="1200" dirty="0"/>
          </a:p>
        </p:txBody>
      </p:sp>
      <p:sp>
        <p:nvSpPr>
          <p:cNvPr id="11" name="AutoShape 11"/>
          <p:cNvSpPr/>
          <p:nvPr/>
        </p:nvSpPr>
        <p:spPr>
          <a:xfrm>
            <a:off x="952500" y="3556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a:solidFill>
                  <a:srgbClr val="4B5563"/>
                </a:solidFill>
                <a:latin typeface="SimHei"/>
                <a:ea typeface="SimHei"/>
                <a:cs typeface="SimHei"/>
                <a:sym typeface="SimHei"/>
              </a:rPr>
              <a:t>整合自5个场景，具备条件积分抗饱和、微分低通滤波及输出限幅功能，适配复杂工况。</a:t>
            </a:r>
            <a:endParaRPr lang="en-US" sz="1200" dirty="0"/>
          </a:p>
        </p:txBody>
      </p:sp>
      <p:sp>
        <p:nvSpPr>
          <p:cNvPr id="12" name="AutoShape 12"/>
          <p:cNvSpPr/>
          <p:nvPr/>
        </p:nvSpPr>
        <p:spPr>
          <a:xfrm>
            <a:off x="3467100" y="2984500"/>
            <a:ext cx="2540000" cy="1714500"/>
          </a:xfrm>
          <a:prstGeom prst="roundRect">
            <a:avLst>
              <a:gd name="adj" fmla="val 0"/>
            </a:avLst>
          </a:prstGeom>
          <a:solidFill>
            <a:srgbClr val="F0FDF4">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57600" y="3175000"/>
            <a:ext cx="254000" cy="254000"/>
          </a:xfrm>
          <a:prstGeom prst="rect">
            <a:avLst/>
          </a:prstGeom>
        </p:spPr>
      </p:pic>
      <p:sp>
        <p:nvSpPr>
          <p:cNvPr id="14" name="AutoShape 14"/>
          <p:cNvSpPr/>
          <p:nvPr/>
        </p:nvSpPr>
        <p:spPr>
          <a:xfrm>
            <a:off x="3975100" y="31496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低通滤波器</a:t>
            </a:r>
            <a:endParaRPr lang="en-US" sz="1200" dirty="0"/>
          </a:p>
        </p:txBody>
      </p:sp>
      <p:sp>
        <p:nvSpPr>
          <p:cNvPr id="15" name="AutoShape 15"/>
          <p:cNvSpPr/>
          <p:nvPr/>
        </p:nvSpPr>
        <p:spPr>
          <a:xfrm>
            <a:off x="3657600" y="3556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基于一阶IIR算法，平滑系数Alpha动态可配置，有效滤除传感器高频噪声干扰</a:t>
            </a:r>
            <a:r>
              <a:rPr lang="en-US" b="0" i="0" u="none" strike="noStrike" dirty="0">
                <a:solidFill>
                  <a:srgbClr val="4B5563"/>
                </a:solidFill>
                <a:latin typeface="SimHei"/>
                <a:ea typeface="SimHei"/>
                <a:cs typeface="SimHei"/>
                <a:sym typeface="SimHei"/>
              </a:rPr>
              <a:t>。</a:t>
            </a:r>
            <a:endParaRPr lang="en-US" sz="1200" dirty="0"/>
          </a:p>
        </p:txBody>
      </p:sp>
      <p:sp>
        <p:nvSpPr>
          <p:cNvPr id="16" name="AutoShape 16"/>
          <p:cNvSpPr/>
          <p:nvPr/>
        </p:nvSpPr>
        <p:spPr>
          <a:xfrm>
            <a:off x="6172200" y="2984500"/>
            <a:ext cx="2540000" cy="1714500"/>
          </a:xfrm>
          <a:prstGeom prst="roundRect">
            <a:avLst>
              <a:gd name="adj" fmla="val 0"/>
            </a:avLst>
          </a:prstGeom>
          <a:solidFill>
            <a:srgbClr val="F0FDF4">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62700" y="3175000"/>
            <a:ext cx="254000" cy="254000"/>
          </a:xfrm>
          <a:prstGeom prst="rect">
            <a:avLst/>
          </a:prstGeom>
        </p:spPr>
      </p:pic>
      <p:sp>
        <p:nvSpPr>
          <p:cNvPr id="18" name="AutoShape 18"/>
          <p:cNvSpPr/>
          <p:nvPr/>
        </p:nvSpPr>
        <p:spPr>
          <a:xfrm>
            <a:off x="6680200" y="31496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通用限幅器</a:t>
            </a:r>
            <a:endParaRPr lang="en-US" sz="1200" dirty="0"/>
          </a:p>
        </p:txBody>
      </p:sp>
      <p:sp>
        <p:nvSpPr>
          <p:cNvPr id="19" name="AutoShape 19"/>
          <p:cNvSpPr/>
          <p:nvPr/>
        </p:nvSpPr>
        <p:spPr>
          <a:xfrm>
            <a:off x="6362700" y="3556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集区间钳位、死区处理、斜率限制于一体，支持对称与非对称速率限制，覆盖全域约束</a:t>
            </a:r>
            <a:r>
              <a:rPr lang="en-US" b="0" i="0" u="none" strike="noStrike" dirty="0">
                <a:solidFill>
                  <a:srgbClr val="4B5563"/>
                </a:solidFill>
                <a:latin typeface="SimHei"/>
                <a:ea typeface="SimHei"/>
                <a:cs typeface="SimHei"/>
                <a:sym typeface="SimHei"/>
              </a:rPr>
              <a:t>。</a:t>
            </a:r>
            <a:endParaRPr lang="en-US" sz="1200" dirty="0"/>
          </a:p>
        </p:txBody>
      </p:sp>
      <p:sp>
        <p:nvSpPr>
          <p:cNvPr id="20" name="AutoShape 20"/>
          <p:cNvSpPr/>
          <p:nvPr/>
        </p:nvSpPr>
        <p:spPr>
          <a:xfrm>
            <a:off x="8890000" y="2984500"/>
            <a:ext cx="2540000" cy="1714500"/>
          </a:xfrm>
          <a:prstGeom prst="roundRect">
            <a:avLst>
              <a:gd name="adj" fmla="val 0"/>
            </a:avLst>
          </a:prstGeom>
          <a:solidFill>
            <a:srgbClr val="F0FDF4">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0500" y="3175000"/>
            <a:ext cx="254000" cy="254000"/>
          </a:xfrm>
          <a:prstGeom prst="rect">
            <a:avLst/>
          </a:prstGeom>
        </p:spPr>
      </p:pic>
      <p:sp>
        <p:nvSpPr>
          <p:cNvPr id="22" name="AutoShape 22"/>
          <p:cNvSpPr/>
          <p:nvPr/>
        </p:nvSpPr>
        <p:spPr>
          <a:xfrm>
            <a:off x="9398000" y="31496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风能功率曲线</a:t>
            </a:r>
            <a:endParaRPr lang="en-US" sz="1200" dirty="0"/>
          </a:p>
        </p:txBody>
      </p:sp>
      <p:sp>
        <p:nvSpPr>
          <p:cNvPr id="23" name="AutoShape 23"/>
          <p:cNvSpPr/>
          <p:nvPr/>
        </p:nvSpPr>
        <p:spPr>
          <a:xfrm>
            <a:off x="9080500" y="3556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支持三次方、二次方及线性模型，内置桨距角效率修正算法，提升功率预测精度</a:t>
            </a:r>
            <a:r>
              <a:rPr lang="en-US" b="0" i="0" u="none" strike="noStrike" dirty="0">
                <a:solidFill>
                  <a:srgbClr val="4B5563"/>
                </a:solidFill>
                <a:latin typeface="SimHei"/>
                <a:ea typeface="SimHei"/>
                <a:cs typeface="SimHei"/>
                <a:sym typeface="SimHei"/>
              </a:rPr>
              <a:t>。</a:t>
            </a:r>
            <a:endParaRPr lang="en-US" sz="1200" dirty="0"/>
          </a:p>
        </p:txBody>
      </p:sp>
      <p:sp>
        <p:nvSpPr>
          <p:cNvPr id="24" name="AutoShape 24"/>
          <p:cNvSpPr/>
          <p:nvPr/>
        </p:nvSpPr>
        <p:spPr>
          <a:xfrm>
            <a:off x="762000" y="4953000"/>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SimHei"/>
                <a:ea typeface="SimHei"/>
                <a:cs typeface="SimHei"/>
                <a:sym typeface="SimHei"/>
              </a:rPr>
              <a:t>代码冗余消除成果：从“重复造轮子”到“统一复用”</a:t>
            </a:r>
            <a:endParaRPr lang="en-US" sz="1100"/>
          </a:p>
        </p:txBody>
      </p:sp>
      <p:sp>
        <p:nvSpPr>
          <p:cNvPr id="25" name="AutoShape 25"/>
          <p:cNvSpPr/>
          <p:nvPr/>
        </p:nvSpPr>
        <p:spPr>
          <a:xfrm>
            <a:off x="762000" y="5397500"/>
            <a:ext cx="19812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762000" y="5524500"/>
            <a:ext cx="19812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a:solidFill>
                  <a:srgbClr val="22C55E"/>
                </a:solidFill>
                <a:latin typeface="SimHei"/>
                <a:ea typeface="SimHei"/>
                <a:cs typeface="SimHei"/>
                <a:sym typeface="SimHei"/>
              </a:rPr>
              <a:t>4 → 1</a:t>
            </a:r>
            <a:endParaRPr lang="en-US" sz="1200" dirty="0"/>
          </a:p>
        </p:txBody>
      </p:sp>
      <p:sp>
        <p:nvSpPr>
          <p:cNvPr id="27" name="AutoShape 27"/>
          <p:cNvSpPr/>
          <p:nvPr/>
        </p:nvSpPr>
        <p:spPr>
          <a:xfrm>
            <a:off x="762000" y="5969000"/>
            <a:ext cx="19812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0" u="none" strike="noStrike" dirty="0" err="1">
                <a:solidFill>
                  <a:srgbClr val="4B5563"/>
                </a:solidFill>
                <a:latin typeface="SimHei"/>
                <a:ea typeface="SimHei"/>
                <a:cs typeface="SimHei"/>
                <a:sym typeface="SimHei"/>
              </a:rPr>
              <a:t>PID控制实现</a:t>
            </a:r>
            <a:endParaRPr lang="en-US" sz="1500" dirty="0"/>
          </a:p>
        </p:txBody>
      </p:sp>
      <p:sp>
        <p:nvSpPr>
          <p:cNvPr id="28" name="AutoShape 28"/>
          <p:cNvSpPr/>
          <p:nvPr/>
        </p:nvSpPr>
        <p:spPr>
          <a:xfrm>
            <a:off x="2870200" y="5397500"/>
            <a:ext cx="19812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2870200" y="5524500"/>
            <a:ext cx="19812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a:solidFill>
                  <a:srgbClr val="22C55E"/>
                </a:solidFill>
                <a:latin typeface="SimHei"/>
                <a:ea typeface="SimHei"/>
                <a:cs typeface="SimHei"/>
                <a:sym typeface="SimHei"/>
              </a:rPr>
              <a:t>4 → 1</a:t>
            </a:r>
            <a:endParaRPr lang="en-US" sz="1200" dirty="0"/>
          </a:p>
        </p:txBody>
      </p:sp>
      <p:sp>
        <p:nvSpPr>
          <p:cNvPr id="30" name="AutoShape 30"/>
          <p:cNvSpPr/>
          <p:nvPr/>
        </p:nvSpPr>
        <p:spPr>
          <a:xfrm>
            <a:off x="2870200" y="5969000"/>
            <a:ext cx="19812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0" u="none" strike="noStrike" dirty="0" err="1">
                <a:solidFill>
                  <a:srgbClr val="4B5563"/>
                </a:solidFill>
                <a:latin typeface="SimHei"/>
                <a:ea typeface="SimHei"/>
                <a:cs typeface="SimHei"/>
                <a:sym typeface="SimHei"/>
              </a:rPr>
              <a:t>限幅保护函数</a:t>
            </a:r>
            <a:endParaRPr lang="en-US" sz="1500" dirty="0"/>
          </a:p>
        </p:txBody>
      </p:sp>
      <p:sp>
        <p:nvSpPr>
          <p:cNvPr id="31" name="AutoShape 31"/>
          <p:cNvSpPr/>
          <p:nvPr/>
        </p:nvSpPr>
        <p:spPr>
          <a:xfrm>
            <a:off x="4978400" y="5397500"/>
            <a:ext cx="19812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4978400" y="5524500"/>
            <a:ext cx="19812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a:solidFill>
                  <a:srgbClr val="22C55E"/>
                </a:solidFill>
                <a:latin typeface="SimHei"/>
                <a:ea typeface="SimHei"/>
                <a:cs typeface="SimHei"/>
                <a:sym typeface="SimHei"/>
              </a:rPr>
              <a:t>3 → 1</a:t>
            </a:r>
            <a:endParaRPr lang="en-US" sz="1200" dirty="0"/>
          </a:p>
        </p:txBody>
      </p:sp>
      <p:sp>
        <p:nvSpPr>
          <p:cNvPr id="33" name="AutoShape 33"/>
          <p:cNvSpPr/>
          <p:nvPr/>
        </p:nvSpPr>
        <p:spPr>
          <a:xfrm>
            <a:off x="4978400" y="5969000"/>
            <a:ext cx="19812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0" u="none" strike="noStrike" dirty="0" err="1">
                <a:solidFill>
                  <a:srgbClr val="4B5563"/>
                </a:solidFill>
                <a:latin typeface="SimHei"/>
                <a:ea typeface="SimHei"/>
                <a:cs typeface="SimHei"/>
                <a:sym typeface="SimHei"/>
              </a:rPr>
              <a:t>功率曲线模型</a:t>
            </a:r>
            <a:endParaRPr lang="en-US" sz="1500" dirty="0"/>
          </a:p>
        </p:txBody>
      </p:sp>
      <p:sp>
        <p:nvSpPr>
          <p:cNvPr id="34" name="AutoShape 34"/>
          <p:cNvSpPr/>
          <p:nvPr/>
        </p:nvSpPr>
        <p:spPr>
          <a:xfrm>
            <a:off x="7086600" y="5397500"/>
            <a:ext cx="19812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7086600" y="5524500"/>
            <a:ext cx="19812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a:solidFill>
                  <a:srgbClr val="22C55E"/>
                </a:solidFill>
                <a:latin typeface="SimHei"/>
                <a:ea typeface="SimHei"/>
                <a:cs typeface="SimHei"/>
                <a:sym typeface="SimHei"/>
              </a:rPr>
              <a:t>2 → 1</a:t>
            </a:r>
            <a:endParaRPr lang="en-US" sz="1200" dirty="0"/>
          </a:p>
        </p:txBody>
      </p:sp>
      <p:sp>
        <p:nvSpPr>
          <p:cNvPr id="36" name="AutoShape 36"/>
          <p:cNvSpPr/>
          <p:nvPr/>
        </p:nvSpPr>
        <p:spPr>
          <a:xfrm>
            <a:off x="7086600" y="5969000"/>
            <a:ext cx="19812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0" u="none" strike="noStrike" dirty="0" err="1">
                <a:solidFill>
                  <a:srgbClr val="4B5563"/>
                </a:solidFill>
                <a:latin typeface="SimHei"/>
                <a:ea typeface="SimHei"/>
                <a:cs typeface="SimHei"/>
                <a:sym typeface="SimHei"/>
              </a:rPr>
              <a:t>一阶滤波算法</a:t>
            </a:r>
            <a:endParaRPr lang="en-US" sz="1500" dirty="0"/>
          </a:p>
        </p:txBody>
      </p:sp>
      <p:sp>
        <p:nvSpPr>
          <p:cNvPr id="37" name="AutoShape 37"/>
          <p:cNvSpPr/>
          <p:nvPr/>
        </p:nvSpPr>
        <p:spPr>
          <a:xfrm>
            <a:off x="9194800" y="5397500"/>
            <a:ext cx="19812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9194800" y="5524500"/>
            <a:ext cx="19812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dirty="0">
                <a:solidFill>
                  <a:srgbClr val="22C55E"/>
                </a:solidFill>
                <a:latin typeface="SimHei"/>
                <a:ea typeface="SimHei"/>
                <a:cs typeface="SimHei"/>
                <a:sym typeface="SimHei"/>
              </a:rPr>
              <a:t>6 → 1</a:t>
            </a:r>
            <a:endParaRPr lang="en-US" sz="1200" dirty="0"/>
          </a:p>
        </p:txBody>
      </p:sp>
      <p:sp>
        <p:nvSpPr>
          <p:cNvPr id="39" name="AutoShape 39"/>
          <p:cNvSpPr/>
          <p:nvPr/>
        </p:nvSpPr>
        <p:spPr>
          <a:xfrm>
            <a:off x="9194800" y="5969000"/>
            <a:ext cx="19812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0" i="0" u="none" strike="noStrike" dirty="0" err="1">
                <a:solidFill>
                  <a:srgbClr val="4B5563"/>
                </a:solidFill>
                <a:latin typeface="SimHei"/>
                <a:ea typeface="SimHei"/>
                <a:cs typeface="SimHei"/>
                <a:sym typeface="SimHei"/>
              </a:rPr>
              <a:t>全场景类型定义</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307902"/>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1F2937"/>
                </a:solidFill>
                <a:latin typeface="SimHei"/>
                <a:ea typeface="SimHei"/>
                <a:cs typeface="SimHei"/>
                <a:sym typeface="SimHei"/>
              </a:rPr>
              <a:t>RT_DB共享内存设计</a:t>
            </a:r>
            <a:endParaRPr lang="en-US" sz="1100" dirty="0"/>
          </a:p>
        </p:txBody>
      </p:sp>
      <p:sp>
        <p:nvSpPr>
          <p:cNvPr id="4" name="AutoShape 4"/>
          <p:cNvSpPr/>
          <p:nvPr/>
        </p:nvSpPr>
        <p:spPr>
          <a:xfrm>
            <a:off x="762000" y="1152920"/>
            <a:ext cx="3429000" cy="1524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343420"/>
            <a:ext cx="304800" cy="304800"/>
          </a:xfrm>
          <a:prstGeom prst="rect">
            <a:avLst/>
          </a:prstGeom>
        </p:spPr>
      </p:pic>
      <p:sp>
        <p:nvSpPr>
          <p:cNvPr id="6" name="AutoShape 6"/>
          <p:cNvSpPr/>
          <p:nvPr/>
        </p:nvSpPr>
        <p:spPr>
          <a:xfrm>
            <a:off x="1333500" y="131802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跨平台双栈架构</a:t>
            </a:r>
            <a:endParaRPr lang="en-US" sz="1100" dirty="0"/>
          </a:p>
        </p:txBody>
      </p:sp>
      <p:sp>
        <p:nvSpPr>
          <p:cNvPr id="7" name="AutoShape 7"/>
          <p:cNvSpPr/>
          <p:nvPr/>
        </p:nvSpPr>
        <p:spPr>
          <a:xfrm>
            <a:off x="952500" y="176252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SimHei"/>
                <a:ea typeface="SimHei"/>
                <a:cs typeface="SimHei"/>
                <a:sym typeface="SimHei"/>
              </a:rPr>
              <a:t>Windows FileMapping 与 Linux SystemV 双实现，通过条件编译无缝适配，打破操作系统壁垒，实现一次开发多端部署。</a:t>
            </a:r>
            <a:endParaRPr lang="en-US" sz="1100"/>
          </a:p>
        </p:txBody>
      </p:sp>
      <p:sp>
        <p:nvSpPr>
          <p:cNvPr id="8" name="AutoShape 8"/>
          <p:cNvSpPr/>
          <p:nvPr/>
        </p:nvSpPr>
        <p:spPr>
          <a:xfrm>
            <a:off x="4381500" y="1152920"/>
            <a:ext cx="3429000" cy="1524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1343420"/>
            <a:ext cx="304800" cy="304800"/>
          </a:xfrm>
          <a:prstGeom prst="rect">
            <a:avLst/>
          </a:prstGeom>
        </p:spPr>
      </p:pic>
      <p:sp>
        <p:nvSpPr>
          <p:cNvPr id="10" name="AutoShape 10"/>
          <p:cNvSpPr/>
          <p:nvPr/>
        </p:nvSpPr>
        <p:spPr>
          <a:xfrm>
            <a:off x="4953000" y="131802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SimHei"/>
                <a:ea typeface="SimHei"/>
                <a:cs typeface="SimHei"/>
                <a:sym typeface="SimHei"/>
              </a:rPr>
              <a:t>极致无锁并发模型</a:t>
            </a:r>
            <a:endParaRPr lang="en-US" sz="1100"/>
          </a:p>
        </p:txBody>
      </p:sp>
      <p:sp>
        <p:nvSpPr>
          <p:cNvPr id="11" name="AutoShape 11"/>
          <p:cNvSpPr/>
          <p:nvPr/>
        </p:nvSpPr>
        <p:spPr>
          <a:xfrm>
            <a:off x="4572000" y="176252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SimHei"/>
                <a:ea typeface="SimHei"/>
                <a:cs typeface="SimHei"/>
                <a:sym typeface="SimHei"/>
              </a:rPr>
              <a:t>采用 seqlock 序列锁保障无锁读，配合原子操作实现无锁写，彻底消除锁竞争开销，支撑高频次、低延迟的数据交互。</a:t>
            </a:r>
            <a:endParaRPr lang="en-US" sz="1100"/>
          </a:p>
        </p:txBody>
      </p:sp>
      <p:sp>
        <p:nvSpPr>
          <p:cNvPr id="12" name="AutoShape 12"/>
          <p:cNvSpPr/>
          <p:nvPr/>
        </p:nvSpPr>
        <p:spPr>
          <a:xfrm>
            <a:off x="8001000" y="1152920"/>
            <a:ext cx="3429000" cy="1524000"/>
          </a:xfrm>
          <a:prstGeom prst="roundRect">
            <a:avLst>
              <a:gd name="adj" fmla="val 0"/>
            </a:avLst>
          </a:prstGeom>
          <a:solidFill>
            <a:srgbClr val="FFFFFF">
              <a:alpha val="6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1343420"/>
            <a:ext cx="304800" cy="304800"/>
          </a:xfrm>
          <a:prstGeom prst="rect">
            <a:avLst/>
          </a:prstGeom>
        </p:spPr>
      </p:pic>
      <p:sp>
        <p:nvSpPr>
          <p:cNvPr id="14" name="AutoShape 14"/>
          <p:cNvSpPr/>
          <p:nvPr/>
        </p:nvSpPr>
        <p:spPr>
          <a:xfrm>
            <a:off x="8572500" y="131802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SimHei"/>
                <a:ea typeface="SimHei"/>
                <a:cs typeface="SimHei"/>
                <a:sym typeface="SimHei"/>
              </a:rPr>
              <a:t>SPSC 极速指令通道</a:t>
            </a:r>
            <a:endParaRPr lang="en-US" sz="1100"/>
          </a:p>
        </p:txBody>
      </p:sp>
      <p:sp>
        <p:nvSpPr>
          <p:cNvPr id="15" name="AutoShape 15"/>
          <p:cNvSpPr/>
          <p:nvPr/>
        </p:nvSpPr>
        <p:spPr>
          <a:xfrm>
            <a:off x="8191500" y="176252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SimHei"/>
                <a:ea typeface="SimHei"/>
                <a:cs typeface="SimHei"/>
                <a:sym typeface="SimHei"/>
              </a:rPr>
              <a:t>深度为256的单生产者单消费者无锁环形队列，专为控制指令传递设计，确保调度信号毫秒级低延迟送达。</a:t>
            </a:r>
            <a:endParaRPr lang="en-US" sz="1100"/>
          </a:p>
        </p:txBody>
      </p:sp>
      <p:sp>
        <p:nvSpPr>
          <p:cNvPr id="16" name="AutoShape 16"/>
          <p:cNvSpPr/>
          <p:nvPr/>
        </p:nvSpPr>
        <p:spPr>
          <a:xfrm>
            <a:off x="762000" y="2998448"/>
            <a:ext cx="26035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89000" y="3125448"/>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22C55E"/>
                </a:solidFill>
                <a:latin typeface="SimHei"/>
                <a:ea typeface="SimHei"/>
                <a:cs typeface="SimHei"/>
                <a:sym typeface="SimHei"/>
              </a:rPr>
              <a:t>&lt; 2μs</a:t>
            </a:r>
            <a:endParaRPr lang="en-US" sz="1100" dirty="0"/>
          </a:p>
        </p:txBody>
      </p:sp>
      <p:sp>
        <p:nvSpPr>
          <p:cNvPr id="18" name="AutoShape 18"/>
          <p:cNvSpPr/>
          <p:nvPr/>
        </p:nvSpPr>
        <p:spPr>
          <a:xfrm>
            <a:off x="889000" y="3633448"/>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374151"/>
                </a:solidFill>
                <a:latin typeface="SimHei"/>
                <a:ea typeface="SimHei"/>
                <a:cs typeface="SimHei"/>
                <a:sym typeface="SimHei"/>
              </a:rPr>
              <a:t>单点写入延迟</a:t>
            </a:r>
            <a:r>
              <a:rPr lang="en-US" sz="1300" b="0" i="0" u="none" strike="noStrike" dirty="0">
                <a:solidFill>
                  <a:srgbClr val="374151"/>
                </a:solidFill>
                <a:latin typeface="SimHei"/>
                <a:ea typeface="SimHei"/>
                <a:cs typeface="SimHei"/>
                <a:sym typeface="SimHei"/>
              </a:rPr>
              <a:t> (P99)</a:t>
            </a:r>
            <a:endParaRPr lang="en-US" sz="1100" dirty="0"/>
          </a:p>
        </p:txBody>
      </p:sp>
      <p:sp>
        <p:nvSpPr>
          <p:cNvPr id="19" name="AutoShape 19"/>
          <p:cNvSpPr/>
          <p:nvPr/>
        </p:nvSpPr>
        <p:spPr>
          <a:xfrm>
            <a:off x="3530600" y="2998448"/>
            <a:ext cx="26035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3657600" y="3125448"/>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&gt; 2k/s</a:t>
            </a:r>
            <a:endParaRPr lang="en-US" sz="1100"/>
          </a:p>
        </p:txBody>
      </p:sp>
      <p:sp>
        <p:nvSpPr>
          <p:cNvPr id="21" name="AutoShape 21"/>
          <p:cNvSpPr/>
          <p:nvPr/>
        </p:nvSpPr>
        <p:spPr>
          <a:xfrm>
            <a:off x="3657600" y="3633448"/>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SimHei"/>
                <a:ea typeface="SimHei"/>
                <a:cs typeface="SimHei"/>
                <a:sym typeface="SimHei"/>
              </a:rPr>
              <a:t>高频写入吞吐量</a:t>
            </a:r>
            <a:endParaRPr lang="en-US" sz="1100"/>
          </a:p>
        </p:txBody>
      </p:sp>
      <p:sp>
        <p:nvSpPr>
          <p:cNvPr id="22" name="AutoShape 22"/>
          <p:cNvSpPr/>
          <p:nvPr/>
        </p:nvSpPr>
        <p:spPr>
          <a:xfrm>
            <a:off x="6299200" y="2998448"/>
            <a:ext cx="26035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26200" y="3125448"/>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&gt; 10w/s</a:t>
            </a:r>
            <a:endParaRPr lang="en-US" sz="1100"/>
          </a:p>
        </p:txBody>
      </p:sp>
      <p:sp>
        <p:nvSpPr>
          <p:cNvPr id="24" name="AutoShape 24"/>
          <p:cNvSpPr/>
          <p:nvPr/>
        </p:nvSpPr>
        <p:spPr>
          <a:xfrm>
            <a:off x="6426200" y="3633448"/>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SimHei"/>
                <a:ea typeface="SimHei"/>
                <a:cs typeface="SimHei"/>
                <a:sym typeface="SimHei"/>
              </a:rPr>
              <a:t>高速读取吞吐量</a:t>
            </a:r>
            <a:endParaRPr lang="en-US" sz="1100"/>
          </a:p>
        </p:txBody>
      </p:sp>
      <p:sp>
        <p:nvSpPr>
          <p:cNvPr id="25" name="AutoShape 25"/>
          <p:cNvSpPr/>
          <p:nvPr/>
        </p:nvSpPr>
        <p:spPr>
          <a:xfrm>
            <a:off x="9067800" y="2998448"/>
            <a:ext cx="2603500" cy="1079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194800" y="3125448"/>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 128KB</a:t>
            </a:r>
            <a:endParaRPr lang="en-US" sz="1100"/>
          </a:p>
        </p:txBody>
      </p:sp>
      <p:sp>
        <p:nvSpPr>
          <p:cNvPr id="27" name="AutoShape 27"/>
          <p:cNvSpPr/>
          <p:nvPr/>
        </p:nvSpPr>
        <p:spPr>
          <a:xfrm>
            <a:off x="9194800" y="3633448"/>
            <a:ext cx="241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SimHei"/>
                <a:ea typeface="SimHei"/>
                <a:cs typeface="SimHei"/>
                <a:sym typeface="SimHei"/>
              </a:rPr>
              <a:t>极低内存资源占用</a:t>
            </a:r>
            <a:endParaRPr lang="en-US" sz="1100"/>
          </a:p>
        </p:txBody>
      </p:sp>
      <p:sp>
        <p:nvSpPr>
          <p:cNvPr id="29" name="AutoShape 29"/>
          <p:cNvSpPr/>
          <p:nvPr/>
        </p:nvSpPr>
        <p:spPr>
          <a:xfrm>
            <a:off x="762000" y="4244581"/>
            <a:ext cx="501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1F2937"/>
                </a:solidFill>
                <a:latin typeface="SimHei"/>
                <a:ea typeface="SimHei"/>
                <a:cs typeface="SimHei"/>
                <a:sym typeface="SimHei"/>
              </a:rPr>
              <a:t>全域数据映射：881个核心测点全覆盖</a:t>
            </a:r>
            <a:endParaRPr lang="en-US" sz="1100" dirty="0"/>
          </a:p>
        </p:txBody>
      </p:sp>
      <p:graphicFrame>
        <p:nvGraphicFramePr>
          <p:cNvPr id="30" name="表格 29">
            <a:extLst>
              <a:ext uri="{FF2B5EF4-FFF2-40B4-BE49-F238E27FC236}">
                <a16:creationId xmlns:a16="http://schemas.microsoft.com/office/drawing/2014/main" id="{5D66790A-B52C-7229-645A-A25CC67B0271}"/>
              </a:ext>
            </a:extLst>
          </p:cNvPr>
          <p:cNvGraphicFramePr>
            <a:graphicFrameLocks noGrp="1"/>
          </p:cNvGraphicFramePr>
          <p:nvPr>
            <p:extLst>
              <p:ext uri="{D42A27DB-BD31-4B8C-83A1-F6EECF244321}">
                <p14:modId xmlns:p14="http://schemas.microsoft.com/office/powerpoint/2010/main" val="2288956445"/>
              </p:ext>
            </p:extLst>
          </p:nvPr>
        </p:nvGraphicFramePr>
        <p:xfrm>
          <a:off x="762000" y="4657128"/>
          <a:ext cx="10668000" cy="2095904"/>
        </p:xfrm>
        <a:graphic>
          <a:graphicData uri="http://schemas.openxmlformats.org/drawingml/2006/table">
            <a:tbl>
              <a:tblPr/>
              <a:tblGrid>
                <a:gridCol w="2667000">
                  <a:extLst>
                    <a:ext uri="{9D8B030D-6E8A-4147-A177-3AD203B41FA5}">
                      <a16:colId xmlns:a16="http://schemas.microsoft.com/office/drawing/2014/main" val="1328381111"/>
                    </a:ext>
                  </a:extLst>
                </a:gridCol>
                <a:gridCol w="2667000">
                  <a:extLst>
                    <a:ext uri="{9D8B030D-6E8A-4147-A177-3AD203B41FA5}">
                      <a16:colId xmlns:a16="http://schemas.microsoft.com/office/drawing/2014/main" val="3378389277"/>
                    </a:ext>
                  </a:extLst>
                </a:gridCol>
                <a:gridCol w="2667000">
                  <a:extLst>
                    <a:ext uri="{9D8B030D-6E8A-4147-A177-3AD203B41FA5}">
                      <a16:colId xmlns:a16="http://schemas.microsoft.com/office/drawing/2014/main" val="1636849007"/>
                    </a:ext>
                  </a:extLst>
                </a:gridCol>
                <a:gridCol w="2667000">
                  <a:extLst>
                    <a:ext uri="{9D8B030D-6E8A-4147-A177-3AD203B41FA5}">
                      <a16:colId xmlns:a16="http://schemas.microsoft.com/office/drawing/2014/main" val="2249165199"/>
                    </a:ext>
                  </a:extLst>
                </a:gridCol>
              </a:tblGrid>
              <a:tr h="63705">
                <a:tc>
                  <a:txBody>
                    <a:bodyPr/>
                    <a:lstStyle/>
                    <a:p>
                      <a:pPr algn="l">
                        <a:buNone/>
                      </a:pPr>
                      <a:r>
                        <a:rPr lang="zh-CN" sz="1200" b="1" dirty="0">
                          <a:effectLst/>
                          <a:latin typeface="黑体" panose="02010609060101010101" pitchFamily="49" charset="-122"/>
                          <a:ea typeface="黑体" panose="02010609060101010101" pitchFamily="49" charset="-122"/>
                        </a:rPr>
                        <a:t>Slot 范围</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60000"/>
                        <a:lumOff val="40000"/>
                      </a:schemeClr>
                    </a:solidFill>
                  </a:tcPr>
                </a:tc>
                <a:tc>
                  <a:txBody>
                    <a:bodyPr/>
                    <a:lstStyle/>
                    <a:p>
                      <a:pPr algn="l">
                        <a:buNone/>
                      </a:pPr>
                      <a:r>
                        <a:rPr lang="zh-CN" sz="1200" b="1" dirty="0">
                          <a:effectLst/>
                          <a:latin typeface="黑体" panose="02010609060101010101" pitchFamily="49" charset="-122"/>
                          <a:ea typeface="黑体" panose="02010609060101010101" pitchFamily="49" charset="-122"/>
                        </a:rPr>
                        <a:t>命名空间</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60000"/>
                        <a:lumOff val="40000"/>
                      </a:schemeClr>
                    </a:solidFill>
                  </a:tcPr>
                </a:tc>
                <a:tc>
                  <a:txBody>
                    <a:bodyPr/>
                    <a:lstStyle/>
                    <a:p>
                      <a:pPr algn="l">
                        <a:buNone/>
                      </a:pPr>
                      <a:r>
                        <a:rPr lang="zh-CN" sz="1200" b="1">
                          <a:effectLst/>
                          <a:latin typeface="黑体" panose="02010609060101010101" pitchFamily="49" charset="-122"/>
                          <a:ea typeface="黑体" panose="02010609060101010101" pitchFamily="49" charset="-122"/>
                        </a:rPr>
                        <a:t>数量</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60000"/>
                        <a:lumOff val="40000"/>
                      </a:schemeClr>
                    </a:solidFill>
                  </a:tcPr>
                </a:tc>
                <a:tc>
                  <a:txBody>
                    <a:bodyPr/>
                    <a:lstStyle/>
                    <a:p>
                      <a:pPr algn="l">
                        <a:buNone/>
                      </a:pPr>
                      <a:r>
                        <a:rPr lang="zh-CN" sz="1200" b="1" dirty="0">
                          <a:effectLst/>
                          <a:latin typeface="黑体" panose="02010609060101010101" pitchFamily="49" charset="-122"/>
                          <a:ea typeface="黑体" panose="02010609060101010101" pitchFamily="49" charset="-122"/>
                        </a:rPr>
                        <a:t>用途</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326920110"/>
                  </a:ext>
                </a:extLst>
              </a:tr>
              <a:tr h="148432">
                <a:tc>
                  <a:txBody>
                    <a:bodyPr/>
                    <a:lstStyle/>
                    <a:p>
                      <a:pPr algn="l">
                        <a:buNone/>
                      </a:pPr>
                      <a:r>
                        <a:rPr lang="zh-CN" sz="1200" dirty="0">
                          <a:effectLst/>
                          <a:latin typeface="黑体" panose="02010609060101010101" pitchFamily="49" charset="-122"/>
                          <a:ea typeface="黑体" panose="02010609060101010101" pitchFamily="49" charset="-122"/>
                        </a:rPr>
                        <a:t>0-7</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BMS_01 / PCS_01 / SCADA</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8</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储能 BMS + 变流器</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34114318"/>
                  </a:ext>
                </a:extLst>
              </a:tr>
              <a:tr h="63705">
                <a:tc>
                  <a:txBody>
                    <a:bodyPr/>
                    <a:lstStyle/>
                    <a:p>
                      <a:pPr algn="l">
                        <a:buNone/>
                      </a:pPr>
                      <a:r>
                        <a:rPr lang="zh-CN" sz="1200">
                          <a:effectLst/>
                          <a:latin typeface="黑体" panose="02010609060101010101" pitchFamily="49" charset="-122"/>
                          <a:ea typeface="黑体" panose="02010609060101010101" pitchFamily="49" charset="-122"/>
                        </a:rPr>
                        <a:t>8-18</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dirty="0">
                          <a:effectLst/>
                          <a:latin typeface="黑体" panose="02010609060101010101" pitchFamily="49" charset="-122"/>
                          <a:ea typeface="黑体" panose="02010609060101010101" pitchFamily="49" charset="-122"/>
                        </a:rPr>
                        <a:t>WIND_AGC</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dirty="0">
                          <a:effectLst/>
                          <a:latin typeface="黑体" panose="02010609060101010101" pitchFamily="49" charset="-122"/>
                          <a:ea typeface="黑体" panose="02010609060101010101" pitchFamily="49" charset="-122"/>
                        </a:rPr>
                        <a:t>11</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dirty="0">
                          <a:effectLst/>
                          <a:latin typeface="黑体" panose="02010609060101010101" pitchFamily="49" charset="-122"/>
                          <a:ea typeface="黑体" panose="02010609060101010101" pitchFamily="49" charset="-122"/>
                        </a:rPr>
                        <a:t>场站级核心（功率 / 误差 / MAE/RMSE）</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923858913"/>
                  </a:ext>
                </a:extLst>
              </a:tr>
              <a:tr h="123943">
                <a:tc>
                  <a:txBody>
                    <a:bodyPr/>
                    <a:lstStyle/>
                    <a:p>
                      <a:pPr algn="l">
                        <a:buNone/>
                      </a:pPr>
                      <a:r>
                        <a:rPr lang="zh-CN" sz="1200" dirty="0">
                          <a:effectLst/>
                          <a:latin typeface="黑体" panose="02010609060101010101" pitchFamily="49" charset="-122"/>
                          <a:ea typeface="黑体" panose="02010609060101010101" pitchFamily="49" charset="-122"/>
                        </a:rPr>
                        <a:t>19-323</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TURBINE_NNN ×100</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dirty="0">
                          <a:effectLst/>
                          <a:latin typeface="黑体" panose="02010609060101010101" pitchFamily="49" charset="-122"/>
                          <a:ea typeface="黑体" panose="02010609060101010101" pitchFamily="49" charset="-122"/>
                        </a:rPr>
                        <a:t>305</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风机基础（Power/WindSpeed/Command）+ 扩展</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93171676"/>
                  </a:ext>
                </a:extLst>
              </a:tr>
              <a:tr h="123943">
                <a:tc>
                  <a:txBody>
                    <a:bodyPr/>
                    <a:lstStyle/>
                    <a:p>
                      <a:pPr algn="l">
                        <a:buNone/>
                      </a:pPr>
                      <a:r>
                        <a:rPr lang="zh-CN" sz="1200">
                          <a:effectLst/>
                          <a:latin typeface="黑体" panose="02010609060101010101" pitchFamily="49" charset="-122"/>
                          <a:ea typeface="黑体" panose="02010609060101010101" pitchFamily="49" charset="-122"/>
                        </a:rPr>
                        <a:t>324-723</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TURBINE_NNN ×100</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400</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风机扩展（Pitch/Rotor/Up/DownMargin）</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21856606"/>
                  </a:ext>
                </a:extLst>
              </a:tr>
              <a:tr h="63705">
                <a:tc>
                  <a:txBody>
                    <a:bodyPr/>
                    <a:lstStyle/>
                    <a:p>
                      <a:pPr algn="l">
                        <a:buNone/>
                      </a:pPr>
                      <a:r>
                        <a:rPr lang="zh-CN" sz="1200">
                          <a:effectLst/>
                          <a:latin typeface="黑体" panose="02010609060101010101" pitchFamily="49" charset="-122"/>
                          <a:ea typeface="黑体" panose="02010609060101010101" pitchFamily="49" charset="-122"/>
                        </a:rPr>
                        <a:t>724-830</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GRID + FR_CTRL + FR_Power</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107</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电网频率 + 一次调频</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55584414"/>
                  </a:ext>
                </a:extLst>
              </a:tr>
              <a:tr h="63705">
                <a:tc>
                  <a:txBody>
                    <a:bodyPr/>
                    <a:lstStyle/>
                    <a:p>
                      <a:pPr algn="l">
                        <a:buNone/>
                      </a:pPr>
                      <a:r>
                        <a:rPr lang="zh-CN" sz="1200">
                          <a:effectLst/>
                          <a:latin typeface="黑体" panose="02010609060101010101" pitchFamily="49" charset="-122"/>
                          <a:ea typeface="黑体" panose="02010609060101010101" pitchFamily="49" charset="-122"/>
                        </a:rPr>
                        <a:t>831-853</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PV_AGC + CURTAIL + REST_ROTATE</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dirty="0">
                          <a:effectLst/>
                          <a:latin typeface="黑体" panose="02010609060101010101" pitchFamily="49" charset="-122"/>
                          <a:ea typeface="黑体" panose="02010609060101010101" pitchFamily="49" charset="-122"/>
                        </a:rPr>
                        <a:t>23</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限电管理 + 轮休调度</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99414666"/>
                  </a:ext>
                </a:extLst>
              </a:tr>
              <a:tr h="123943">
                <a:tc>
                  <a:txBody>
                    <a:bodyPr/>
                    <a:lstStyle/>
                    <a:p>
                      <a:pPr algn="l">
                        <a:buNone/>
                      </a:pPr>
                      <a:r>
                        <a:rPr lang="zh-CN" sz="1200">
                          <a:effectLst/>
                          <a:latin typeface="黑体" panose="02010609060101010101" pitchFamily="49" charset="-122"/>
                          <a:ea typeface="黑体" panose="02010609060101010101" pitchFamily="49" charset="-122"/>
                        </a:rPr>
                        <a:t>854-880</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SAFETY + COMM + EXTREME + AVC + SCHEDULE + RAMP</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a:effectLst/>
                          <a:latin typeface="黑体" panose="02010609060101010101" pitchFamily="49" charset="-122"/>
                          <a:ea typeface="黑体" panose="02010609060101010101" pitchFamily="49" charset="-122"/>
                        </a:rPr>
                        <a:t>27</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tc>
                  <a:txBody>
                    <a:bodyPr/>
                    <a:lstStyle/>
                    <a:p>
                      <a:pPr algn="l">
                        <a:buNone/>
                      </a:pPr>
                      <a:r>
                        <a:rPr lang="zh-CN" sz="1200" dirty="0">
                          <a:effectLst/>
                          <a:latin typeface="黑体" panose="02010609060101010101" pitchFamily="49" charset="-122"/>
                          <a:ea typeface="黑体" panose="02010609060101010101" pitchFamily="49" charset="-122"/>
                        </a:rPr>
                        <a:t>安全 + 通信 + 电压 + 调度</a:t>
                      </a:r>
                    </a:p>
                  </a:txBody>
                  <a:tcPr marL="5264" marR="5264" marT="5264" marB="52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7304195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六大场景策略概览</a:t>
            </a:r>
            <a:endParaRPr lang="en-US" sz="1100"/>
          </a:p>
        </p:txBody>
      </p:sp>
      <p:sp>
        <p:nvSpPr>
          <p:cNvPr id="4" name="AutoShape 4"/>
          <p:cNvSpPr/>
          <p:nvPr/>
        </p:nvSpPr>
        <p:spPr>
          <a:xfrm>
            <a:off x="762000" y="1524000"/>
            <a:ext cx="5207000" cy="13335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676400"/>
            <a:ext cx="63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01</a:t>
            </a:r>
            <a:endParaRPr lang="en-US" sz="1100"/>
          </a:p>
        </p:txBody>
      </p:sp>
      <p:sp>
        <p:nvSpPr>
          <p:cNvPr id="6" name="AutoShape 6"/>
          <p:cNvSpPr/>
          <p:nvPr/>
        </p:nvSpPr>
        <p:spPr>
          <a:xfrm>
            <a:off x="1587500" y="1701800"/>
            <a:ext cx="425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常规AGC经济调度</a:t>
            </a:r>
            <a:r>
              <a:rPr lang="en-US" sz="1800" b="1" i="0" u="none" strike="noStrike" dirty="0">
                <a:solidFill>
                  <a:srgbClr val="1F2937"/>
                </a:solidFill>
                <a:latin typeface="SimHei"/>
                <a:ea typeface="SimHei"/>
                <a:cs typeface="SimHei"/>
                <a:sym typeface="SimHei"/>
              </a:rPr>
              <a:t> </a:t>
            </a:r>
            <a:r>
              <a:rPr lang="en-US" b="0" i="0" u="none" strike="noStrike" dirty="0">
                <a:solidFill>
                  <a:srgbClr val="6B7280"/>
                </a:solidFill>
                <a:latin typeface="SimHei"/>
                <a:ea typeface="SimHei"/>
                <a:cs typeface="SimHei"/>
                <a:sym typeface="SimHei"/>
              </a:rPr>
              <a:t>| 300MW规模</a:t>
            </a:r>
            <a:endParaRPr lang="en-US" sz="1200" dirty="0"/>
          </a:p>
        </p:txBody>
      </p:sp>
      <p:sp>
        <p:nvSpPr>
          <p:cNvPr id="7" name="AutoShape 7"/>
          <p:cNvSpPr/>
          <p:nvPr/>
        </p:nvSpPr>
        <p:spPr>
          <a:xfrm>
            <a:off x="1587500" y="20955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solidFill>
                  <a:srgbClr val="4B5563"/>
                </a:solidFill>
                <a:latin typeface="SimHei"/>
                <a:ea typeface="SimHei"/>
                <a:cs typeface="SimHei"/>
                <a:sym typeface="SimHei"/>
              </a:rPr>
              <a:t>核心：前馈-反馈PID控制</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机组效率加权分配策略</a:t>
            </a:r>
            <a:endParaRPr lang="en-US" dirty="0"/>
          </a:p>
        </p:txBody>
      </p:sp>
      <p:sp>
        <p:nvSpPr>
          <p:cNvPr id="8" name="AutoShape 8"/>
          <p:cNvSpPr/>
          <p:nvPr/>
        </p:nvSpPr>
        <p:spPr>
          <a:xfrm>
            <a:off x="1587500" y="24384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a:solidFill>
                  <a:srgbClr val="22C55E"/>
                </a:solidFill>
                <a:latin typeface="SimHei"/>
                <a:ea typeface="SimHei"/>
                <a:cs typeface="SimHei"/>
                <a:sym typeface="SimHei"/>
              </a:rPr>
              <a:t>指标：RMSE控制误差≤2%，调度合格率≥95%</a:t>
            </a:r>
            <a:endParaRPr lang="en-US" sz="1200" dirty="0"/>
          </a:p>
        </p:txBody>
      </p:sp>
      <p:sp>
        <p:nvSpPr>
          <p:cNvPr id="9" name="AutoShape 9"/>
          <p:cNvSpPr/>
          <p:nvPr/>
        </p:nvSpPr>
        <p:spPr>
          <a:xfrm>
            <a:off x="762000" y="2984500"/>
            <a:ext cx="5207000" cy="13335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3136900"/>
            <a:ext cx="63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02</a:t>
            </a:r>
            <a:endParaRPr lang="en-US" sz="1100"/>
          </a:p>
        </p:txBody>
      </p:sp>
      <p:sp>
        <p:nvSpPr>
          <p:cNvPr id="11" name="AutoShape 11"/>
          <p:cNvSpPr/>
          <p:nvPr/>
        </p:nvSpPr>
        <p:spPr>
          <a:xfrm>
            <a:off x="1587500" y="3162300"/>
            <a:ext cx="425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风速波动抑制</a:t>
            </a:r>
            <a:r>
              <a:rPr lang="en-US" sz="1800" b="1" i="0" u="none" strike="noStrike" dirty="0">
                <a:solidFill>
                  <a:srgbClr val="1F2937"/>
                </a:solidFill>
                <a:latin typeface="SimHei"/>
                <a:ea typeface="SimHei"/>
                <a:cs typeface="SimHei"/>
                <a:sym typeface="SimHei"/>
              </a:rPr>
              <a:t> </a:t>
            </a:r>
            <a:r>
              <a:rPr lang="en-US" b="0" i="0" u="none" strike="noStrike" dirty="0">
                <a:solidFill>
                  <a:srgbClr val="6B7280"/>
                </a:solidFill>
                <a:latin typeface="SimHei"/>
                <a:ea typeface="SimHei"/>
                <a:cs typeface="SimHei"/>
                <a:sym typeface="SimHei"/>
              </a:rPr>
              <a:t>| 10MW规模</a:t>
            </a:r>
            <a:endParaRPr lang="en-US" sz="1200" dirty="0"/>
          </a:p>
        </p:txBody>
      </p:sp>
      <p:sp>
        <p:nvSpPr>
          <p:cNvPr id="12" name="AutoShape 12"/>
          <p:cNvSpPr/>
          <p:nvPr/>
        </p:nvSpPr>
        <p:spPr>
          <a:xfrm>
            <a:off x="1587500" y="35560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solidFill>
                  <a:srgbClr val="4B5563"/>
                </a:solidFill>
                <a:latin typeface="SimHei"/>
                <a:ea typeface="SimHei"/>
                <a:cs typeface="SimHei"/>
                <a:sym typeface="SimHei"/>
              </a:rPr>
              <a:t>核心：ECO</a:t>
            </a:r>
            <a:r>
              <a:rPr lang="en-US" b="0" i="0" u="none" strike="noStrike" dirty="0">
                <a:solidFill>
                  <a:srgbClr val="4B5563"/>
                </a:solidFill>
                <a:latin typeface="SimHei"/>
                <a:ea typeface="SimHei"/>
                <a:cs typeface="SimHei"/>
                <a:sym typeface="SimHei"/>
              </a:rPr>
              <a:t>/</a:t>
            </a:r>
            <a:r>
              <a:rPr lang="en-US" b="0" i="0" u="none" strike="noStrike" dirty="0" err="1">
                <a:solidFill>
                  <a:srgbClr val="4B5563"/>
                </a:solidFill>
                <a:latin typeface="SimHei"/>
                <a:ea typeface="SimHei"/>
                <a:cs typeface="SimHei"/>
                <a:sym typeface="SimHei"/>
              </a:rPr>
              <a:t>SUPPRESS双模式切换</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桨距-转速PID协调</a:t>
            </a:r>
            <a:endParaRPr lang="en-US" dirty="0"/>
          </a:p>
        </p:txBody>
      </p:sp>
      <p:sp>
        <p:nvSpPr>
          <p:cNvPr id="13" name="AutoShape 13"/>
          <p:cNvSpPr/>
          <p:nvPr/>
        </p:nvSpPr>
        <p:spPr>
          <a:xfrm>
            <a:off x="1587500" y="38989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rgbClr val="22C55E"/>
                </a:solidFill>
                <a:latin typeface="SimHei"/>
                <a:ea typeface="SimHei"/>
                <a:cs typeface="SimHei"/>
                <a:sym typeface="SimHei"/>
              </a:rPr>
              <a:t>指标：输出功率波动率抑制效果提升</a:t>
            </a:r>
            <a:r>
              <a:rPr lang="en-US" b="1" i="0" u="none" strike="noStrike" dirty="0">
                <a:solidFill>
                  <a:srgbClr val="22C55E"/>
                </a:solidFill>
                <a:latin typeface="SimHei"/>
                <a:ea typeface="SimHei"/>
                <a:cs typeface="SimHei"/>
                <a:sym typeface="SimHei"/>
              </a:rPr>
              <a:t> &gt; 5%</a:t>
            </a:r>
            <a:endParaRPr lang="en-US" sz="1200" dirty="0"/>
          </a:p>
        </p:txBody>
      </p:sp>
      <p:sp>
        <p:nvSpPr>
          <p:cNvPr id="14" name="AutoShape 14"/>
          <p:cNvSpPr/>
          <p:nvPr/>
        </p:nvSpPr>
        <p:spPr>
          <a:xfrm>
            <a:off x="762000" y="4445000"/>
            <a:ext cx="5207000" cy="13335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952500" y="4597400"/>
            <a:ext cx="63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03</a:t>
            </a:r>
            <a:endParaRPr lang="en-US" sz="1100"/>
          </a:p>
        </p:txBody>
      </p:sp>
      <p:sp>
        <p:nvSpPr>
          <p:cNvPr id="16" name="AutoShape 16"/>
          <p:cNvSpPr/>
          <p:nvPr/>
        </p:nvSpPr>
        <p:spPr>
          <a:xfrm>
            <a:off x="1587500" y="4622800"/>
            <a:ext cx="425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一次调频控制</a:t>
            </a:r>
            <a:r>
              <a:rPr lang="en-US" sz="1800" b="1" i="0" u="none" strike="noStrike" dirty="0">
                <a:solidFill>
                  <a:srgbClr val="1F2937"/>
                </a:solidFill>
                <a:latin typeface="SimHei"/>
                <a:ea typeface="SimHei"/>
                <a:cs typeface="SimHei"/>
                <a:sym typeface="SimHei"/>
              </a:rPr>
              <a:t> </a:t>
            </a:r>
            <a:r>
              <a:rPr lang="en-US" b="0" i="0" u="none" strike="noStrike" dirty="0">
                <a:solidFill>
                  <a:srgbClr val="6B7280"/>
                </a:solidFill>
                <a:latin typeface="SimHei"/>
                <a:ea typeface="SimHei"/>
                <a:cs typeface="SimHei"/>
                <a:sym typeface="SimHei"/>
              </a:rPr>
              <a:t>| 25MW规模</a:t>
            </a:r>
            <a:endParaRPr lang="en-US" sz="1200" dirty="0"/>
          </a:p>
        </p:txBody>
      </p:sp>
      <p:sp>
        <p:nvSpPr>
          <p:cNvPr id="17" name="AutoShape 17"/>
          <p:cNvSpPr/>
          <p:nvPr/>
        </p:nvSpPr>
        <p:spPr>
          <a:xfrm>
            <a:off x="1587500" y="50165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solidFill>
                  <a:srgbClr val="4B5563"/>
                </a:solidFill>
                <a:latin typeface="SimHei"/>
                <a:ea typeface="SimHei"/>
                <a:cs typeface="SimHei"/>
                <a:sym typeface="SimHei"/>
              </a:rPr>
              <a:t>核心：四阶段状态机控制</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变参数PI调节算法</a:t>
            </a:r>
            <a:endParaRPr lang="en-US" dirty="0"/>
          </a:p>
        </p:txBody>
      </p:sp>
      <p:sp>
        <p:nvSpPr>
          <p:cNvPr id="18" name="AutoShape 18"/>
          <p:cNvSpPr/>
          <p:nvPr/>
        </p:nvSpPr>
        <p:spPr>
          <a:xfrm>
            <a:off x="1587500" y="53594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rgbClr val="22C55E"/>
                </a:solidFill>
                <a:latin typeface="SimHei"/>
                <a:ea typeface="SimHei"/>
                <a:cs typeface="SimHei"/>
                <a:sym typeface="SimHei"/>
              </a:rPr>
              <a:t>指标：电网频率偏差恢复至阈值内时间</a:t>
            </a:r>
            <a:r>
              <a:rPr lang="en-US" b="1" i="0" u="none" strike="noStrike" dirty="0">
                <a:solidFill>
                  <a:srgbClr val="22C55E"/>
                </a:solidFill>
                <a:latin typeface="SimHei"/>
                <a:ea typeface="SimHei"/>
                <a:cs typeface="SimHei"/>
                <a:sym typeface="SimHei"/>
              </a:rPr>
              <a:t> &lt; 30秒</a:t>
            </a:r>
            <a:endParaRPr lang="en-US" sz="1200" dirty="0"/>
          </a:p>
        </p:txBody>
      </p:sp>
      <p:sp>
        <p:nvSpPr>
          <p:cNvPr id="19" name="AutoShape 19"/>
          <p:cNvSpPr/>
          <p:nvPr/>
        </p:nvSpPr>
        <p:spPr>
          <a:xfrm>
            <a:off x="6350000" y="1524000"/>
            <a:ext cx="5207000" cy="13335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540500" y="1676400"/>
            <a:ext cx="63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04</a:t>
            </a:r>
            <a:endParaRPr lang="en-US" sz="1100"/>
          </a:p>
        </p:txBody>
      </p:sp>
      <p:sp>
        <p:nvSpPr>
          <p:cNvPr id="21" name="AutoShape 21"/>
          <p:cNvSpPr/>
          <p:nvPr/>
        </p:nvSpPr>
        <p:spPr>
          <a:xfrm>
            <a:off x="7175500" y="1701800"/>
            <a:ext cx="425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调度指令爬坡跟踪</a:t>
            </a:r>
            <a:r>
              <a:rPr lang="en-US" sz="1800" b="1" i="0" u="none" strike="noStrike" dirty="0">
                <a:solidFill>
                  <a:srgbClr val="1F2937"/>
                </a:solidFill>
                <a:latin typeface="SimHei"/>
                <a:ea typeface="SimHei"/>
                <a:cs typeface="SimHei"/>
                <a:sym typeface="SimHei"/>
              </a:rPr>
              <a:t> </a:t>
            </a:r>
            <a:r>
              <a:rPr lang="en-US" b="0" i="0" u="none" strike="noStrike" dirty="0">
                <a:solidFill>
                  <a:srgbClr val="6B7280"/>
                </a:solidFill>
                <a:latin typeface="SimHei"/>
                <a:ea typeface="SimHei"/>
                <a:cs typeface="SimHei"/>
                <a:sym typeface="SimHei"/>
              </a:rPr>
              <a:t>| 100MW规模</a:t>
            </a:r>
            <a:endParaRPr lang="en-US" sz="1200" dirty="0"/>
          </a:p>
        </p:txBody>
      </p:sp>
      <p:sp>
        <p:nvSpPr>
          <p:cNvPr id="22" name="AutoShape 22"/>
          <p:cNvSpPr/>
          <p:nvPr/>
        </p:nvSpPr>
        <p:spPr>
          <a:xfrm>
            <a:off x="7175500" y="20955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solidFill>
                  <a:srgbClr val="4B5563"/>
                </a:solidFill>
                <a:latin typeface="SimHei"/>
                <a:ea typeface="SimHei"/>
                <a:cs typeface="SimHei"/>
                <a:sym typeface="SimHei"/>
              </a:rPr>
              <a:t>核心：指令平滑预处理器</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动态PID补偿</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机械保护</a:t>
            </a:r>
            <a:endParaRPr lang="en-US" dirty="0"/>
          </a:p>
        </p:txBody>
      </p:sp>
      <p:sp>
        <p:nvSpPr>
          <p:cNvPr id="23" name="AutoShape 23"/>
          <p:cNvSpPr/>
          <p:nvPr/>
        </p:nvSpPr>
        <p:spPr>
          <a:xfrm>
            <a:off x="7175500" y="24384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rgbClr val="22C55E"/>
                </a:solidFill>
                <a:latin typeface="SimHei"/>
                <a:ea typeface="SimHei"/>
                <a:cs typeface="SimHei"/>
                <a:sym typeface="SimHei"/>
              </a:rPr>
              <a:t>指标：稳态指令跟踪误差绝对值</a:t>
            </a:r>
            <a:r>
              <a:rPr lang="en-US" b="1" i="0" u="none" strike="noStrike" dirty="0">
                <a:solidFill>
                  <a:srgbClr val="22C55E"/>
                </a:solidFill>
                <a:latin typeface="SimHei"/>
                <a:ea typeface="SimHei"/>
                <a:cs typeface="SimHei"/>
                <a:sym typeface="SimHei"/>
              </a:rPr>
              <a:t> &lt; 0.5MW</a:t>
            </a:r>
            <a:endParaRPr lang="en-US" sz="1200" dirty="0"/>
          </a:p>
        </p:txBody>
      </p:sp>
      <p:sp>
        <p:nvSpPr>
          <p:cNvPr id="24" name="AutoShape 24"/>
          <p:cNvSpPr/>
          <p:nvPr/>
        </p:nvSpPr>
        <p:spPr>
          <a:xfrm>
            <a:off x="6350000" y="2984500"/>
            <a:ext cx="5207000" cy="13335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540500" y="3136900"/>
            <a:ext cx="63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05</a:t>
            </a:r>
            <a:endParaRPr lang="en-US" sz="1100"/>
          </a:p>
        </p:txBody>
      </p:sp>
      <p:sp>
        <p:nvSpPr>
          <p:cNvPr id="26" name="AutoShape 26"/>
          <p:cNvSpPr/>
          <p:nvPr/>
        </p:nvSpPr>
        <p:spPr>
          <a:xfrm>
            <a:off x="7175500" y="3162300"/>
            <a:ext cx="425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限电备用优化调度</a:t>
            </a:r>
            <a:r>
              <a:rPr lang="en-US" sz="1800" b="1" i="0" u="none" strike="noStrike" dirty="0">
                <a:solidFill>
                  <a:srgbClr val="1F2937"/>
                </a:solidFill>
                <a:latin typeface="SimHei"/>
                <a:ea typeface="SimHei"/>
                <a:cs typeface="SimHei"/>
                <a:sym typeface="SimHei"/>
              </a:rPr>
              <a:t> </a:t>
            </a:r>
            <a:r>
              <a:rPr lang="en-US" b="0" i="0" u="none" strike="noStrike" dirty="0">
                <a:solidFill>
                  <a:srgbClr val="6B7280"/>
                </a:solidFill>
                <a:latin typeface="SimHei"/>
                <a:ea typeface="SimHei"/>
                <a:cs typeface="SimHei"/>
                <a:sym typeface="SimHei"/>
              </a:rPr>
              <a:t>| 100MW规模</a:t>
            </a:r>
            <a:endParaRPr lang="en-US" sz="1200" dirty="0"/>
          </a:p>
        </p:txBody>
      </p:sp>
      <p:sp>
        <p:nvSpPr>
          <p:cNvPr id="27" name="AutoShape 27"/>
          <p:cNvSpPr/>
          <p:nvPr/>
        </p:nvSpPr>
        <p:spPr>
          <a:xfrm>
            <a:off x="7175500" y="35560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solidFill>
                  <a:srgbClr val="4B5563"/>
                </a:solidFill>
                <a:latin typeface="SimHei"/>
                <a:ea typeface="SimHei"/>
                <a:cs typeface="SimHei"/>
                <a:sym typeface="SimHei"/>
              </a:rPr>
              <a:t>核心：运行模式智能决策</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安全指数评估</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轮休调度</a:t>
            </a:r>
            <a:endParaRPr lang="en-US" dirty="0"/>
          </a:p>
        </p:txBody>
      </p:sp>
      <p:sp>
        <p:nvSpPr>
          <p:cNvPr id="28" name="AutoShape 28"/>
          <p:cNvSpPr/>
          <p:nvPr/>
        </p:nvSpPr>
        <p:spPr>
          <a:xfrm>
            <a:off x="7175500" y="38989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rgbClr val="22C55E"/>
                </a:solidFill>
                <a:latin typeface="SimHei"/>
                <a:ea typeface="SimHei"/>
                <a:cs typeface="SimHei"/>
                <a:sym typeface="SimHei"/>
              </a:rPr>
              <a:t>指标：三种限电运行模式实现毫秒级自动切换</a:t>
            </a:r>
            <a:endParaRPr lang="en-US" sz="1200" dirty="0"/>
          </a:p>
        </p:txBody>
      </p:sp>
      <p:sp>
        <p:nvSpPr>
          <p:cNvPr id="29" name="AutoShape 29"/>
          <p:cNvSpPr/>
          <p:nvPr/>
        </p:nvSpPr>
        <p:spPr>
          <a:xfrm>
            <a:off x="6350000" y="4445000"/>
            <a:ext cx="5207000" cy="1333500"/>
          </a:xfrm>
          <a:prstGeom prst="roundRect">
            <a:avLst>
              <a:gd name="adj" fmla="val 0"/>
            </a:avLst>
          </a:prstGeom>
          <a:solidFill>
            <a:srgbClr val="FFFFFF">
              <a:alpha val="6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6540500" y="4597400"/>
            <a:ext cx="63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SimHei"/>
                <a:ea typeface="SimHei"/>
                <a:cs typeface="SimHei"/>
                <a:sym typeface="SimHei"/>
              </a:rPr>
              <a:t>06</a:t>
            </a:r>
            <a:endParaRPr lang="en-US" sz="1100"/>
          </a:p>
        </p:txBody>
      </p:sp>
      <p:sp>
        <p:nvSpPr>
          <p:cNvPr id="31" name="AutoShape 31"/>
          <p:cNvSpPr/>
          <p:nvPr/>
        </p:nvSpPr>
        <p:spPr>
          <a:xfrm>
            <a:off x="7175500" y="4622800"/>
            <a:ext cx="425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1F2937"/>
                </a:solidFill>
                <a:latin typeface="SimHei"/>
                <a:ea typeface="SimHei"/>
                <a:cs typeface="SimHei"/>
                <a:sym typeface="SimHei"/>
              </a:rPr>
              <a:t>通信中断安全模式</a:t>
            </a:r>
            <a:r>
              <a:rPr lang="en-US" sz="1800" b="1" i="0" u="none" strike="noStrike" dirty="0">
                <a:solidFill>
                  <a:srgbClr val="1F2937"/>
                </a:solidFill>
                <a:latin typeface="SimHei"/>
                <a:ea typeface="SimHei"/>
                <a:cs typeface="SimHei"/>
                <a:sym typeface="SimHei"/>
              </a:rPr>
              <a:t> </a:t>
            </a:r>
            <a:r>
              <a:rPr lang="en-US" b="0" i="0" u="none" strike="noStrike" dirty="0">
                <a:solidFill>
                  <a:srgbClr val="6B7280"/>
                </a:solidFill>
                <a:latin typeface="SimHei"/>
                <a:ea typeface="SimHei"/>
                <a:cs typeface="SimHei"/>
                <a:sym typeface="SimHei"/>
              </a:rPr>
              <a:t>| 40MW规模</a:t>
            </a:r>
            <a:endParaRPr lang="en-US" sz="1200" dirty="0"/>
          </a:p>
        </p:txBody>
      </p:sp>
      <p:sp>
        <p:nvSpPr>
          <p:cNvPr id="32" name="AutoShape 32"/>
          <p:cNvSpPr/>
          <p:nvPr/>
        </p:nvSpPr>
        <p:spPr>
          <a:xfrm>
            <a:off x="7175500" y="50165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0" i="0" u="none" strike="noStrike" dirty="0" err="1">
                <a:solidFill>
                  <a:srgbClr val="4B5563"/>
                </a:solidFill>
                <a:latin typeface="SimHei"/>
                <a:ea typeface="SimHei"/>
                <a:cs typeface="SimHei"/>
                <a:sym typeface="SimHei"/>
              </a:rPr>
              <a:t>核心：通信状态冻结机制</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三级降载保护</a:t>
            </a:r>
            <a:r>
              <a:rPr lang="en-US" b="0" i="0" u="none" strike="noStrike" dirty="0">
                <a:solidFill>
                  <a:srgbClr val="4B5563"/>
                </a:solidFill>
                <a:latin typeface="SimHei"/>
                <a:ea typeface="SimHei"/>
                <a:cs typeface="SimHei"/>
                <a:sym typeface="SimHei"/>
              </a:rPr>
              <a:t> + </a:t>
            </a:r>
            <a:r>
              <a:rPr lang="en-US" b="0" i="0" u="none" strike="noStrike" dirty="0" err="1">
                <a:solidFill>
                  <a:srgbClr val="4B5563"/>
                </a:solidFill>
                <a:latin typeface="SimHei"/>
                <a:ea typeface="SimHei"/>
                <a:cs typeface="SimHei"/>
                <a:sym typeface="SimHei"/>
              </a:rPr>
              <a:t>恢复协调</a:t>
            </a:r>
            <a:endParaRPr lang="en-US" dirty="0"/>
          </a:p>
        </p:txBody>
      </p:sp>
      <p:sp>
        <p:nvSpPr>
          <p:cNvPr id="33" name="AutoShape 33"/>
          <p:cNvSpPr/>
          <p:nvPr/>
        </p:nvSpPr>
        <p:spPr>
          <a:xfrm>
            <a:off x="7175500" y="5359400"/>
            <a:ext cx="4254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dirty="0" err="1">
                <a:solidFill>
                  <a:srgbClr val="22C55E"/>
                </a:solidFill>
                <a:latin typeface="SimHei"/>
                <a:ea typeface="SimHei"/>
                <a:cs typeface="SimHei"/>
                <a:sym typeface="SimHei"/>
              </a:rPr>
              <a:t>指标：单机无故障不间断安全运行</a:t>
            </a:r>
            <a:r>
              <a:rPr lang="en-US" b="1" i="0" u="none" strike="noStrike" dirty="0">
                <a:solidFill>
                  <a:srgbClr val="22C55E"/>
                </a:solidFill>
                <a:latin typeface="SimHei"/>
                <a:ea typeface="SimHei"/>
                <a:cs typeface="SimHei"/>
                <a:sym typeface="SimHei"/>
              </a:rPr>
              <a:t> ≥ 1440分钟</a:t>
            </a:r>
            <a:endParaRPr lang="en-US" sz="1200" dirty="0"/>
          </a:p>
        </p:txBody>
      </p:sp>
      <p:sp>
        <p:nvSpPr>
          <p:cNvPr id="34" name="AutoShape 34"/>
          <p:cNvSpPr/>
          <p:nvPr/>
        </p:nvSpPr>
        <p:spPr>
          <a:xfrm>
            <a:off x="762000" y="5905500"/>
            <a:ext cx="10795000" cy="6350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6096000"/>
            <a:ext cx="254000" cy="254000"/>
          </a:xfrm>
          <a:prstGeom prst="rect">
            <a:avLst/>
          </a:prstGeom>
        </p:spPr>
      </p:pic>
      <p:sp>
        <p:nvSpPr>
          <p:cNvPr id="36" name="AutoShape 36"/>
          <p:cNvSpPr/>
          <p:nvPr/>
        </p:nvSpPr>
        <p:spPr>
          <a:xfrm>
            <a:off x="1397000" y="6059178"/>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1F2937"/>
                </a:solidFill>
                <a:latin typeface="SimHei"/>
                <a:ea typeface="SimHei"/>
                <a:cs typeface="SimHei"/>
                <a:sym typeface="SimHei"/>
              </a:rPr>
              <a:t>新增</a:t>
            </a:r>
            <a:r>
              <a:rPr lang="en-US" sz="1400" b="0" i="0" u="none" strike="noStrike" dirty="0">
                <a:solidFill>
                  <a:srgbClr val="1F2937"/>
                </a:solidFill>
                <a:latin typeface="SimHei"/>
                <a:ea typeface="SimHei"/>
                <a:cs typeface="SimHei"/>
                <a:sym typeface="SimHei"/>
              </a:rPr>
              <a:t> V2 Logger </a:t>
            </a:r>
            <a:r>
              <a:rPr lang="en-US" sz="1400" b="0" i="0" u="none" strike="noStrike" dirty="0" err="1">
                <a:solidFill>
                  <a:srgbClr val="1F2937"/>
                </a:solidFill>
                <a:latin typeface="SimHei"/>
                <a:ea typeface="SimHei"/>
                <a:cs typeface="SimHei"/>
                <a:sym typeface="SimHei"/>
              </a:rPr>
              <a:t>模块，数据直写</a:t>
            </a:r>
            <a:r>
              <a:rPr lang="en-US" sz="1400" b="0" i="0" u="none" strike="noStrike" dirty="0">
                <a:solidFill>
                  <a:srgbClr val="1F2937"/>
                </a:solidFill>
                <a:latin typeface="SimHei"/>
                <a:ea typeface="SimHei"/>
                <a:cs typeface="SimHei"/>
                <a:sym typeface="SimHei"/>
              </a:rPr>
              <a:t> RT_DB</a:t>
            </a:r>
            <a:endParaRPr lang="en-US" sz="1100" dirty="0"/>
          </a:p>
        </p:txBody>
      </p:sp>
      <p:pic>
        <p:nvPicPr>
          <p:cNvPr id="37" name="Picture 3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07014" y="6096000"/>
            <a:ext cx="254000" cy="254000"/>
          </a:xfrm>
          <a:prstGeom prst="rect">
            <a:avLst/>
          </a:prstGeom>
        </p:spPr>
      </p:pic>
      <p:sp>
        <p:nvSpPr>
          <p:cNvPr id="38" name="AutoShape 38"/>
          <p:cNvSpPr/>
          <p:nvPr/>
        </p:nvSpPr>
        <p:spPr>
          <a:xfrm>
            <a:off x="5045055" y="6059178"/>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1F2937"/>
                </a:solidFill>
                <a:latin typeface="SimHei"/>
                <a:ea typeface="SimHei"/>
                <a:cs typeface="SimHei"/>
                <a:sym typeface="SimHei"/>
              </a:rPr>
              <a:t>主程序改动</a:t>
            </a:r>
            <a:r>
              <a:rPr lang="en-US" sz="1400" b="0" i="0" u="none" strike="noStrike" dirty="0">
                <a:solidFill>
                  <a:srgbClr val="1F2937"/>
                </a:solidFill>
                <a:latin typeface="SimHei"/>
                <a:ea typeface="SimHei"/>
                <a:cs typeface="SimHei"/>
                <a:sym typeface="SimHei"/>
              </a:rPr>
              <a:t> ≤ 10行，实现即插即用</a:t>
            </a:r>
            <a:endParaRPr lang="en-US" sz="1100" dirty="0"/>
          </a:p>
        </p:txBody>
      </p:sp>
      <p:pic>
        <p:nvPicPr>
          <p:cNvPr id="39" name="Picture 3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05329" y="6096000"/>
            <a:ext cx="254000" cy="254000"/>
          </a:xfrm>
          <a:prstGeom prst="rect">
            <a:avLst/>
          </a:prstGeom>
        </p:spPr>
      </p:pic>
      <p:sp>
        <p:nvSpPr>
          <p:cNvPr id="40" name="AutoShape 40"/>
          <p:cNvSpPr/>
          <p:nvPr/>
        </p:nvSpPr>
        <p:spPr>
          <a:xfrm>
            <a:off x="8418822" y="6059178"/>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1F2937"/>
                </a:solidFill>
                <a:latin typeface="SimHei"/>
                <a:ea typeface="SimHei"/>
                <a:cs typeface="SimHei"/>
                <a:sym typeface="SimHei"/>
              </a:rPr>
              <a:t>原始算法逻辑零改动，资产价值无损</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统一AGC系统架构详解</a:t>
            </a:r>
            <a:endParaRPr lang="en-US" sz="1100"/>
          </a:p>
        </p:txBody>
      </p:sp>
      <p:sp>
        <p:nvSpPr>
          <p:cNvPr id="4" name="AutoShape 4"/>
          <p:cNvSpPr/>
          <p:nvPr/>
        </p:nvSpPr>
        <p:spPr>
          <a:xfrm>
            <a:off x="762000" y="1778000"/>
            <a:ext cx="5207000" cy="4064000"/>
          </a:xfrm>
          <a:prstGeom prst="roundRect">
            <a:avLst>
              <a:gd name="adj" fmla="val 0"/>
            </a:avLst>
          </a:prstGeom>
          <a:solidFill>
            <a:srgbClr val="FFFFFF">
              <a:alpha val="7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032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SimHei"/>
                <a:ea typeface="SimHei"/>
                <a:cs typeface="SimHei"/>
                <a:sym typeface="SimHei"/>
              </a:rPr>
              <a:t>01 核心控制流程（每周期）</a:t>
            </a:r>
            <a:endParaRPr lang="en-US" sz="1100"/>
          </a:p>
        </p:txBody>
      </p:sp>
      <p:sp>
        <p:nvSpPr>
          <p:cNvPr id="6" name="AutoShape 6"/>
          <p:cNvSpPr/>
          <p:nvPr/>
        </p:nvSpPr>
        <p:spPr>
          <a:xfrm>
            <a:off x="1016000" y="2667000"/>
            <a:ext cx="23495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2794000"/>
            <a:ext cx="304800" cy="304800"/>
          </a:xfrm>
          <a:prstGeom prst="rect">
            <a:avLst/>
          </a:prstGeom>
        </p:spPr>
      </p:pic>
      <p:sp>
        <p:nvSpPr>
          <p:cNvPr id="8" name="AutoShape 8"/>
          <p:cNvSpPr/>
          <p:nvPr/>
        </p:nvSpPr>
        <p:spPr>
          <a:xfrm>
            <a:off x="1498600" y="27940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01 </a:t>
            </a:r>
            <a:r>
              <a:rPr lang="en-US" sz="1600" b="1" i="0" u="none" strike="noStrike" dirty="0" err="1">
                <a:solidFill>
                  <a:srgbClr val="1F2937"/>
                </a:solidFill>
                <a:latin typeface="SimHei"/>
                <a:ea typeface="SimHei"/>
                <a:cs typeface="SimHei"/>
                <a:sym typeface="SimHei"/>
              </a:rPr>
              <a:t>工况智能检测</a:t>
            </a:r>
            <a:endParaRPr lang="en-US" sz="1200" dirty="0"/>
          </a:p>
        </p:txBody>
      </p:sp>
      <p:sp>
        <p:nvSpPr>
          <p:cNvPr id="9" name="AutoShape 9"/>
          <p:cNvSpPr/>
          <p:nvPr/>
        </p:nvSpPr>
        <p:spPr>
          <a:xfrm>
            <a:off x="1143000" y="31750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SimHei"/>
                <a:ea typeface="SimHei"/>
                <a:cs typeface="SimHei"/>
                <a:sym typeface="SimHei"/>
              </a:rPr>
              <a:t>融合机组状态与调度指令，按安全优先原则判定运行工况ID</a:t>
            </a:r>
            <a:r>
              <a:rPr lang="en-US" sz="1300" b="0" i="0" u="none" strike="noStrike" dirty="0">
                <a:solidFill>
                  <a:srgbClr val="4B5563"/>
                </a:solidFill>
                <a:latin typeface="SimHei"/>
                <a:ea typeface="SimHei"/>
                <a:cs typeface="SimHei"/>
                <a:sym typeface="SimHei"/>
              </a:rPr>
              <a:t>。</a:t>
            </a:r>
            <a:endParaRPr lang="en-US" sz="1300" dirty="0"/>
          </a:p>
        </p:txBody>
      </p:sp>
      <p:sp>
        <p:nvSpPr>
          <p:cNvPr id="10" name="AutoShape 10"/>
          <p:cNvSpPr/>
          <p:nvPr/>
        </p:nvSpPr>
        <p:spPr>
          <a:xfrm>
            <a:off x="3492500" y="2667000"/>
            <a:ext cx="23495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2794000"/>
            <a:ext cx="304800" cy="304800"/>
          </a:xfrm>
          <a:prstGeom prst="rect">
            <a:avLst/>
          </a:prstGeom>
        </p:spPr>
      </p:pic>
      <p:sp>
        <p:nvSpPr>
          <p:cNvPr id="12" name="AutoShape 12"/>
          <p:cNvSpPr/>
          <p:nvPr/>
        </p:nvSpPr>
        <p:spPr>
          <a:xfrm>
            <a:off x="3975100" y="27940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02 </a:t>
            </a:r>
            <a:r>
              <a:rPr lang="en-US" sz="1600" b="1" i="0" u="none" strike="noStrike" dirty="0" err="1">
                <a:solidFill>
                  <a:srgbClr val="1F2937"/>
                </a:solidFill>
                <a:latin typeface="SimHei"/>
                <a:ea typeface="SimHei"/>
                <a:cs typeface="SimHei"/>
                <a:sym typeface="SimHei"/>
              </a:rPr>
              <a:t>策略动态匹配</a:t>
            </a:r>
            <a:endParaRPr lang="en-US" sz="1200" dirty="0"/>
          </a:p>
        </p:txBody>
      </p:sp>
      <p:sp>
        <p:nvSpPr>
          <p:cNvPr id="13" name="AutoShape 13"/>
          <p:cNvSpPr/>
          <p:nvPr/>
        </p:nvSpPr>
        <p:spPr>
          <a:xfrm>
            <a:off x="3619500" y="31750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SimHei"/>
                <a:ea typeface="SimHei"/>
                <a:cs typeface="SimHei"/>
                <a:sym typeface="SimHei"/>
              </a:rPr>
              <a:t>基于工况ID索引策略池，自动激活对应场景的控制算法实例</a:t>
            </a:r>
            <a:r>
              <a:rPr lang="en-US" sz="1300" b="0" i="0" u="none" strike="noStrike" dirty="0">
                <a:solidFill>
                  <a:srgbClr val="4B5563"/>
                </a:solidFill>
                <a:latin typeface="SimHei"/>
                <a:ea typeface="SimHei"/>
                <a:cs typeface="SimHei"/>
                <a:sym typeface="SimHei"/>
              </a:rPr>
              <a:t>。</a:t>
            </a:r>
            <a:endParaRPr lang="en-US" sz="1300" dirty="0"/>
          </a:p>
        </p:txBody>
      </p:sp>
      <p:sp>
        <p:nvSpPr>
          <p:cNvPr id="14" name="AutoShape 14"/>
          <p:cNvSpPr/>
          <p:nvPr/>
        </p:nvSpPr>
        <p:spPr>
          <a:xfrm>
            <a:off x="1016000" y="3937000"/>
            <a:ext cx="23495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4064000"/>
            <a:ext cx="304800" cy="304800"/>
          </a:xfrm>
          <a:prstGeom prst="rect">
            <a:avLst/>
          </a:prstGeom>
        </p:spPr>
      </p:pic>
      <p:sp>
        <p:nvSpPr>
          <p:cNvPr id="16" name="AutoShape 16"/>
          <p:cNvSpPr/>
          <p:nvPr/>
        </p:nvSpPr>
        <p:spPr>
          <a:xfrm>
            <a:off x="1498600" y="40640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03 </a:t>
            </a:r>
            <a:r>
              <a:rPr lang="en-US" sz="1600" b="1" i="0" u="none" strike="noStrike" dirty="0" err="1">
                <a:solidFill>
                  <a:srgbClr val="1F2937"/>
                </a:solidFill>
                <a:latin typeface="SimHei"/>
                <a:ea typeface="SimHei"/>
                <a:cs typeface="SimHei"/>
                <a:sym typeface="SimHei"/>
              </a:rPr>
              <a:t>多态逻辑解算</a:t>
            </a:r>
            <a:endParaRPr lang="en-US" sz="1200" dirty="0"/>
          </a:p>
        </p:txBody>
      </p:sp>
      <p:sp>
        <p:nvSpPr>
          <p:cNvPr id="17" name="AutoShape 17"/>
          <p:cNvSpPr/>
          <p:nvPr/>
        </p:nvSpPr>
        <p:spPr>
          <a:xfrm>
            <a:off x="1143000" y="44450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SimHei"/>
                <a:ea typeface="SimHei"/>
                <a:cs typeface="SimHei"/>
                <a:sym typeface="SimHei"/>
              </a:rPr>
              <a:t>调用策略Step方法，实时计算单台风机的功率与桨距控制指令</a:t>
            </a:r>
            <a:r>
              <a:rPr lang="en-US" sz="1300" b="0" i="0" u="none" strike="noStrike" dirty="0">
                <a:solidFill>
                  <a:srgbClr val="4B5563"/>
                </a:solidFill>
                <a:latin typeface="SimHei"/>
                <a:ea typeface="SimHei"/>
                <a:cs typeface="SimHei"/>
                <a:sym typeface="SimHei"/>
              </a:rPr>
              <a:t>。</a:t>
            </a:r>
            <a:endParaRPr lang="en-US" sz="1300" dirty="0"/>
          </a:p>
        </p:txBody>
      </p:sp>
      <p:sp>
        <p:nvSpPr>
          <p:cNvPr id="18" name="AutoShape 18"/>
          <p:cNvSpPr/>
          <p:nvPr/>
        </p:nvSpPr>
        <p:spPr>
          <a:xfrm>
            <a:off x="3492500" y="3937000"/>
            <a:ext cx="2349500" cy="1079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9500" y="4064000"/>
            <a:ext cx="304800" cy="304800"/>
          </a:xfrm>
          <a:prstGeom prst="rect">
            <a:avLst/>
          </a:prstGeom>
        </p:spPr>
      </p:pic>
      <p:sp>
        <p:nvSpPr>
          <p:cNvPr id="20" name="AutoShape 20"/>
          <p:cNvSpPr/>
          <p:nvPr/>
        </p:nvSpPr>
        <p:spPr>
          <a:xfrm>
            <a:off x="3975100" y="40640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04 </a:t>
            </a:r>
            <a:r>
              <a:rPr lang="en-US" sz="1600" b="1" i="0" u="none" strike="noStrike" dirty="0" err="1">
                <a:solidFill>
                  <a:srgbClr val="1F2937"/>
                </a:solidFill>
                <a:latin typeface="SimHei"/>
                <a:ea typeface="SimHei"/>
                <a:cs typeface="SimHei"/>
                <a:sym typeface="SimHei"/>
              </a:rPr>
              <a:t>指令同步下发</a:t>
            </a:r>
            <a:endParaRPr lang="en-US" sz="1200" dirty="0"/>
          </a:p>
        </p:txBody>
      </p:sp>
      <p:sp>
        <p:nvSpPr>
          <p:cNvPr id="21" name="AutoShape 21"/>
          <p:cNvSpPr/>
          <p:nvPr/>
        </p:nvSpPr>
        <p:spPr>
          <a:xfrm>
            <a:off x="3619500" y="4445000"/>
            <a:ext cx="215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dirty="0" err="1">
                <a:solidFill>
                  <a:srgbClr val="4B5563"/>
                </a:solidFill>
                <a:latin typeface="SimHei"/>
                <a:ea typeface="SimHei"/>
                <a:cs typeface="SimHei"/>
                <a:sym typeface="SimHei"/>
              </a:rPr>
              <a:t>输出指令至执行层，并将状态同步至实时数据库共享内存</a:t>
            </a:r>
            <a:r>
              <a:rPr lang="en-US" sz="1300" b="0" i="0" u="none" strike="noStrike" dirty="0">
                <a:solidFill>
                  <a:srgbClr val="4B5563"/>
                </a:solidFill>
                <a:latin typeface="SimHei"/>
                <a:ea typeface="SimHei"/>
                <a:cs typeface="SimHei"/>
                <a:sym typeface="SimHei"/>
              </a:rPr>
              <a:t>。</a:t>
            </a:r>
            <a:endParaRPr lang="en-US" sz="1300" dirty="0"/>
          </a:p>
        </p:txBody>
      </p:sp>
      <p:sp>
        <p:nvSpPr>
          <p:cNvPr id="22" name="AutoShape 22"/>
          <p:cNvSpPr/>
          <p:nvPr/>
        </p:nvSpPr>
        <p:spPr>
          <a:xfrm>
            <a:off x="1016000" y="5202993"/>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1" i="0" u="none" strike="noStrike" dirty="0" err="1">
                <a:solidFill>
                  <a:srgbClr val="6B7280"/>
                </a:solidFill>
                <a:latin typeface="SimHei"/>
                <a:ea typeface="SimHei"/>
                <a:cs typeface="SimHei"/>
                <a:sym typeface="SimHei"/>
              </a:rPr>
              <a:t>优先级规则：安全</a:t>
            </a:r>
            <a:r>
              <a:rPr lang="en-US" sz="1200" b="1" i="0" u="none" strike="noStrike" dirty="0">
                <a:solidFill>
                  <a:srgbClr val="6B7280"/>
                </a:solidFill>
                <a:latin typeface="SimHei"/>
                <a:ea typeface="SimHei"/>
                <a:cs typeface="SimHei"/>
                <a:sym typeface="SimHei"/>
              </a:rPr>
              <a:t>(6) &gt; </a:t>
            </a:r>
            <a:r>
              <a:rPr lang="en-US" sz="1200" b="1" i="0" u="none" strike="noStrike" dirty="0" err="1">
                <a:solidFill>
                  <a:srgbClr val="6B7280"/>
                </a:solidFill>
                <a:latin typeface="SimHei"/>
                <a:ea typeface="SimHei"/>
                <a:cs typeface="SimHei"/>
                <a:sym typeface="SimHei"/>
              </a:rPr>
              <a:t>调频</a:t>
            </a:r>
            <a:r>
              <a:rPr lang="en-US" sz="1200" b="1" i="0" u="none" strike="noStrike" dirty="0">
                <a:solidFill>
                  <a:srgbClr val="6B7280"/>
                </a:solidFill>
                <a:latin typeface="SimHei"/>
                <a:ea typeface="SimHei"/>
                <a:cs typeface="SimHei"/>
                <a:sym typeface="SimHei"/>
              </a:rPr>
              <a:t>(3) &gt; </a:t>
            </a:r>
            <a:r>
              <a:rPr lang="en-US" sz="1200" b="1" i="0" u="none" strike="noStrike" dirty="0" err="1">
                <a:solidFill>
                  <a:srgbClr val="6B7280"/>
                </a:solidFill>
                <a:latin typeface="SimHei"/>
                <a:ea typeface="SimHei"/>
                <a:cs typeface="SimHei"/>
                <a:sym typeface="SimHei"/>
              </a:rPr>
              <a:t>抑制</a:t>
            </a:r>
            <a:r>
              <a:rPr lang="en-US" sz="1200" b="1" i="0" u="none" strike="noStrike" dirty="0">
                <a:solidFill>
                  <a:srgbClr val="6B7280"/>
                </a:solidFill>
                <a:latin typeface="SimHei"/>
                <a:ea typeface="SimHei"/>
                <a:cs typeface="SimHei"/>
                <a:sym typeface="SimHei"/>
              </a:rPr>
              <a:t>(2) &gt; </a:t>
            </a:r>
            <a:r>
              <a:rPr lang="en-US" sz="1200" b="1" i="0" u="none" strike="noStrike" dirty="0" err="1">
                <a:solidFill>
                  <a:srgbClr val="6B7280"/>
                </a:solidFill>
                <a:latin typeface="SimHei"/>
                <a:ea typeface="SimHei"/>
                <a:cs typeface="SimHei"/>
                <a:sym typeface="SimHei"/>
              </a:rPr>
              <a:t>限电</a:t>
            </a:r>
            <a:r>
              <a:rPr lang="en-US" sz="1200" b="1" i="0" u="none" strike="noStrike" dirty="0">
                <a:solidFill>
                  <a:srgbClr val="6B7280"/>
                </a:solidFill>
                <a:latin typeface="SimHei"/>
                <a:ea typeface="SimHei"/>
                <a:cs typeface="SimHei"/>
                <a:sym typeface="SimHei"/>
              </a:rPr>
              <a:t>(5) &gt; </a:t>
            </a:r>
            <a:r>
              <a:rPr lang="en-US" sz="1200" b="1" i="0" u="none" strike="noStrike" dirty="0" err="1">
                <a:solidFill>
                  <a:srgbClr val="6B7280"/>
                </a:solidFill>
                <a:latin typeface="SimHei"/>
                <a:ea typeface="SimHei"/>
                <a:cs typeface="SimHei"/>
                <a:sym typeface="SimHei"/>
              </a:rPr>
              <a:t>爬坡</a:t>
            </a:r>
            <a:r>
              <a:rPr lang="en-US" sz="1200" b="1" i="0" u="none" strike="noStrike" dirty="0">
                <a:solidFill>
                  <a:srgbClr val="6B7280"/>
                </a:solidFill>
                <a:latin typeface="SimHei"/>
                <a:ea typeface="SimHei"/>
                <a:cs typeface="SimHei"/>
                <a:sym typeface="SimHei"/>
              </a:rPr>
              <a:t>(4) &gt; </a:t>
            </a:r>
            <a:r>
              <a:rPr lang="en-US" sz="1200" b="1" i="0" u="none" strike="noStrike" dirty="0" err="1">
                <a:solidFill>
                  <a:srgbClr val="6B7280"/>
                </a:solidFill>
                <a:latin typeface="SimHei"/>
                <a:ea typeface="SimHei"/>
                <a:cs typeface="SimHei"/>
                <a:sym typeface="SimHei"/>
              </a:rPr>
              <a:t>常规</a:t>
            </a:r>
            <a:r>
              <a:rPr lang="en-US" sz="1200" b="1" i="0" u="none" strike="noStrike" dirty="0">
                <a:solidFill>
                  <a:srgbClr val="6B7280"/>
                </a:solidFill>
                <a:latin typeface="SimHei"/>
                <a:ea typeface="SimHei"/>
                <a:cs typeface="SimHei"/>
                <a:sym typeface="SimHei"/>
              </a:rPr>
              <a:t>(1)，</a:t>
            </a:r>
            <a:r>
              <a:rPr lang="en-US" sz="1200" b="1" i="0" u="none" strike="noStrike" dirty="0" err="1">
                <a:solidFill>
                  <a:srgbClr val="6B7280"/>
                </a:solidFill>
                <a:latin typeface="SimHei"/>
                <a:ea typeface="SimHei"/>
                <a:cs typeface="SimHei"/>
                <a:sym typeface="SimHei"/>
              </a:rPr>
              <a:t>确保极端工况优先响应</a:t>
            </a:r>
            <a:r>
              <a:rPr lang="en-US" sz="1200" b="1" i="0" u="none" strike="noStrike" dirty="0">
                <a:solidFill>
                  <a:srgbClr val="6B7280"/>
                </a:solidFill>
                <a:latin typeface="SimHei"/>
                <a:ea typeface="SimHei"/>
                <a:cs typeface="SimHei"/>
                <a:sym typeface="SimHei"/>
              </a:rPr>
              <a:t>。</a:t>
            </a:r>
            <a:endParaRPr lang="en-US" sz="1100" b="1" dirty="0"/>
          </a:p>
        </p:txBody>
      </p:sp>
      <p:sp>
        <p:nvSpPr>
          <p:cNvPr id="23" name="AutoShape 23"/>
          <p:cNvSpPr/>
          <p:nvPr/>
        </p:nvSpPr>
        <p:spPr>
          <a:xfrm>
            <a:off x="6223000" y="1778000"/>
            <a:ext cx="5207000" cy="4064000"/>
          </a:xfrm>
          <a:prstGeom prst="roundRect">
            <a:avLst>
              <a:gd name="adj" fmla="val 0"/>
            </a:avLst>
          </a:prstGeom>
          <a:solidFill>
            <a:srgbClr val="1F2937">
              <a:alpha val="8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477000" y="2032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SimHei"/>
                <a:ea typeface="SimHei"/>
                <a:cs typeface="SimHei"/>
                <a:sym typeface="SimHei"/>
              </a:rPr>
              <a:t>02 核心逻辑代码 (UnifiedAGC::step)</a:t>
            </a:r>
            <a:endParaRPr lang="en-US" sz="1100"/>
          </a:p>
        </p:txBody>
      </p:sp>
      <p:sp>
        <p:nvSpPr>
          <p:cNvPr id="25" name="AutoShape 25"/>
          <p:cNvSpPr/>
          <p:nvPr/>
        </p:nvSpPr>
        <p:spPr>
          <a:xfrm>
            <a:off x="6477000" y="2667000"/>
            <a:ext cx="4699000" cy="1968500"/>
          </a:xfrm>
          <a:prstGeom prst="roundRect">
            <a:avLst>
              <a:gd name="adj" fmla="val 0"/>
            </a:avLst>
          </a:prstGeom>
          <a:solidFill>
            <a:srgbClr val="111827">
              <a:alpha val="60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604000" y="2768600"/>
            <a:ext cx="4508500" cy="18415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en-US" sz="1300" b="0" i="0" u="none" strike="noStrike" dirty="0">
                <a:solidFill>
                  <a:srgbClr val="9CA3AF"/>
                </a:solidFill>
                <a:latin typeface="SimHei"/>
                <a:ea typeface="SimHei"/>
                <a:cs typeface="SimHei"/>
                <a:sym typeface="SimHei"/>
              </a:rPr>
              <a:t>// 1. </a:t>
            </a:r>
            <a:r>
              <a:rPr lang="en-US" sz="1300" b="0" i="0" u="none" strike="noStrike" dirty="0" err="1">
                <a:solidFill>
                  <a:srgbClr val="9CA3AF"/>
                </a:solidFill>
                <a:latin typeface="SimHei"/>
                <a:ea typeface="SimHei"/>
                <a:cs typeface="SimHei"/>
                <a:sym typeface="SimHei"/>
              </a:rPr>
              <a:t>检测当前工况与场景ID</a:t>
            </a:r>
            <a:br>
              <a:rPr lang="en-US" sz="1300" b="0" i="0" u="none" strike="noStrike" dirty="0">
                <a:solidFill>
                  <a:srgbClr val="1F2329"/>
                </a:solidFill>
                <a:latin typeface="SimHei"/>
                <a:ea typeface="SimHei"/>
                <a:cs typeface="SimHei"/>
                <a:sym typeface="SimHei"/>
              </a:rPr>
            </a:br>
            <a:r>
              <a:rPr lang="en-US" sz="1300" b="0" i="0" u="none" strike="noStrike" dirty="0">
                <a:solidFill>
                  <a:srgbClr val="E5E7EB"/>
                </a:solidFill>
                <a:latin typeface="SimHei"/>
                <a:ea typeface="SimHei"/>
                <a:cs typeface="SimHei"/>
                <a:sym typeface="SimHei"/>
              </a:rPr>
              <a:t>auto </a:t>
            </a:r>
            <a:r>
              <a:rPr lang="en-US" sz="1300" b="0" i="0" u="none" strike="noStrike" dirty="0" err="1">
                <a:solidFill>
                  <a:srgbClr val="E5E7EB"/>
                </a:solidFill>
                <a:latin typeface="SimHei"/>
                <a:ea typeface="SimHei"/>
                <a:cs typeface="SimHei"/>
                <a:sym typeface="SimHei"/>
              </a:rPr>
              <a:t>cond</a:t>
            </a:r>
            <a:r>
              <a:rPr lang="en-US" sz="1300" b="0" i="0" u="none" strike="noStrike" dirty="0">
                <a:solidFill>
                  <a:srgbClr val="E5E7EB"/>
                </a:solidFill>
                <a:latin typeface="SimHei"/>
                <a:ea typeface="SimHei"/>
                <a:cs typeface="SimHei"/>
                <a:sym typeface="SimHei"/>
              </a:rPr>
              <a:t> = </a:t>
            </a:r>
            <a:r>
              <a:rPr lang="en-US" sz="1300" b="0" i="0" u="none" strike="noStrike" dirty="0" err="1">
                <a:solidFill>
                  <a:srgbClr val="E5E7EB"/>
                </a:solidFill>
                <a:latin typeface="SimHei"/>
                <a:ea typeface="SimHei"/>
                <a:cs typeface="SimHei"/>
                <a:sym typeface="SimHei"/>
              </a:rPr>
              <a:t>detector_.detect</a:t>
            </a:r>
            <a:r>
              <a:rPr lang="en-US" sz="1300" b="0" i="0" u="none" strike="noStrike" dirty="0">
                <a:solidFill>
                  <a:srgbClr val="E5E7EB"/>
                </a:solidFill>
                <a:latin typeface="SimHei"/>
                <a:ea typeface="SimHei"/>
                <a:cs typeface="SimHei"/>
                <a:sym typeface="SimHei"/>
              </a:rPr>
              <a:t>(farm_, </a:t>
            </a:r>
            <a:r>
              <a:rPr lang="en-US" sz="1300" b="0" i="0" u="none" strike="noStrike" dirty="0" err="1">
                <a:solidFill>
                  <a:srgbClr val="E5E7EB"/>
                </a:solidFill>
                <a:latin typeface="SimHei"/>
                <a:ea typeface="SimHei"/>
                <a:cs typeface="SimHei"/>
                <a:sym typeface="SimHei"/>
              </a:rPr>
              <a:t>cmd</a:t>
            </a:r>
            <a:r>
              <a:rPr lang="en-US" sz="1300" b="0" i="0" u="none" strike="noStrike" dirty="0">
                <a:solidFill>
                  <a:srgbClr val="E5E7EB"/>
                </a:solidFill>
                <a:latin typeface="SimHei"/>
                <a:ea typeface="SimHei"/>
                <a:cs typeface="SimHei"/>
                <a:sym typeface="SimHei"/>
              </a:rPr>
              <a:t>);</a:t>
            </a:r>
            <a:br>
              <a:rPr lang="en-US" sz="1300" b="0" i="0" u="none" strike="noStrike" dirty="0">
                <a:solidFill>
                  <a:srgbClr val="1F2329"/>
                </a:solidFill>
                <a:latin typeface="SimHei"/>
                <a:ea typeface="SimHei"/>
                <a:cs typeface="SimHei"/>
                <a:sym typeface="SimHei"/>
              </a:rPr>
            </a:br>
            <a:r>
              <a:rPr lang="en-US" sz="1300" b="0" i="0" u="none" strike="noStrike" dirty="0">
                <a:solidFill>
                  <a:srgbClr val="9CA3AF"/>
                </a:solidFill>
                <a:latin typeface="SimHei"/>
                <a:ea typeface="SimHei"/>
                <a:cs typeface="SimHei"/>
                <a:sym typeface="SimHei"/>
              </a:rPr>
              <a:t>// 2. </a:t>
            </a:r>
            <a:r>
              <a:rPr lang="en-US" sz="1300" b="0" i="0" u="none" strike="noStrike" dirty="0" err="1">
                <a:solidFill>
                  <a:srgbClr val="9CA3AF"/>
                </a:solidFill>
                <a:latin typeface="SimHei"/>
                <a:ea typeface="SimHei"/>
                <a:cs typeface="SimHei"/>
                <a:sym typeface="SimHei"/>
              </a:rPr>
              <a:t>工况变更时动态切换策略</a:t>
            </a:r>
            <a:br>
              <a:rPr lang="en-US" sz="1300" b="0" i="0" u="none" strike="noStrike" dirty="0">
                <a:solidFill>
                  <a:srgbClr val="1F2329"/>
                </a:solidFill>
                <a:latin typeface="SimHei"/>
                <a:ea typeface="SimHei"/>
                <a:cs typeface="SimHei"/>
                <a:sym typeface="SimHei"/>
              </a:rPr>
            </a:br>
            <a:r>
              <a:rPr lang="zh-CN" altLang="zh-CN" sz="1300" dirty="0">
                <a:solidFill>
                  <a:srgbClr val="E5E7EB"/>
                </a:solidFill>
                <a:latin typeface="SimHei"/>
                <a:ea typeface="SimHei"/>
              </a:rPr>
              <a:t>if (newScene != activeScene_)</a:t>
            </a:r>
            <a:r>
              <a:rPr lang="en-US" altLang="zh-CN" sz="1300" dirty="0">
                <a:solidFill>
                  <a:srgbClr val="E5E7EB"/>
                </a:solidFill>
                <a:latin typeface="SimHei"/>
                <a:ea typeface="SimHei"/>
              </a:rPr>
              <a:t> </a:t>
            </a:r>
            <a:r>
              <a:rPr lang="zh-CN" altLang="zh-CN" sz="1300" dirty="0">
                <a:solidFill>
                  <a:srgbClr val="E5E7EB"/>
                </a:solidFill>
                <a:latin typeface="SimHei"/>
                <a:ea typeface="SimHei"/>
              </a:rPr>
              <a:t>activeScene_ = newScene;</a:t>
            </a:r>
          </a:p>
          <a:p>
            <a:pPr marL="0" indent="0" algn="l">
              <a:lnSpc>
                <a:spcPct val="108333"/>
              </a:lnSpc>
              <a:defRPr/>
            </a:pPr>
            <a:r>
              <a:rPr lang="en-US" sz="1300" b="0" i="0" u="none" strike="noStrike" dirty="0">
                <a:solidFill>
                  <a:srgbClr val="9CA3AF"/>
                </a:solidFill>
                <a:latin typeface="SimHei"/>
                <a:ea typeface="SimHei"/>
                <a:cs typeface="SimHei"/>
                <a:sym typeface="SimHei"/>
              </a:rPr>
              <a:t>// 3. </a:t>
            </a:r>
            <a:r>
              <a:rPr lang="en-US" sz="1300" b="0" i="0" u="none" strike="noStrike" dirty="0" err="1">
                <a:solidFill>
                  <a:srgbClr val="9CA3AF"/>
                </a:solidFill>
                <a:latin typeface="SimHei"/>
                <a:ea typeface="SimHei"/>
                <a:cs typeface="SimHei"/>
                <a:sym typeface="SimHei"/>
              </a:rPr>
              <a:t>执行当前策略的控制逻辑</a:t>
            </a:r>
            <a:br>
              <a:rPr lang="en-US" sz="1300" b="0" i="0" u="none" strike="noStrike" dirty="0">
                <a:solidFill>
                  <a:srgbClr val="1F2329"/>
                </a:solidFill>
                <a:latin typeface="SimHei"/>
                <a:ea typeface="SimHei"/>
                <a:cs typeface="SimHei"/>
                <a:sym typeface="SimHei"/>
              </a:rPr>
            </a:br>
            <a:r>
              <a:rPr lang="en-US" sz="1300" b="0" i="0" u="none" strike="noStrike" dirty="0">
                <a:solidFill>
                  <a:srgbClr val="E5E7EB"/>
                </a:solidFill>
                <a:latin typeface="SimHei"/>
                <a:ea typeface="SimHei"/>
                <a:cs typeface="SimHei"/>
                <a:sym typeface="SimHei"/>
              </a:rPr>
              <a:t>auto&amp; st = strategies_[</a:t>
            </a:r>
            <a:r>
              <a:rPr lang="en-US" sz="1300" b="0" i="0" u="none" strike="noStrike" dirty="0" err="1">
                <a:solidFill>
                  <a:srgbClr val="E5E7EB"/>
                </a:solidFill>
                <a:latin typeface="SimHei"/>
                <a:ea typeface="SimHei"/>
                <a:cs typeface="SimHei"/>
                <a:sym typeface="SimHei"/>
              </a:rPr>
              <a:t>activeScene</a:t>
            </a:r>
            <a:r>
              <a:rPr lang="en-US" sz="1300" b="0" i="0" u="none" strike="noStrike" dirty="0">
                <a:solidFill>
                  <a:srgbClr val="E5E7EB"/>
                </a:solidFill>
                <a:latin typeface="SimHei"/>
                <a:ea typeface="SimHei"/>
                <a:cs typeface="SimHei"/>
                <a:sym typeface="SimHei"/>
              </a:rPr>
              <a:t>_ - 1];</a:t>
            </a:r>
          </a:p>
          <a:p>
            <a:pPr marL="0" indent="0" algn="l">
              <a:lnSpc>
                <a:spcPct val="108333"/>
              </a:lnSpc>
              <a:defRPr/>
            </a:pPr>
            <a:r>
              <a:rPr lang="en-US" sz="1300" b="0" i="0" u="none" strike="noStrike" dirty="0" err="1">
                <a:solidFill>
                  <a:srgbClr val="E5E7EB"/>
                </a:solidFill>
                <a:latin typeface="SimHei"/>
                <a:ea typeface="SimHei"/>
                <a:cs typeface="SimHei"/>
                <a:sym typeface="SimHei"/>
              </a:rPr>
              <a:t>ControlResult</a:t>
            </a:r>
            <a:r>
              <a:rPr lang="en-US" sz="1300" b="0" i="0" u="none" strike="noStrike" dirty="0">
                <a:solidFill>
                  <a:srgbClr val="E5E7EB"/>
                </a:solidFill>
                <a:latin typeface="SimHei"/>
                <a:ea typeface="SimHei"/>
                <a:cs typeface="SimHei"/>
                <a:sym typeface="SimHei"/>
              </a:rPr>
              <a:t> result = st-&gt;step(</a:t>
            </a:r>
            <a:r>
              <a:rPr lang="en-US" sz="1300" b="0" i="0" u="none" strike="noStrike" dirty="0" err="1">
                <a:solidFill>
                  <a:srgbClr val="E5E7EB"/>
                </a:solidFill>
                <a:latin typeface="SimHei"/>
                <a:ea typeface="SimHei"/>
                <a:cs typeface="SimHei"/>
                <a:sym typeface="SimHei"/>
              </a:rPr>
              <a:t>cmd</a:t>
            </a:r>
            <a:r>
              <a:rPr lang="en-US" sz="1300" b="0" i="0" u="none" strike="noStrike" dirty="0">
                <a:solidFill>
                  <a:srgbClr val="E5E7EB"/>
                </a:solidFill>
                <a:latin typeface="SimHei"/>
                <a:ea typeface="SimHei"/>
                <a:cs typeface="SimHei"/>
                <a:sym typeface="SimHei"/>
              </a:rPr>
              <a:t>, farm_, </a:t>
            </a:r>
            <a:r>
              <a:rPr lang="en-US" sz="1300" b="0" i="0" u="none" strike="noStrike" dirty="0" err="1">
                <a:solidFill>
                  <a:srgbClr val="E5E7EB"/>
                </a:solidFill>
                <a:latin typeface="SimHei"/>
                <a:ea typeface="SimHei"/>
                <a:cs typeface="SimHei"/>
                <a:sym typeface="SimHei"/>
              </a:rPr>
              <a:t>dtSec</a:t>
            </a:r>
            <a:r>
              <a:rPr lang="en-US" sz="1300" b="0" i="0" u="none" strike="noStrike" dirty="0">
                <a:solidFill>
                  <a:srgbClr val="E5E7EB"/>
                </a:solidFill>
                <a:latin typeface="SimHei"/>
                <a:ea typeface="SimHei"/>
                <a:cs typeface="SimHei"/>
                <a:sym typeface="SimHei"/>
              </a:rPr>
              <a:t>);</a:t>
            </a:r>
            <a:endParaRPr lang="en-US" sz="1300" dirty="0"/>
          </a:p>
        </p:txBody>
      </p:sp>
      <p:sp>
        <p:nvSpPr>
          <p:cNvPr id="27" name="AutoShape 27"/>
          <p:cNvSpPr/>
          <p:nvPr/>
        </p:nvSpPr>
        <p:spPr>
          <a:xfrm>
            <a:off x="6477000" y="4776904"/>
            <a:ext cx="4699000" cy="952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604000" y="4860093"/>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1" i="0" u="none" strike="noStrike" dirty="0">
                <a:solidFill>
                  <a:srgbClr val="A7F3D0"/>
                </a:solidFill>
                <a:latin typeface="SimHei"/>
                <a:ea typeface="SimHei"/>
                <a:cs typeface="SimHei"/>
                <a:sym typeface="SimHei"/>
              </a:rPr>
              <a:t>设计亮点：</a:t>
            </a:r>
            <a:r>
              <a:rPr lang="en-US" sz="1300" b="0" i="0" u="none" strike="noStrike" dirty="0">
                <a:solidFill>
                  <a:srgbClr val="A7F3D0"/>
                </a:solidFill>
                <a:latin typeface="SimHei"/>
                <a:ea typeface="SimHei"/>
                <a:cs typeface="SimHei"/>
                <a:sym typeface="SimHei"/>
              </a:rPr>
              <a:t>采用策略模式封装不同场景的控制逻辑，将“判断”与“执行”解耦。仅需4行核心代码即可实现复杂的场景切换与控制，极大提升了系统的扩展性与维护性。</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工况检测器：7级优先级决策</a:t>
            </a:r>
            <a:endParaRPr lang="en-US" sz="1100"/>
          </a:p>
        </p:txBody>
      </p:sp>
      <p:pic>
        <p:nvPicPr>
          <p:cNvPr id="4" name="Picture 4"/>
          <p:cNvPicPr>
            <a:picLocks noChangeAspect="1"/>
          </p:cNvPicPr>
          <p:nvPr/>
        </p:nvPicPr>
        <p:blipFill>
          <a:blip r:embed="rId4"/>
          <a:srcRect t="102" b="102"/>
          <a:stretch>
            <a:fillRect/>
          </a:stretch>
        </p:blipFill>
        <p:spPr>
          <a:xfrm>
            <a:off x="762000" y="1651000"/>
            <a:ext cx="4064000" cy="2705100"/>
          </a:xfrm>
          <a:prstGeom prst="roundRect">
            <a:avLst>
              <a:gd name="adj" fmla="val 5633"/>
            </a:avLst>
          </a:prstGeom>
          <a:noFill/>
          <a:ln w="25400" cap="flat" cmpd="sng">
            <a:noFill/>
            <a:prstDash val="solid"/>
            <a:round/>
          </a:ln>
          <a:effectLst>
            <a:outerShdw blurRad="152400" dist="50800" dir="2700000" algn="tl" rotWithShape="0">
              <a:srgbClr val="000000">
                <a:alpha val="10000"/>
              </a:srgbClr>
            </a:outerShdw>
          </a:effectLst>
        </p:spPr>
      </p:pic>
      <p:sp>
        <p:nvSpPr>
          <p:cNvPr id="5" name="AutoShape 5"/>
          <p:cNvSpPr/>
          <p:nvPr/>
        </p:nvSpPr>
        <p:spPr>
          <a:xfrm>
            <a:off x="762000" y="4699000"/>
            <a:ext cx="406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374151"/>
                </a:solidFill>
                <a:latin typeface="SimHei"/>
                <a:ea typeface="SimHei"/>
                <a:cs typeface="SimHei"/>
                <a:sym typeface="SimHei"/>
              </a:rPr>
              <a:t>基于毫秒级实时工况数据的智能决策引擎，构建分层级的条件判断机制。从最高优先级的安全保护到功率控制与调度响应，确保风电系统在复杂多变的自然环境下保持最优运行状态与极高的可靠性。</a:t>
            </a:r>
            <a:endParaRPr lang="en-US" sz="1100" dirty="0"/>
          </a:p>
        </p:txBody>
      </p:sp>
      <p:sp>
        <p:nvSpPr>
          <p:cNvPr id="6" name="AutoShape 6"/>
          <p:cNvSpPr/>
          <p:nvPr/>
        </p:nvSpPr>
        <p:spPr>
          <a:xfrm>
            <a:off x="5207000" y="1651000"/>
            <a:ext cx="6350000" cy="1079500"/>
          </a:xfrm>
          <a:prstGeom prst="roundRect">
            <a:avLst>
              <a:gd name="adj" fmla="val 0"/>
            </a:avLst>
          </a:prstGeom>
          <a:solidFill>
            <a:srgbClr val="22C55E">
              <a:alpha val="8000"/>
            </a:srgbClr>
          </a:solidFill>
          <a:ln w="12700" cap="flat" cmpd="sng">
            <a:solidFill>
              <a:srgbClr val="22C55E">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397500" y="1778000"/>
            <a:ext cx="609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15803D"/>
                </a:solidFill>
                <a:latin typeface="SimHei"/>
                <a:ea typeface="SimHei"/>
                <a:cs typeface="SimHei"/>
                <a:sym typeface="SimHei"/>
              </a:rPr>
              <a:t>P6 [最高级] 安全优先模式</a:t>
            </a:r>
            <a:br>
              <a:rPr lang="en-US" sz="1600" b="0" i="0" u="none" strike="noStrike">
                <a:solidFill>
                  <a:srgbClr val="1F2329"/>
                </a:solidFill>
                <a:latin typeface="SimHei"/>
                <a:ea typeface="SimHei"/>
                <a:cs typeface="SimHei"/>
                <a:sym typeface="SimHei"/>
              </a:rPr>
            </a:br>
            <a:r>
              <a:rPr lang="en-US" sz="1300" b="0" i="0" u="none" strike="noStrike">
                <a:solidFill>
                  <a:srgbClr val="4B5563"/>
                </a:solidFill>
                <a:latin typeface="SimHei"/>
                <a:ea typeface="SimHei"/>
                <a:cs typeface="SimHei"/>
                <a:sym typeface="SimHei"/>
              </a:rPr>
              <a:t>触发条件：通信异常、极端工况判定、实时风速&gt;25m/s或湍流度&gt;0.25。一旦触发立即强制切换，不可被任何其他场景覆盖，为机组提供物理级安全兜底。</a:t>
            </a:r>
            <a:endParaRPr lang="en-US" sz="1100"/>
          </a:p>
        </p:txBody>
      </p:sp>
      <p:sp>
        <p:nvSpPr>
          <p:cNvPr id="8" name="AutoShape 8"/>
          <p:cNvSpPr/>
          <p:nvPr/>
        </p:nvSpPr>
        <p:spPr>
          <a:xfrm>
            <a:off x="5207000" y="2984500"/>
            <a:ext cx="3111500" cy="1371600"/>
          </a:xfrm>
          <a:prstGeom prst="roundRect">
            <a:avLst>
              <a:gd name="adj" fmla="val 0"/>
            </a:avLst>
          </a:prstGeom>
          <a:solidFill>
            <a:srgbClr val="F9FAFB">
              <a:alpha val="8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359400" y="3111500"/>
            <a:ext cx="2857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dirty="0">
                <a:solidFill>
                  <a:srgbClr val="1F2937"/>
                </a:solidFill>
                <a:latin typeface="SimHei"/>
                <a:ea typeface="SimHei"/>
                <a:cs typeface="SimHei"/>
                <a:sym typeface="SimHei"/>
              </a:rPr>
              <a:t>P5-P4 </a:t>
            </a:r>
            <a:r>
              <a:rPr lang="en-US" sz="1600" b="1" i="0" u="none" strike="noStrike" dirty="0" err="1">
                <a:solidFill>
                  <a:srgbClr val="1F2937"/>
                </a:solidFill>
                <a:latin typeface="SimHei"/>
                <a:ea typeface="SimHei"/>
                <a:cs typeface="SimHei"/>
                <a:sym typeface="SimHei"/>
              </a:rPr>
              <a:t>稳定与抑制</a:t>
            </a:r>
            <a:br>
              <a:rPr lang="en-US" sz="1600" b="0" i="0" u="none" strike="noStrike" dirty="0">
                <a:solidFill>
                  <a:srgbClr val="1F2329"/>
                </a:solidFill>
                <a:latin typeface="SimHei"/>
                <a:ea typeface="SimHei"/>
                <a:cs typeface="SimHei"/>
                <a:sym typeface="SimHei"/>
              </a:rPr>
            </a:br>
            <a:r>
              <a:rPr lang="en-US" sz="1300" b="0" i="0" u="none" strike="noStrike" dirty="0">
                <a:solidFill>
                  <a:srgbClr val="4B5563"/>
                </a:solidFill>
                <a:latin typeface="SimHei"/>
                <a:ea typeface="SimHei"/>
                <a:cs typeface="SimHei"/>
                <a:sym typeface="SimHei"/>
              </a:rPr>
              <a:t>P5一次调频：频率偏差&gt;0.10Hz时立即响应，参与电网调频；P4风速抑制：当风速突变率超过1.5m/</a:t>
            </a:r>
            <a:r>
              <a:rPr lang="en-US" sz="1300" b="0" i="0" u="none" strike="noStrike" dirty="0" err="1">
                <a:solidFill>
                  <a:srgbClr val="4B5563"/>
                </a:solidFill>
                <a:latin typeface="SimHei"/>
                <a:ea typeface="SimHei"/>
                <a:cs typeface="SimHei"/>
                <a:sym typeface="SimHei"/>
              </a:rPr>
              <a:t>s时启动，平滑输出波动</a:t>
            </a:r>
            <a:r>
              <a:rPr lang="en-US" sz="1300" b="0" i="0" u="none" strike="noStrike" dirty="0">
                <a:solidFill>
                  <a:srgbClr val="4B5563"/>
                </a:solidFill>
                <a:latin typeface="SimHei"/>
                <a:ea typeface="SimHei"/>
                <a:cs typeface="SimHei"/>
                <a:sym typeface="SimHei"/>
              </a:rPr>
              <a:t>。</a:t>
            </a:r>
            <a:endParaRPr lang="en-US" sz="1100" dirty="0"/>
          </a:p>
        </p:txBody>
      </p:sp>
      <p:sp>
        <p:nvSpPr>
          <p:cNvPr id="10" name="AutoShape 10"/>
          <p:cNvSpPr/>
          <p:nvPr/>
        </p:nvSpPr>
        <p:spPr>
          <a:xfrm>
            <a:off x="8445500" y="2984500"/>
            <a:ext cx="3111500" cy="1371600"/>
          </a:xfrm>
          <a:prstGeom prst="roundRect">
            <a:avLst>
              <a:gd name="adj" fmla="val 0"/>
            </a:avLst>
          </a:prstGeom>
          <a:solidFill>
            <a:srgbClr val="F9FAFB">
              <a:alpha val="8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597900" y="3111500"/>
            <a:ext cx="2857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dirty="0">
                <a:solidFill>
                  <a:srgbClr val="1F2937"/>
                </a:solidFill>
                <a:latin typeface="SimHei"/>
                <a:ea typeface="SimHei"/>
                <a:cs typeface="SimHei"/>
                <a:sym typeface="SimHei"/>
              </a:rPr>
              <a:t>P3-P2 </a:t>
            </a:r>
            <a:r>
              <a:rPr lang="en-US" sz="1600" b="1" i="0" u="none" strike="noStrike" dirty="0" err="1">
                <a:solidFill>
                  <a:srgbClr val="1F2937"/>
                </a:solidFill>
                <a:latin typeface="SimHei"/>
                <a:ea typeface="SimHei"/>
                <a:cs typeface="SimHei"/>
                <a:sym typeface="SimHei"/>
              </a:rPr>
              <a:t>调度与跟踪</a:t>
            </a:r>
            <a:br>
              <a:rPr lang="en-US" sz="1600" b="0" i="0" u="none" strike="noStrike" dirty="0">
                <a:solidFill>
                  <a:srgbClr val="1F2329"/>
                </a:solidFill>
                <a:latin typeface="SimHei"/>
                <a:ea typeface="SimHei"/>
                <a:cs typeface="SimHei"/>
                <a:sym typeface="SimHei"/>
              </a:rPr>
            </a:br>
            <a:r>
              <a:rPr lang="en-US" sz="1300" b="0" i="0" u="none" strike="noStrike" dirty="0">
                <a:solidFill>
                  <a:srgbClr val="4B5563"/>
                </a:solidFill>
                <a:latin typeface="SimHei"/>
                <a:ea typeface="SimHei"/>
                <a:cs typeface="SimHei"/>
                <a:sym typeface="SimHei"/>
              </a:rPr>
              <a:t>P3限电管理：当弃风率超过40%时自动介入；P2爬坡跟踪：应对功率指令大幅突变（ΔP&gt;5MW），</a:t>
            </a:r>
            <a:r>
              <a:rPr lang="en-US" sz="1300" b="0" i="0" u="none" strike="noStrike" dirty="0" err="1">
                <a:solidFill>
                  <a:srgbClr val="4B5563"/>
                </a:solidFill>
                <a:latin typeface="SimHei"/>
                <a:ea typeface="SimHei"/>
                <a:cs typeface="SimHei"/>
                <a:sym typeface="SimHei"/>
              </a:rPr>
              <a:t>确保快速且稳定的功率跟随</a:t>
            </a:r>
            <a:r>
              <a:rPr lang="en-US" sz="1300" b="0" i="0" u="none" strike="noStrike" dirty="0">
                <a:solidFill>
                  <a:srgbClr val="4B5563"/>
                </a:solidFill>
                <a:latin typeface="SimHei"/>
                <a:ea typeface="SimHei"/>
                <a:cs typeface="SimHei"/>
                <a:sym typeface="SimHei"/>
              </a:rPr>
              <a:t>。</a:t>
            </a:r>
            <a:endParaRPr lang="en-US" sz="1100" dirty="0"/>
          </a:p>
        </p:txBody>
      </p:sp>
      <p:sp>
        <p:nvSpPr>
          <p:cNvPr id="12" name="AutoShape 12"/>
          <p:cNvSpPr/>
          <p:nvPr/>
        </p:nvSpPr>
        <p:spPr>
          <a:xfrm>
            <a:off x="5207000" y="4572000"/>
            <a:ext cx="2032000" cy="1587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59400" y="4724400"/>
            <a:ext cx="304800" cy="304800"/>
          </a:xfrm>
          <a:prstGeom prst="rect">
            <a:avLst/>
          </a:prstGeom>
        </p:spPr>
      </p:pic>
      <p:sp>
        <p:nvSpPr>
          <p:cNvPr id="14" name="AutoShape 14"/>
          <p:cNvSpPr/>
          <p:nvPr/>
        </p:nvSpPr>
        <p:spPr>
          <a:xfrm>
            <a:off x="5740400" y="4724400"/>
            <a:ext cx="158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绝对安全</a:t>
            </a:r>
            <a:endParaRPr lang="en-US" sz="1200" dirty="0"/>
          </a:p>
        </p:txBody>
      </p:sp>
      <p:sp>
        <p:nvSpPr>
          <p:cNvPr id="15" name="AutoShape 15"/>
          <p:cNvSpPr/>
          <p:nvPr/>
        </p:nvSpPr>
        <p:spPr>
          <a:xfrm>
            <a:off x="5359400" y="5143500"/>
            <a:ext cx="184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安全模式拥有最高优先级锁死机制，确保任何异常工况下的设备与人员安全</a:t>
            </a:r>
            <a:r>
              <a:rPr lang="en-US" b="0" i="0" u="none" strike="noStrike" dirty="0">
                <a:solidFill>
                  <a:srgbClr val="4B5563"/>
                </a:solidFill>
                <a:latin typeface="SimHei"/>
                <a:ea typeface="SimHei"/>
                <a:cs typeface="SimHei"/>
                <a:sym typeface="SimHei"/>
              </a:rPr>
              <a:t>。</a:t>
            </a:r>
            <a:endParaRPr lang="en-US" dirty="0"/>
          </a:p>
        </p:txBody>
      </p:sp>
      <p:sp>
        <p:nvSpPr>
          <p:cNvPr id="16" name="AutoShape 16"/>
          <p:cNvSpPr/>
          <p:nvPr/>
        </p:nvSpPr>
        <p:spPr>
          <a:xfrm>
            <a:off x="7366000" y="4572000"/>
            <a:ext cx="2032000" cy="1587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18400" y="4724400"/>
            <a:ext cx="304800" cy="304800"/>
          </a:xfrm>
          <a:prstGeom prst="rect">
            <a:avLst/>
          </a:prstGeom>
        </p:spPr>
      </p:pic>
      <p:sp>
        <p:nvSpPr>
          <p:cNvPr id="18" name="AutoShape 18"/>
          <p:cNvSpPr/>
          <p:nvPr/>
        </p:nvSpPr>
        <p:spPr>
          <a:xfrm>
            <a:off x="7899400" y="4724400"/>
            <a:ext cx="158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滞回防抖</a:t>
            </a:r>
            <a:endParaRPr lang="en-US" sz="1200" dirty="0"/>
          </a:p>
        </p:txBody>
      </p:sp>
      <p:sp>
        <p:nvSpPr>
          <p:cNvPr id="19" name="AutoShape 19"/>
          <p:cNvSpPr/>
          <p:nvPr/>
        </p:nvSpPr>
        <p:spPr>
          <a:xfrm>
            <a:off x="7518400" y="5143500"/>
            <a:ext cx="184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爬坡跟踪场景设计滞回出口逻辑，避免系统在常规与爬坡模式间频繁切换</a:t>
            </a:r>
            <a:r>
              <a:rPr lang="en-US" b="0" i="0" u="none" strike="noStrike" dirty="0">
                <a:solidFill>
                  <a:srgbClr val="4B5563"/>
                </a:solidFill>
                <a:latin typeface="SimHei"/>
                <a:ea typeface="SimHei"/>
                <a:cs typeface="SimHei"/>
                <a:sym typeface="SimHei"/>
              </a:rPr>
              <a:t>。</a:t>
            </a:r>
            <a:endParaRPr lang="en-US" dirty="0"/>
          </a:p>
        </p:txBody>
      </p:sp>
      <p:sp>
        <p:nvSpPr>
          <p:cNvPr id="20" name="AutoShape 20"/>
          <p:cNvSpPr/>
          <p:nvPr/>
        </p:nvSpPr>
        <p:spPr>
          <a:xfrm>
            <a:off x="9525000" y="4572000"/>
            <a:ext cx="2032000" cy="1587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77400" y="4724400"/>
            <a:ext cx="304800" cy="304800"/>
          </a:xfrm>
          <a:prstGeom prst="rect">
            <a:avLst/>
          </a:prstGeom>
        </p:spPr>
      </p:pic>
      <p:sp>
        <p:nvSpPr>
          <p:cNvPr id="22" name="AutoShape 22"/>
          <p:cNvSpPr/>
          <p:nvPr/>
        </p:nvSpPr>
        <p:spPr>
          <a:xfrm>
            <a:off x="10058400" y="4724400"/>
            <a:ext cx="158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灵活配置</a:t>
            </a:r>
            <a:endParaRPr lang="en-US" sz="1200" dirty="0"/>
          </a:p>
        </p:txBody>
      </p:sp>
      <p:sp>
        <p:nvSpPr>
          <p:cNvPr id="23" name="AutoShape 23"/>
          <p:cNvSpPr/>
          <p:nvPr/>
        </p:nvSpPr>
        <p:spPr>
          <a:xfrm>
            <a:off x="9677400" y="5143500"/>
            <a:ext cx="184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所有决策阈值参数化管理，可根据不同风电场的地形与机型特性动态调整</a:t>
            </a:r>
            <a:r>
              <a:rPr lang="en-US" b="0" i="0" u="none" strike="noStrike" dirty="0">
                <a:solidFill>
                  <a:srgbClr val="4B5563"/>
                </a:solidFill>
                <a:latin typeface="SimHei"/>
                <a:ea typeface="SimHei"/>
                <a:cs typeface="SimHei"/>
                <a:sym typeface="SimHei"/>
              </a:rPr>
              <a: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dirty="0">
                <a:solidFill>
                  <a:srgbClr val="1F2937"/>
                </a:solidFill>
                <a:latin typeface="SimHei"/>
                <a:ea typeface="SimHei"/>
                <a:cs typeface="SimHei"/>
                <a:sym typeface="SimHei"/>
              </a:rPr>
              <a:t>24小时仿真工况序列</a:t>
            </a:r>
            <a:endParaRPr lang="en-US" sz="1200" dirty="0"/>
          </a:p>
        </p:txBody>
      </p:sp>
      <p:sp>
        <p:nvSpPr>
          <p:cNvPr id="4" name="AutoShape 4"/>
          <p:cNvSpPr/>
          <p:nvPr/>
        </p:nvSpPr>
        <p:spPr>
          <a:xfrm>
            <a:off x="762000" y="1397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0" i="0" u="none" strike="noStrike" dirty="0">
                <a:solidFill>
                  <a:srgbClr val="4B5563"/>
                </a:solidFill>
                <a:latin typeface="SimHei"/>
                <a:ea typeface="SimHei"/>
                <a:cs typeface="SimHei"/>
                <a:sym typeface="SimHei"/>
              </a:rPr>
              <a:t>基于10台×3MW风电机组构建30MW仿真模型，以1分钟为步长进行1440个周期的连续推演，完整复现真实风场24小时内的动态运行特性与各类极端工况。</a:t>
            </a:r>
            <a:endParaRPr lang="en-US" sz="1200" dirty="0"/>
          </a:p>
        </p:txBody>
      </p:sp>
      <p:sp>
        <p:nvSpPr>
          <p:cNvPr id="5" name="AutoShape 5"/>
          <p:cNvSpPr/>
          <p:nvPr/>
        </p:nvSpPr>
        <p:spPr>
          <a:xfrm>
            <a:off x="762000" y="2222500"/>
            <a:ext cx="26035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413000"/>
            <a:ext cx="304800" cy="304800"/>
          </a:xfrm>
          <a:prstGeom prst="rect">
            <a:avLst/>
          </a:prstGeom>
        </p:spPr>
      </p:pic>
      <p:sp>
        <p:nvSpPr>
          <p:cNvPr id="7" name="AutoShape 7"/>
          <p:cNvSpPr/>
          <p:nvPr/>
        </p:nvSpPr>
        <p:spPr>
          <a:xfrm>
            <a:off x="1333500" y="2413000"/>
            <a:ext cx="203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00:00 </a:t>
            </a:r>
            <a:r>
              <a:rPr lang="en-US" sz="1600" b="1" i="0" u="none" strike="noStrike" dirty="0" err="1">
                <a:solidFill>
                  <a:srgbClr val="1F2937"/>
                </a:solidFill>
                <a:latin typeface="SimHei"/>
                <a:ea typeface="SimHei"/>
                <a:cs typeface="SimHei"/>
                <a:sym typeface="SimHei"/>
              </a:rPr>
              <a:t>启动稳态接入</a:t>
            </a:r>
            <a:endParaRPr lang="en-US" sz="1100" dirty="0"/>
          </a:p>
        </p:txBody>
      </p:sp>
      <p:sp>
        <p:nvSpPr>
          <p:cNvPr id="8" name="AutoShape 8"/>
          <p:cNvSpPr/>
          <p:nvPr/>
        </p:nvSpPr>
        <p:spPr>
          <a:xfrm>
            <a:off x="952500" y="2921000"/>
            <a:ext cx="222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b="0" i="0" u="none" strike="noStrike" dirty="0">
                <a:solidFill>
                  <a:srgbClr val="4B5563"/>
                </a:solidFill>
                <a:latin typeface="SimHei"/>
                <a:ea typeface="SimHei"/>
                <a:cs typeface="SimHei"/>
                <a:sym typeface="SimHei"/>
              </a:rPr>
              <a:t>功率从0平稳爬坡至13.9MW，系统完成初始化并进入稳态运行，验证了启动阶段的平滑控制能力与无冲击并网特性。</a:t>
            </a:r>
            <a:endParaRPr lang="en-US" sz="1200" dirty="0"/>
          </a:p>
        </p:txBody>
      </p:sp>
      <p:sp>
        <p:nvSpPr>
          <p:cNvPr id="9" name="AutoShape 9"/>
          <p:cNvSpPr/>
          <p:nvPr/>
        </p:nvSpPr>
        <p:spPr>
          <a:xfrm>
            <a:off x="3492500" y="2222500"/>
            <a:ext cx="26035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3000" y="2413000"/>
            <a:ext cx="304800" cy="304800"/>
          </a:xfrm>
          <a:prstGeom prst="rect">
            <a:avLst/>
          </a:prstGeom>
        </p:spPr>
      </p:pic>
      <p:sp>
        <p:nvSpPr>
          <p:cNvPr id="11" name="AutoShape 11"/>
          <p:cNvSpPr/>
          <p:nvPr/>
        </p:nvSpPr>
        <p:spPr>
          <a:xfrm>
            <a:off x="4064000" y="2413000"/>
            <a:ext cx="203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02:00 </a:t>
            </a:r>
            <a:r>
              <a:rPr lang="en-US" sz="1600" b="1" i="0" u="none" strike="noStrike" dirty="0" err="1">
                <a:solidFill>
                  <a:srgbClr val="1F2937"/>
                </a:solidFill>
                <a:latin typeface="SimHei"/>
                <a:ea typeface="SimHei"/>
                <a:cs typeface="SimHei"/>
                <a:sym typeface="SimHei"/>
              </a:rPr>
              <a:t>风速骤变抑制</a:t>
            </a:r>
            <a:endParaRPr lang="en-US" sz="1100" dirty="0"/>
          </a:p>
        </p:txBody>
      </p:sp>
      <p:sp>
        <p:nvSpPr>
          <p:cNvPr id="12" name="AutoShape 12"/>
          <p:cNvSpPr/>
          <p:nvPr/>
        </p:nvSpPr>
        <p:spPr>
          <a:xfrm>
            <a:off x="3683000" y="2921000"/>
            <a:ext cx="222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b="0" i="0" u="none" strike="noStrike" dirty="0">
                <a:solidFill>
                  <a:srgbClr val="4B5563"/>
                </a:solidFill>
                <a:latin typeface="SimHei"/>
                <a:ea typeface="SimHei"/>
                <a:cs typeface="SimHei"/>
                <a:sym typeface="SimHei"/>
              </a:rPr>
              <a:t>风速由12m/s突增至15m/s，系统迅速触发功率波动抑制策略，频率保持在50.00Hz稳定区间，无任何越限或震荡。</a:t>
            </a:r>
            <a:endParaRPr lang="en-US" sz="1200" dirty="0"/>
          </a:p>
        </p:txBody>
      </p:sp>
      <p:sp>
        <p:nvSpPr>
          <p:cNvPr id="13" name="AutoShape 13"/>
          <p:cNvSpPr/>
          <p:nvPr/>
        </p:nvSpPr>
        <p:spPr>
          <a:xfrm>
            <a:off x="6223000" y="2222500"/>
            <a:ext cx="26035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413000"/>
            <a:ext cx="304800" cy="304800"/>
          </a:xfrm>
          <a:prstGeom prst="rect">
            <a:avLst/>
          </a:prstGeom>
        </p:spPr>
      </p:pic>
      <p:sp>
        <p:nvSpPr>
          <p:cNvPr id="15" name="AutoShape 15"/>
          <p:cNvSpPr/>
          <p:nvPr/>
        </p:nvSpPr>
        <p:spPr>
          <a:xfrm>
            <a:off x="6794500" y="2413000"/>
            <a:ext cx="203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03:00 </a:t>
            </a:r>
            <a:r>
              <a:rPr lang="en-US" sz="1600" b="1" i="0" u="none" strike="noStrike" dirty="0" err="1">
                <a:solidFill>
                  <a:srgbClr val="1F2937"/>
                </a:solidFill>
                <a:latin typeface="SimHei"/>
                <a:ea typeface="SimHei"/>
                <a:cs typeface="SimHei"/>
                <a:sym typeface="SimHei"/>
              </a:rPr>
              <a:t>通信故障保护</a:t>
            </a:r>
            <a:endParaRPr lang="en-US" sz="1100" dirty="0"/>
          </a:p>
        </p:txBody>
      </p:sp>
      <p:sp>
        <p:nvSpPr>
          <p:cNvPr id="16" name="AutoShape 16"/>
          <p:cNvSpPr/>
          <p:nvPr/>
        </p:nvSpPr>
        <p:spPr>
          <a:xfrm>
            <a:off x="6413500" y="2921000"/>
            <a:ext cx="222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b="0" i="0" u="none" strike="noStrike" dirty="0" err="1">
                <a:solidFill>
                  <a:srgbClr val="4B5563"/>
                </a:solidFill>
                <a:latin typeface="SimHei"/>
                <a:ea typeface="SimHei"/>
                <a:cs typeface="SimHei"/>
                <a:sym typeface="SimHei"/>
              </a:rPr>
              <a:t>通信链路中断时，系统自动执行“功率冻结”策略，维持当前出力不变，有效保障了电网侧的功率稳定性与安全性</a:t>
            </a:r>
            <a:r>
              <a:rPr lang="en-US" b="0" i="0" u="none" strike="noStrike" dirty="0">
                <a:solidFill>
                  <a:srgbClr val="4B5563"/>
                </a:solidFill>
                <a:latin typeface="SimHei"/>
                <a:ea typeface="SimHei"/>
                <a:cs typeface="SimHei"/>
                <a:sym typeface="SimHei"/>
              </a:rPr>
              <a:t>。</a:t>
            </a:r>
            <a:endParaRPr lang="en-US" sz="1200" dirty="0"/>
          </a:p>
        </p:txBody>
      </p:sp>
      <p:sp>
        <p:nvSpPr>
          <p:cNvPr id="17" name="AutoShape 17"/>
          <p:cNvSpPr/>
          <p:nvPr/>
        </p:nvSpPr>
        <p:spPr>
          <a:xfrm>
            <a:off x="8953500" y="2222500"/>
            <a:ext cx="2603500" cy="2032000"/>
          </a:xfrm>
          <a:prstGeom prst="roundRect">
            <a:avLst>
              <a:gd name="adj" fmla="val 0"/>
            </a:avLst>
          </a:prstGeom>
          <a:solidFill>
            <a:srgbClr val="FFFFFF">
              <a:alpha val="5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0" y="2413000"/>
            <a:ext cx="304800" cy="304800"/>
          </a:xfrm>
          <a:prstGeom prst="rect">
            <a:avLst/>
          </a:prstGeom>
        </p:spPr>
      </p:pic>
      <p:sp>
        <p:nvSpPr>
          <p:cNvPr id="19" name="AutoShape 19"/>
          <p:cNvSpPr/>
          <p:nvPr/>
        </p:nvSpPr>
        <p:spPr>
          <a:xfrm>
            <a:off x="9525000" y="2413000"/>
            <a:ext cx="2032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F2937"/>
                </a:solidFill>
                <a:latin typeface="SimHei"/>
                <a:ea typeface="SimHei"/>
                <a:cs typeface="SimHei"/>
                <a:sym typeface="SimHei"/>
              </a:rPr>
              <a:t>22:00 </a:t>
            </a:r>
            <a:r>
              <a:rPr lang="en-US" sz="1600" b="1" i="0" u="none" strike="noStrike" dirty="0" err="1">
                <a:solidFill>
                  <a:srgbClr val="1F2937"/>
                </a:solidFill>
                <a:latin typeface="SimHei"/>
                <a:ea typeface="SimHei"/>
                <a:cs typeface="SimHei"/>
                <a:sym typeface="SimHei"/>
              </a:rPr>
              <a:t>极端工况切出</a:t>
            </a:r>
            <a:endParaRPr lang="en-US" sz="1100" dirty="0"/>
          </a:p>
        </p:txBody>
      </p:sp>
      <p:sp>
        <p:nvSpPr>
          <p:cNvPr id="20" name="AutoShape 20"/>
          <p:cNvSpPr/>
          <p:nvPr/>
        </p:nvSpPr>
        <p:spPr>
          <a:xfrm>
            <a:off x="9144000" y="2921000"/>
            <a:ext cx="222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b="0" i="0" u="none" strike="noStrike" dirty="0">
                <a:solidFill>
                  <a:srgbClr val="4B5563"/>
                </a:solidFill>
                <a:latin typeface="SimHei"/>
                <a:ea typeface="SimHei"/>
                <a:cs typeface="SimHei"/>
                <a:sym typeface="SimHei"/>
              </a:rPr>
              <a:t>遭遇26m/s切出风速，系统紧急降载30%以保护机组设备；待风况恢复后，自动平滑回归常规运行模式。</a:t>
            </a:r>
            <a:endParaRPr lang="en-US" sz="1200" dirty="0"/>
          </a:p>
        </p:txBody>
      </p:sp>
      <p:sp>
        <p:nvSpPr>
          <p:cNvPr id="21" name="AutoShape 21"/>
          <p:cNvSpPr/>
          <p:nvPr/>
        </p:nvSpPr>
        <p:spPr>
          <a:xfrm>
            <a:off x="762000" y="4699000"/>
            <a:ext cx="2603500" cy="1524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62000" y="4889500"/>
            <a:ext cx="2603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dirty="0">
                <a:solidFill>
                  <a:srgbClr val="22C55E"/>
                </a:solidFill>
                <a:latin typeface="SimHei"/>
                <a:ea typeface="SimHei"/>
                <a:cs typeface="SimHei"/>
                <a:sym typeface="SimHei"/>
              </a:rPr>
              <a:t>6</a:t>
            </a:r>
            <a:r>
              <a:rPr lang="en-US" sz="1800" b="0" i="0" u="none" strike="noStrike" dirty="0">
                <a:solidFill>
                  <a:srgbClr val="22C55E"/>
                </a:solidFill>
                <a:latin typeface="SimHei"/>
                <a:ea typeface="SimHei"/>
                <a:cs typeface="SimHei"/>
                <a:sym typeface="SimHei"/>
              </a:rPr>
              <a:t>个</a:t>
            </a:r>
            <a:endParaRPr lang="en-US" sz="1200" dirty="0"/>
          </a:p>
        </p:txBody>
      </p:sp>
      <p:sp>
        <p:nvSpPr>
          <p:cNvPr id="23" name="AutoShape 23"/>
          <p:cNvSpPr/>
          <p:nvPr/>
        </p:nvSpPr>
        <p:spPr>
          <a:xfrm>
            <a:off x="762000" y="55245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374151"/>
                </a:solidFill>
                <a:latin typeface="SimHei"/>
                <a:ea typeface="SimHei"/>
                <a:cs typeface="SimHei"/>
                <a:sym typeface="SimHei"/>
              </a:rPr>
              <a:t>预设场景全部自动触发</a:t>
            </a:r>
            <a:endParaRPr lang="en-US" sz="1200" dirty="0"/>
          </a:p>
        </p:txBody>
      </p:sp>
      <p:sp>
        <p:nvSpPr>
          <p:cNvPr id="24" name="AutoShape 24"/>
          <p:cNvSpPr/>
          <p:nvPr/>
        </p:nvSpPr>
        <p:spPr>
          <a:xfrm>
            <a:off x="3492500" y="4699000"/>
            <a:ext cx="2603500" cy="1524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3492500" y="4889500"/>
            <a:ext cx="2603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dirty="0">
                <a:solidFill>
                  <a:srgbClr val="22C55E"/>
                </a:solidFill>
                <a:latin typeface="SimHei"/>
                <a:ea typeface="SimHei"/>
                <a:cs typeface="SimHei"/>
                <a:sym typeface="SimHei"/>
              </a:rPr>
              <a:t>20</a:t>
            </a:r>
            <a:r>
              <a:rPr lang="en-US" sz="1800" b="0" i="0" u="none" strike="noStrike" dirty="0">
                <a:solidFill>
                  <a:srgbClr val="22C55E"/>
                </a:solidFill>
                <a:latin typeface="SimHei"/>
                <a:ea typeface="SimHei"/>
                <a:cs typeface="SimHei"/>
                <a:sym typeface="SimHei"/>
              </a:rPr>
              <a:t>次</a:t>
            </a:r>
            <a:endParaRPr lang="en-US" sz="1200" dirty="0"/>
          </a:p>
        </p:txBody>
      </p:sp>
      <p:sp>
        <p:nvSpPr>
          <p:cNvPr id="26" name="AutoShape 26"/>
          <p:cNvSpPr/>
          <p:nvPr/>
        </p:nvSpPr>
        <p:spPr>
          <a:xfrm>
            <a:off x="3492500" y="55245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374151"/>
                </a:solidFill>
                <a:latin typeface="SimHei"/>
                <a:ea typeface="SimHei"/>
                <a:cs typeface="SimHei"/>
                <a:sym typeface="SimHei"/>
              </a:rPr>
              <a:t>工况场景智能平滑切换</a:t>
            </a:r>
            <a:endParaRPr lang="en-US" sz="1200" dirty="0"/>
          </a:p>
        </p:txBody>
      </p:sp>
      <p:sp>
        <p:nvSpPr>
          <p:cNvPr id="27" name="AutoShape 27"/>
          <p:cNvSpPr/>
          <p:nvPr/>
        </p:nvSpPr>
        <p:spPr>
          <a:xfrm>
            <a:off x="6223000" y="4699000"/>
            <a:ext cx="2603500" cy="1524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223000" y="4889500"/>
            <a:ext cx="2603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dirty="0">
                <a:solidFill>
                  <a:srgbClr val="22C55E"/>
                </a:solidFill>
                <a:latin typeface="SimHei"/>
                <a:ea typeface="SimHei"/>
                <a:cs typeface="SimHei"/>
                <a:sym typeface="SimHei"/>
              </a:rPr>
              <a:t>46</a:t>
            </a:r>
            <a:r>
              <a:rPr lang="en-US" sz="1800" b="0" i="0" u="none" strike="noStrike" dirty="0">
                <a:solidFill>
                  <a:srgbClr val="22C55E"/>
                </a:solidFill>
                <a:latin typeface="SimHei"/>
                <a:ea typeface="SimHei"/>
                <a:cs typeface="SimHei"/>
                <a:sym typeface="SimHei"/>
              </a:rPr>
              <a:t>%</a:t>
            </a:r>
            <a:endParaRPr lang="en-US" sz="1200" dirty="0"/>
          </a:p>
        </p:txBody>
      </p:sp>
      <p:sp>
        <p:nvSpPr>
          <p:cNvPr id="29" name="AutoShape 29"/>
          <p:cNvSpPr/>
          <p:nvPr/>
        </p:nvSpPr>
        <p:spPr>
          <a:xfrm>
            <a:off x="6223000" y="55245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374151"/>
                </a:solidFill>
                <a:latin typeface="SimHei"/>
                <a:ea typeface="SimHei"/>
                <a:cs typeface="SimHei"/>
                <a:sym typeface="SimHei"/>
              </a:rPr>
              <a:t>常规AGC模式运行占比</a:t>
            </a:r>
            <a:endParaRPr lang="en-US" sz="1200" dirty="0"/>
          </a:p>
        </p:txBody>
      </p:sp>
      <p:sp>
        <p:nvSpPr>
          <p:cNvPr id="30" name="AutoShape 30"/>
          <p:cNvSpPr/>
          <p:nvPr/>
        </p:nvSpPr>
        <p:spPr>
          <a:xfrm>
            <a:off x="8953500" y="4699000"/>
            <a:ext cx="2603500" cy="1524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8953500" y="4889500"/>
            <a:ext cx="2603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dirty="0">
                <a:solidFill>
                  <a:srgbClr val="22C55E"/>
                </a:solidFill>
                <a:latin typeface="SimHei"/>
                <a:ea typeface="SimHei"/>
                <a:cs typeface="SimHei"/>
                <a:sym typeface="SimHei"/>
              </a:rPr>
              <a:t>2</a:t>
            </a:r>
            <a:r>
              <a:rPr lang="en-US" sz="1800" b="0" i="0" u="none" strike="noStrike" dirty="0">
                <a:solidFill>
                  <a:srgbClr val="22C55E"/>
                </a:solidFill>
                <a:latin typeface="SimHei"/>
                <a:ea typeface="SimHei"/>
                <a:cs typeface="SimHei"/>
                <a:sym typeface="SimHei"/>
              </a:rPr>
              <a:t>次</a:t>
            </a:r>
            <a:endParaRPr lang="en-US" sz="1200" dirty="0"/>
          </a:p>
        </p:txBody>
      </p:sp>
      <p:sp>
        <p:nvSpPr>
          <p:cNvPr id="32" name="AutoShape 32"/>
          <p:cNvSpPr/>
          <p:nvPr/>
        </p:nvSpPr>
        <p:spPr>
          <a:xfrm>
            <a:off x="8953500" y="55245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dirty="0" err="1">
                <a:solidFill>
                  <a:srgbClr val="374151"/>
                </a:solidFill>
                <a:latin typeface="SimHei"/>
                <a:ea typeface="SimHei"/>
                <a:cs typeface="SimHei"/>
                <a:sym typeface="SimHei"/>
              </a:rPr>
              <a:t>安全保护模式成功响应</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编译与测试结果</a:t>
            </a:r>
            <a:endParaRPr lang="en-US" sz="1100"/>
          </a:p>
        </p:txBody>
      </p:sp>
      <p:sp>
        <p:nvSpPr>
          <p:cNvPr id="4" name="AutoShape 4"/>
          <p:cNvSpPr/>
          <p:nvPr/>
        </p:nvSpPr>
        <p:spPr>
          <a:xfrm>
            <a:off x="762000" y="1778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C55E"/>
                </a:solidFill>
                <a:latin typeface="SimHei"/>
                <a:ea typeface="SimHei"/>
                <a:cs typeface="SimHei"/>
                <a:sym typeface="SimHei"/>
              </a:rPr>
              <a:t>01 </a:t>
            </a:r>
            <a:r>
              <a:rPr lang="en-US" sz="2000" b="1" i="0" u="none" strike="noStrike" dirty="0" err="1">
                <a:solidFill>
                  <a:srgbClr val="22C55E"/>
                </a:solidFill>
                <a:latin typeface="SimHei"/>
                <a:ea typeface="SimHei"/>
                <a:cs typeface="SimHei"/>
                <a:sym typeface="SimHei"/>
              </a:rPr>
              <a:t>编译构建全流程无报错</a:t>
            </a:r>
            <a:endParaRPr lang="en-US" sz="1200" dirty="0"/>
          </a:p>
        </p:txBody>
      </p:sp>
      <p:sp>
        <p:nvSpPr>
          <p:cNvPr id="5" name="AutoShape 5"/>
          <p:cNvSpPr/>
          <p:nvPr/>
        </p:nvSpPr>
        <p:spPr>
          <a:xfrm>
            <a:off x="762000" y="2286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dirty="0" err="1">
                <a:solidFill>
                  <a:srgbClr val="4B5563"/>
                </a:solidFill>
                <a:latin typeface="SimHei"/>
                <a:ea typeface="SimHei"/>
                <a:cs typeface="SimHei"/>
                <a:sym typeface="SimHei"/>
              </a:rPr>
              <a:t>基于</a:t>
            </a:r>
            <a:r>
              <a:rPr lang="en-US" sz="1600" b="0" i="0" u="none" strike="noStrike" dirty="0">
                <a:solidFill>
                  <a:srgbClr val="4B5563"/>
                </a:solidFill>
                <a:latin typeface="SimHei"/>
                <a:ea typeface="SimHei"/>
                <a:cs typeface="SimHei"/>
                <a:sym typeface="SimHei"/>
              </a:rPr>
              <a:t> VS2022 + </a:t>
            </a:r>
            <a:r>
              <a:rPr lang="en-US" sz="1600" b="0" i="0" u="none" strike="noStrike" dirty="0" err="1">
                <a:solidFill>
                  <a:srgbClr val="4B5563"/>
                </a:solidFill>
                <a:latin typeface="SimHei"/>
                <a:ea typeface="SimHei"/>
                <a:cs typeface="SimHei"/>
                <a:sym typeface="SimHei"/>
              </a:rPr>
              <a:t>CMake</a:t>
            </a:r>
            <a:r>
              <a:rPr lang="en-US" sz="1600" b="0" i="0" u="none" strike="noStrike" dirty="0">
                <a:solidFill>
                  <a:srgbClr val="4B5563"/>
                </a:solidFill>
                <a:latin typeface="SimHei"/>
                <a:ea typeface="SimHei"/>
                <a:cs typeface="SimHei"/>
                <a:sym typeface="SimHei"/>
              </a:rPr>
              <a:t> + MSVC v143 环境构建，覆盖静态库、守护进程、功能测试及6大核心业务场景程序，共计11个编译目标全部实现零警告、零错误构建。</a:t>
            </a:r>
            <a:endParaRPr lang="en-US" sz="1200" dirty="0"/>
          </a:p>
        </p:txBody>
      </p:sp>
      <p:sp>
        <p:nvSpPr>
          <p:cNvPr id="6" name="AutoShape 6"/>
          <p:cNvSpPr/>
          <p:nvPr/>
        </p:nvSpPr>
        <p:spPr>
          <a:xfrm>
            <a:off x="762000" y="3556000"/>
            <a:ext cx="16002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746500"/>
            <a:ext cx="330200" cy="330200"/>
          </a:xfrm>
          <a:prstGeom prst="rect">
            <a:avLst/>
          </a:prstGeom>
        </p:spPr>
      </p:pic>
      <p:sp>
        <p:nvSpPr>
          <p:cNvPr id="8" name="AutoShape 8"/>
          <p:cNvSpPr/>
          <p:nvPr/>
        </p:nvSpPr>
        <p:spPr>
          <a:xfrm>
            <a:off x="952500" y="4160315"/>
            <a:ext cx="127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核心静态库</a:t>
            </a:r>
            <a:endParaRPr lang="en-US" sz="1200" dirty="0"/>
          </a:p>
        </p:txBody>
      </p:sp>
      <p:sp>
        <p:nvSpPr>
          <p:cNvPr id="9" name="AutoShape 9"/>
          <p:cNvSpPr/>
          <p:nvPr/>
        </p:nvSpPr>
        <p:spPr>
          <a:xfrm>
            <a:off x="952500" y="4574130"/>
            <a:ext cx="13462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a:solidFill>
                  <a:srgbClr val="6B7280"/>
                </a:solidFill>
                <a:latin typeface="SimHei"/>
                <a:ea typeface="SimHei"/>
                <a:cs typeface="SimHei"/>
                <a:sym typeface="SimHei"/>
              </a:rPr>
              <a:t>rt_db.lib </a:t>
            </a:r>
            <a:r>
              <a:rPr lang="en-US" b="0" i="0" u="none" strike="noStrike" dirty="0" err="1">
                <a:solidFill>
                  <a:srgbClr val="6B7280"/>
                </a:solidFill>
                <a:latin typeface="SimHei"/>
                <a:ea typeface="SimHei"/>
                <a:cs typeface="SimHei"/>
                <a:sym typeface="SimHei"/>
              </a:rPr>
              <a:t>成功生成</a:t>
            </a:r>
            <a:br>
              <a:rPr lang="en-US" b="0" i="0" u="none" strike="noStrike" dirty="0">
                <a:solidFill>
                  <a:srgbClr val="6B7280"/>
                </a:solidFill>
                <a:latin typeface="SimHei"/>
                <a:ea typeface="SimHei"/>
                <a:cs typeface="SimHei"/>
                <a:sym typeface="SimHei"/>
              </a:rPr>
            </a:br>
            <a:r>
              <a:rPr lang="en-US" b="0" i="0" u="none" strike="noStrike" dirty="0" err="1">
                <a:solidFill>
                  <a:srgbClr val="6B7280"/>
                </a:solidFill>
                <a:latin typeface="SimHei"/>
                <a:ea typeface="SimHei"/>
                <a:cs typeface="SimHei"/>
                <a:sym typeface="SimHei"/>
              </a:rPr>
              <a:t>轻量化仅</a:t>
            </a:r>
            <a:r>
              <a:rPr lang="en-US" b="0" i="0" u="none" strike="noStrike" dirty="0">
                <a:solidFill>
                  <a:srgbClr val="6B7280"/>
                </a:solidFill>
                <a:latin typeface="SimHei"/>
                <a:ea typeface="SimHei"/>
                <a:cs typeface="SimHei"/>
                <a:sym typeface="SimHei"/>
              </a:rPr>
              <a:t> 27KB</a:t>
            </a:r>
            <a:endParaRPr lang="en-US" sz="1200" dirty="0"/>
          </a:p>
        </p:txBody>
      </p:sp>
      <p:sp>
        <p:nvSpPr>
          <p:cNvPr id="10" name="AutoShape 10"/>
          <p:cNvSpPr/>
          <p:nvPr/>
        </p:nvSpPr>
        <p:spPr>
          <a:xfrm>
            <a:off x="2565400" y="3556000"/>
            <a:ext cx="16002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5900" y="3746500"/>
            <a:ext cx="330200" cy="330200"/>
          </a:xfrm>
          <a:prstGeom prst="rect">
            <a:avLst/>
          </a:prstGeom>
        </p:spPr>
      </p:pic>
      <p:sp>
        <p:nvSpPr>
          <p:cNvPr id="12" name="AutoShape 12"/>
          <p:cNvSpPr/>
          <p:nvPr/>
        </p:nvSpPr>
        <p:spPr>
          <a:xfrm>
            <a:off x="2755900" y="4160315"/>
            <a:ext cx="127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服务进程就绪</a:t>
            </a:r>
            <a:endParaRPr lang="en-US" sz="1200" dirty="0"/>
          </a:p>
        </p:txBody>
      </p:sp>
      <p:sp>
        <p:nvSpPr>
          <p:cNvPr id="13" name="AutoShape 13"/>
          <p:cNvSpPr/>
          <p:nvPr/>
        </p:nvSpPr>
        <p:spPr>
          <a:xfrm>
            <a:off x="2755900" y="4525034"/>
            <a:ext cx="13462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a:solidFill>
                  <a:srgbClr val="6B7280"/>
                </a:solidFill>
                <a:latin typeface="SimHei"/>
                <a:ea typeface="SimHei"/>
                <a:cs typeface="SimHei"/>
                <a:sym typeface="SimHei"/>
              </a:rPr>
              <a:t>rt_db_init.exe</a:t>
            </a:r>
            <a:br>
              <a:rPr lang="en-US" b="0" i="0" u="none" strike="noStrike" dirty="0">
                <a:solidFill>
                  <a:srgbClr val="6B7280"/>
                </a:solidFill>
                <a:latin typeface="SimHei"/>
                <a:ea typeface="SimHei"/>
                <a:cs typeface="SimHei"/>
                <a:sym typeface="SimHei"/>
              </a:rPr>
            </a:br>
            <a:r>
              <a:rPr lang="en-US" b="0" i="0" u="none" strike="noStrike" dirty="0" err="1">
                <a:solidFill>
                  <a:srgbClr val="6B7280"/>
                </a:solidFill>
                <a:latin typeface="SimHei"/>
                <a:ea typeface="SimHei"/>
                <a:cs typeface="SimHei"/>
                <a:sym typeface="SimHei"/>
              </a:rPr>
              <a:t>启动运行零异常</a:t>
            </a:r>
            <a:endParaRPr lang="en-US" sz="1200" dirty="0"/>
          </a:p>
        </p:txBody>
      </p:sp>
      <p:sp>
        <p:nvSpPr>
          <p:cNvPr id="14" name="AutoShape 14"/>
          <p:cNvSpPr/>
          <p:nvPr/>
        </p:nvSpPr>
        <p:spPr>
          <a:xfrm>
            <a:off x="4368800" y="3556000"/>
            <a:ext cx="1600200" cy="17145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59300" y="3746500"/>
            <a:ext cx="330200" cy="330200"/>
          </a:xfrm>
          <a:prstGeom prst="rect">
            <a:avLst/>
          </a:prstGeom>
        </p:spPr>
      </p:pic>
      <p:sp>
        <p:nvSpPr>
          <p:cNvPr id="16" name="AutoShape 16"/>
          <p:cNvSpPr/>
          <p:nvPr/>
        </p:nvSpPr>
        <p:spPr>
          <a:xfrm>
            <a:off x="4559300" y="4160315"/>
            <a:ext cx="127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SimHei"/>
                <a:ea typeface="SimHei"/>
                <a:cs typeface="SimHei"/>
                <a:sym typeface="SimHei"/>
              </a:rPr>
              <a:t>全场景编译</a:t>
            </a:r>
            <a:endParaRPr lang="en-US" sz="1200" dirty="0"/>
          </a:p>
        </p:txBody>
      </p:sp>
      <p:sp>
        <p:nvSpPr>
          <p:cNvPr id="17" name="AutoShape 17"/>
          <p:cNvSpPr/>
          <p:nvPr/>
        </p:nvSpPr>
        <p:spPr>
          <a:xfrm>
            <a:off x="4559300" y="4525034"/>
            <a:ext cx="13462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a:solidFill>
                  <a:srgbClr val="6B7280"/>
                </a:solidFill>
                <a:latin typeface="SimHei"/>
                <a:ea typeface="SimHei"/>
                <a:cs typeface="SimHei"/>
                <a:sym typeface="SimHei"/>
              </a:rPr>
              <a:t>6大业务场景程序</a:t>
            </a:r>
            <a:br>
              <a:rPr lang="en-US" b="0" i="0" u="none" strike="noStrike" dirty="0">
                <a:solidFill>
                  <a:srgbClr val="6B7280"/>
                </a:solidFill>
                <a:latin typeface="SimHei"/>
                <a:ea typeface="SimHei"/>
                <a:cs typeface="SimHei"/>
                <a:sym typeface="SimHei"/>
              </a:rPr>
            </a:br>
            <a:r>
              <a:rPr lang="en-US" b="0" i="0" u="none" strike="noStrike" dirty="0" err="1">
                <a:solidFill>
                  <a:srgbClr val="6B7280"/>
                </a:solidFill>
                <a:latin typeface="SimHei"/>
                <a:ea typeface="SimHei"/>
                <a:cs typeface="SimHei"/>
                <a:sym typeface="SimHei"/>
              </a:rPr>
              <a:t>统一系统无报错</a:t>
            </a:r>
            <a:endParaRPr lang="en-US" sz="1200" dirty="0"/>
          </a:p>
        </p:txBody>
      </p:sp>
      <p:sp>
        <p:nvSpPr>
          <p:cNvPr id="18" name="AutoShape 18"/>
          <p:cNvSpPr/>
          <p:nvPr/>
        </p:nvSpPr>
        <p:spPr>
          <a:xfrm>
            <a:off x="762000" y="56515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2C55E"/>
                </a:solidFill>
                <a:latin typeface="SimHei"/>
                <a:ea typeface="SimHei"/>
                <a:cs typeface="SimHei"/>
                <a:sym typeface="SimHei"/>
              </a:rPr>
              <a:t>✅ 编译结论：11个目标文件 100% </a:t>
            </a:r>
            <a:r>
              <a:rPr lang="en-US" sz="1600" b="1" i="0" u="none" strike="noStrike" dirty="0" err="1">
                <a:solidFill>
                  <a:srgbClr val="22C55E"/>
                </a:solidFill>
                <a:latin typeface="SimHei"/>
                <a:ea typeface="SimHei"/>
                <a:cs typeface="SimHei"/>
                <a:sym typeface="SimHei"/>
              </a:rPr>
              <a:t>成功构建，工程配置稳定可靠</a:t>
            </a:r>
            <a:r>
              <a:rPr lang="en-US" sz="1600" b="1" i="0" u="none" strike="noStrike" dirty="0">
                <a:solidFill>
                  <a:srgbClr val="22C55E"/>
                </a:solidFill>
                <a:latin typeface="SimHei"/>
                <a:ea typeface="SimHei"/>
                <a:cs typeface="SimHei"/>
                <a:sym typeface="SimHei"/>
              </a:rPr>
              <a:t>。</a:t>
            </a:r>
            <a:endParaRPr lang="en-US" sz="1200" dirty="0"/>
          </a:p>
        </p:txBody>
      </p:sp>
      <p:sp>
        <p:nvSpPr>
          <p:cNvPr id="19" name="AutoShape 19"/>
          <p:cNvSpPr/>
          <p:nvPr/>
        </p:nvSpPr>
        <p:spPr>
          <a:xfrm>
            <a:off x="6223000" y="1778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C55E"/>
                </a:solidFill>
                <a:latin typeface="SimHei"/>
                <a:ea typeface="SimHei"/>
                <a:cs typeface="SimHei"/>
                <a:sym typeface="SimHei"/>
              </a:rPr>
              <a:t>02 </a:t>
            </a:r>
            <a:r>
              <a:rPr lang="en-US" sz="2000" b="1" i="0" u="none" strike="noStrike" dirty="0" err="1">
                <a:solidFill>
                  <a:srgbClr val="22C55E"/>
                </a:solidFill>
                <a:latin typeface="SimHei"/>
                <a:ea typeface="SimHei"/>
                <a:cs typeface="SimHei"/>
                <a:sym typeface="SimHei"/>
              </a:rPr>
              <a:t>公共库单元测试</a:t>
            </a:r>
            <a:r>
              <a:rPr lang="en-US" sz="2000" b="1" i="0" u="none" strike="noStrike" dirty="0">
                <a:solidFill>
                  <a:srgbClr val="22C55E"/>
                </a:solidFill>
                <a:latin typeface="SimHei"/>
                <a:ea typeface="SimHei"/>
                <a:cs typeface="SimHei"/>
                <a:sym typeface="SimHei"/>
              </a:rPr>
              <a:t> 22/22 </a:t>
            </a:r>
            <a:r>
              <a:rPr lang="en-US" sz="2000" b="1" i="0" u="none" strike="noStrike" dirty="0" err="1">
                <a:solidFill>
                  <a:srgbClr val="22C55E"/>
                </a:solidFill>
                <a:latin typeface="SimHei"/>
                <a:ea typeface="SimHei"/>
                <a:cs typeface="SimHei"/>
                <a:sym typeface="SimHei"/>
              </a:rPr>
              <a:t>全通过</a:t>
            </a:r>
            <a:endParaRPr lang="en-US" sz="1200" dirty="0"/>
          </a:p>
        </p:txBody>
      </p:sp>
      <p:sp>
        <p:nvSpPr>
          <p:cNvPr id="20" name="AutoShape 20"/>
          <p:cNvSpPr/>
          <p:nvPr/>
        </p:nvSpPr>
        <p:spPr>
          <a:xfrm>
            <a:off x="6223000" y="2413000"/>
            <a:ext cx="2540000" cy="1651000"/>
          </a:xfrm>
          <a:prstGeom prst="roundRect">
            <a:avLst>
              <a:gd name="adj" fmla="val 0"/>
            </a:avLst>
          </a:prstGeom>
          <a:solidFill>
            <a:srgbClr val="F3F4F6">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2603500"/>
            <a:ext cx="279400" cy="279400"/>
          </a:xfrm>
          <a:prstGeom prst="rect">
            <a:avLst/>
          </a:prstGeom>
        </p:spPr>
      </p:pic>
      <p:sp>
        <p:nvSpPr>
          <p:cNvPr id="22" name="AutoShape 22"/>
          <p:cNvSpPr/>
          <p:nvPr/>
        </p:nvSpPr>
        <p:spPr>
          <a:xfrm>
            <a:off x="6756400" y="26035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dirty="0" err="1">
                <a:solidFill>
                  <a:srgbClr val="1F2937"/>
                </a:solidFill>
                <a:latin typeface="SimHei"/>
                <a:ea typeface="SimHei"/>
                <a:cs typeface="SimHei"/>
                <a:sym typeface="SimHei"/>
              </a:rPr>
              <a:t>PID控制器模块</a:t>
            </a:r>
            <a:endParaRPr lang="en-US" sz="1700" dirty="0"/>
          </a:p>
        </p:txBody>
      </p:sp>
      <p:sp>
        <p:nvSpPr>
          <p:cNvPr id="23" name="AutoShape 23"/>
          <p:cNvSpPr/>
          <p:nvPr/>
        </p:nvSpPr>
        <p:spPr>
          <a:xfrm>
            <a:off x="6413500" y="30734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覆盖P</a:t>
            </a:r>
            <a:r>
              <a:rPr lang="en-US" b="0" i="0" u="none" strike="noStrike" dirty="0">
                <a:solidFill>
                  <a:srgbClr val="4B5563"/>
                </a:solidFill>
                <a:latin typeface="SimHei"/>
                <a:ea typeface="SimHei"/>
                <a:cs typeface="SimHei"/>
                <a:sym typeface="SimHei"/>
              </a:rPr>
              <a:t>/I响应、输出限幅、抗积分饱和等6大核心用例，逻辑严密，测试通过率</a:t>
            </a:r>
            <a:r>
              <a:rPr lang="en-US" b="1" i="0" u="none" strike="noStrike" dirty="0">
                <a:solidFill>
                  <a:srgbClr val="22C55E"/>
                </a:solidFill>
                <a:latin typeface="SimHei"/>
                <a:ea typeface="SimHei"/>
                <a:cs typeface="SimHei"/>
                <a:sym typeface="SimHei"/>
              </a:rPr>
              <a:t>6/6</a:t>
            </a:r>
            <a:r>
              <a:rPr lang="en-US" b="0" i="0" u="none" strike="noStrike" dirty="0">
                <a:solidFill>
                  <a:srgbClr val="4B5563"/>
                </a:solidFill>
                <a:latin typeface="SimHei"/>
                <a:ea typeface="SimHei"/>
                <a:cs typeface="SimHei"/>
                <a:sym typeface="SimHei"/>
              </a:rPr>
              <a:t>。</a:t>
            </a:r>
            <a:endParaRPr lang="en-US" sz="1200" dirty="0"/>
          </a:p>
        </p:txBody>
      </p:sp>
      <p:sp>
        <p:nvSpPr>
          <p:cNvPr id="24" name="AutoShape 24"/>
          <p:cNvSpPr/>
          <p:nvPr/>
        </p:nvSpPr>
        <p:spPr>
          <a:xfrm>
            <a:off x="8890000" y="2413000"/>
            <a:ext cx="2540000" cy="1651000"/>
          </a:xfrm>
          <a:prstGeom prst="roundRect">
            <a:avLst>
              <a:gd name="adj" fmla="val 0"/>
            </a:avLst>
          </a:prstGeom>
          <a:solidFill>
            <a:srgbClr val="F3F4F6">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0500" y="2603500"/>
            <a:ext cx="279400" cy="279400"/>
          </a:xfrm>
          <a:prstGeom prst="rect">
            <a:avLst/>
          </a:prstGeom>
        </p:spPr>
      </p:pic>
      <p:sp>
        <p:nvSpPr>
          <p:cNvPr id="26" name="AutoShape 26"/>
          <p:cNvSpPr/>
          <p:nvPr/>
        </p:nvSpPr>
        <p:spPr>
          <a:xfrm>
            <a:off x="9423400" y="26035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dirty="0" err="1">
                <a:solidFill>
                  <a:srgbClr val="1F2937"/>
                </a:solidFill>
                <a:latin typeface="SimHei"/>
                <a:ea typeface="SimHei"/>
                <a:cs typeface="SimHei"/>
                <a:sym typeface="SimHei"/>
              </a:rPr>
              <a:t>控制限幅函数</a:t>
            </a:r>
            <a:endParaRPr lang="en-US" sz="1700" dirty="0"/>
          </a:p>
        </p:txBody>
      </p:sp>
      <p:sp>
        <p:nvSpPr>
          <p:cNvPr id="27" name="AutoShape 27"/>
          <p:cNvSpPr/>
          <p:nvPr/>
        </p:nvSpPr>
        <p:spPr>
          <a:xfrm>
            <a:off x="9080500" y="30734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a:solidFill>
                  <a:srgbClr val="4B5563"/>
                </a:solidFill>
                <a:latin typeface="SimHei"/>
                <a:ea typeface="SimHei"/>
                <a:cs typeface="SimHei"/>
                <a:sym typeface="SimHei"/>
              </a:rPr>
              <a:t>验证clamp上下界、死区、不对称限速等边界场景，计算精准，通过率</a:t>
            </a:r>
            <a:r>
              <a:rPr lang="en-US" b="1" i="0" u="none" strike="noStrike" dirty="0">
                <a:solidFill>
                  <a:srgbClr val="22C55E"/>
                </a:solidFill>
                <a:latin typeface="SimHei"/>
                <a:ea typeface="SimHei"/>
                <a:cs typeface="SimHei"/>
                <a:sym typeface="SimHei"/>
              </a:rPr>
              <a:t>8/8</a:t>
            </a:r>
            <a:r>
              <a:rPr lang="en-US" b="0" i="0" u="none" strike="noStrike" dirty="0">
                <a:solidFill>
                  <a:srgbClr val="4B5563"/>
                </a:solidFill>
                <a:latin typeface="SimHei"/>
                <a:ea typeface="SimHei"/>
                <a:cs typeface="SimHei"/>
                <a:sym typeface="SimHei"/>
              </a:rPr>
              <a:t>。</a:t>
            </a:r>
            <a:endParaRPr lang="en-US" sz="1200" dirty="0"/>
          </a:p>
        </p:txBody>
      </p:sp>
      <p:sp>
        <p:nvSpPr>
          <p:cNvPr id="28" name="AutoShape 28"/>
          <p:cNvSpPr/>
          <p:nvPr/>
        </p:nvSpPr>
        <p:spPr>
          <a:xfrm>
            <a:off x="6223000" y="4191000"/>
            <a:ext cx="2540000" cy="1651000"/>
          </a:xfrm>
          <a:prstGeom prst="roundRect">
            <a:avLst>
              <a:gd name="adj" fmla="val 0"/>
            </a:avLst>
          </a:prstGeom>
          <a:solidFill>
            <a:srgbClr val="F3F4F6">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4381500"/>
            <a:ext cx="279400" cy="279400"/>
          </a:xfrm>
          <a:prstGeom prst="rect">
            <a:avLst/>
          </a:prstGeom>
        </p:spPr>
      </p:pic>
      <p:sp>
        <p:nvSpPr>
          <p:cNvPr id="30" name="AutoShape 30"/>
          <p:cNvSpPr/>
          <p:nvPr/>
        </p:nvSpPr>
        <p:spPr>
          <a:xfrm>
            <a:off x="6756400" y="43815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dirty="0" err="1">
                <a:solidFill>
                  <a:srgbClr val="1F2937"/>
                </a:solidFill>
                <a:latin typeface="SimHei"/>
                <a:ea typeface="SimHei"/>
                <a:cs typeface="SimHei"/>
                <a:sym typeface="SimHei"/>
              </a:rPr>
              <a:t>风力功率模型</a:t>
            </a:r>
            <a:endParaRPr lang="en-US" sz="1700" dirty="0"/>
          </a:p>
        </p:txBody>
      </p:sp>
      <p:sp>
        <p:nvSpPr>
          <p:cNvPr id="31" name="AutoShape 31"/>
          <p:cNvSpPr/>
          <p:nvPr/>
        </p:nvSpPr>
        <p:spPr>
          <a:xfrm>
            <a:off x="6413500" y="48514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err="1">
                <a:solidFill>
                  <a:srgbClr val="4B5563"/>
                </a:solidFill>
                <a:latin typeface="SimHei"/>
                <a:ea typeface="SimHei"/>
                <a:cs typeface="SimHei"/>
                <a:sym typeface="SimHei"/>
              </a:rPr>
              <a:t>测试切入</a:t>
            </a:r>
            <a:r>
              <a:rPr lang="en-US" b="0" i="0" u="none" strike="noStrike" dirty="0">
                <a:solidFill>
                  <a:srgbClr val="4B5563"/>
                </a:solidFill>
                <a:latin typeface="SimHei"/>
                <a:ea typeface="SimHei"/>
                <a:cs typeface="SimHei"/>
                <a:sym typeface="SimHei"/>
              </a:rPr>
              <a:t>/</a:t>
            </a:r>
            <a:r>
              <a:rPr lang="en-US" b="0" i="0" u="none" strike="noStrike" dirty="0" err="1">
                <a:solidFill>
                  <a:srgbClr val="4B5563"/>
                </a:solidFill>
                <a:latin typeface="SimHei"/>
                <a:ea typeface="SimHei"/>
                <a:cs typeface="SimHei"/>
                <a:sym typeface="SimHei"/>
              </a:rPr>
              <a:t>额定</a:t>
            </a:r>
            <a:r>
              <a:rPr lang="en-US" b="0" i="0" u="none" strike="noStrike" dirty="0">
                <a:solidFill>
                  <a:srgbClr val="4B5563"/>
                </a:solidFill>
                <a:latin typeface="SimHei"/>
                <a:ea typeface="SimHei"/>
                <a:cs typeface="SimHei"/>
                <a:sym typeface="SimHei"/>
              </a:rPr>
              <a:t>/切出边界及多种功率模型，拟合度高，通过率</a:t>
            </a:r>
            <a:r>
              <a:rPr lang="en-US" b="1" i="0" u="none" strike="noStrike" dirty="0">
                <a:solidFill>
                  <a:srgbClr val="22C55E"/>
                </a:solidFill>
                <a:latin typeface="SimHei"/>
                <a:ea typeface="SimHei"/>
                <a:cs typeface="SimHei"/>
                <a:sym typeface="SimHei"/>
              </a:rPr>
              <a:t>7/7</a:t>
            </a:r>
            <a:r>
              <a:rPr lang="en-US" b="0" i="0" u="none" strike="noStrike" dirty="0">
                <a:solidFill>
                  <a:srgbClr val="4B5563"/>
                </a:solidFill>
                <a:latin typeface="SimHei"/>
                <a:ea typeface="SimHei"/>
                <a:cs typeface="SimHei"/>
                <a:sym typeface="SimHei"/>
              </a:rPr>
              <a:t>。</a:t>
            </a:r>
            <a:endParaRPr lang="en-US" sz="1200" dirty="0"/>
          </a:p>
        </p:txBody>
      </p:sp>
      <p:sp>
        <p:nvSpPr>
          <p:cNvPr id="32" name="AutoShape 32"/>
          <p:cNvSpPr/>
          <p:nvPr/>
        </p:nvSpPr>
        <p:spPr>
          <a:xfrm>
            <a:off x="8890000" y="4191000"/>
            <a:ext cx="2540000" cy="1651000"/>
          </a:xfrm>
          <a:prstGeom prst="roundRect">
            <a:avLst>
              <a:gd name="adj" fmla="val 0"/>
            </a:avLst>
          </a:prstGeom>
          <a:solidFill>
            <a:srgbClr val="F3F4F6">
              <a:alpha val="7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pic>
        <p:nvPicPr>
          <p:cNvPr id="33" name="Picture 3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80500" y="4381500"/>
            <a:ext cx="279400" cy="279400"/>
          </a:xfrm>
          <a:prstGeom prst="rect">
            <a:avLst/>
          </a:prstGeom>
        </p:spPr>
      </p:pic>
      <p:sp>
        <p:nvSpPr>
          <p:cNvPr id="34" name="AutoShape 34"/>
          <p:cNvSpPr/>
          <p:nvPr/>
        </p:nvSpPr>
        <p:spPr>
          <a:xfrm>
            <a:off x="9423400" y="438150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700" b="1" i="0" u="none" strike="noStrike" dirty="0" err="1">
                <a:solidFill>
                  <a:srgbClr val="1F2937"/>
                </a:solidFill>
                <a:latin typeface="SimHei"/>
                <a:ea typeface="SimHei"/>
                <a:cs typeface="SimHei"/>
                <a:sym typeface="SimHei"/>
              </a:rPr>
              <a:t>系统集成验证</a:t>
            </a:r>
            <a:endParaRPr lang="en-US" sz="1700" dirty="0"/>
          </a:p>
        </p:txBody>
      </p:sp>
      <p:sp>
        <p:nvSpPr>
          <p:cNvPr id="35" name="AutoShape 35"/>
          <p:cNvSpPr/>
          <p:nvPr/>
        </p:nvSpPr>
        <p:spPr>
          <a:xfrm>
            <a:off x="9080500" y="48514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b="0" i="0" u="none" strike="noStrike" dirty="0">
                <a:solidFill>
                  <a:srgbClr val="4B5563"/>
                </a:solidFill>
                <a:latin typeface="SimHei"/>
                <a:ea typeface="SimHei"/>
                <a:cs typeface="SimHei"/>
                <a:sym typeface="SimHei"/>
              </a:rPr>
              <a:t>30→70MW阶跃响应测试，0.8s内收敛至死带，动态性能达标，通过率</a:t>
            </a:r>
            <a:r>
              <a:rPr lang="en-US" b="1" i="0" u="none" strike="noStrike" dirty="0">
                <a:solidFill>
                  <a:srgbClr val="22C55E"/>
                </a:solidFill>
                <a:latin typeface="SimHei"/>
                <a:ea typeface="SimHei"/>
                <a:cs typeface="SimHei"/>
                <a:sym typeface="SimHei"/>
              </a:rPr>
              <a:t>1/1</a:t>
            </a:r>
            <a:r>
              <a:rPr lang="en-US" b="0" i="0" u="none" strike="noStrike" dirty="0">
                <a:solidFill>
                  <a:srgbClr val="4B5563"/>
                </a:solidFill>
                <a:latin typeface="SimHei"/>
                <a:ea typeface="SimHei"/>
                <a:cs typeface="SimHei"/>
                <a:sym typeface="SimHei"/>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SimHei"/>
                <a:ea typeface="SimHei"/>
                <a:cs typeface="SimHei"/>
                <a:sym typeface="SimHei"/>
              </a:rPr>
              <a:t>系统特点总结</a:t>
            </a:r>
            <a:endParaRPr lang="en-US" sz="1100"/>
          </a:p>
        </p:txBody>
      </p:sp>
      <p:sp>
        <p:nvSpPr>
          <p:cNvPr id="4" name="AutoShape 4"/>
          <p:cNvSpPr/>
          <p:nvPr/>
        </p:nvSpPr>
        <p:spPr>
          <a:xfrm>
            <a:off x="762000" y="1651000"/>
            <a:ext cx="52705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841500"/>
            <a:ext cx="355600" cy="355600"/>
          </a:xfrm>
          <a:prstGeom prst="rect">
            <a:avLst/>
          </a:prstGeom>
        </p:spPr>
      </p:pic>
      <p:sp>
        <p:nvSpPr>
          <p:cNvPr id="6" name="AutoShape 6"/>
          <p:cNvSpPr/>
          <p:nvPr/>
        </p:nvSpPr>
        <p:spPr>
          <a:xfrm>
            <a:off x="1397000" y="18415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937"/>
                </a:solidFill>
                <a:latin typeface="SimHei"/>
                <a:ea typeface="SimHei"/>
                <a:cs typeface="SimHei"/>
                <a:sym typeface="SimHei"/>
              </a:rPr>
              <a:t>01 </a:t>
            </a:r>
            <a:r>
              <a:rPr lang="en-US" sz="1800" b="1" i="0" u="none" strike="noStrike" dirty="0" err="1">
                <a:solidFill>
                  <a:srgbClr val="1F2937"/>
                </a:solidFill>
                <a:latin typeface="SimHei"/>
                <a:ea typeface="SimHei"/>
                <a:cs typeface="SimHei"/>
                <a:sym typeface="SimHei"/>
              </a:rPr>
              <a:t>工况自动识别，无需人工干预</a:t>
            </a:r>
            <a:endParaRPr lang="en-US" sz="1200" dirty="0"/>
          </a:p>
        </p:txBody>
      </p:sp>
      <p:sp>
        <p:nvSpPr>
          <p:cNvPr id="7" name="AutoShape 7"/>
          <p:cNvSpPr/>
          <p:nvPr/>
        </p:nvSpPr>
        <p:spPr>
          <a:xfrm>
            <a:off x="952500" y="22225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err="1">
                <a:solidFill>
                  <a:srgbClr val="4B5563"/>
                </a:solidFill>
                <a:latin typeface="SimHei"/>
                <a:ea typeface="SimHei"/>
                <a:cs typeface="SimHei"/>
                <a:sym typeface="SimHei"/>
              </a:rPr>
              <a:t>实时监测频率、风速及通信状态，毫秒级自动响应并智能切换控制策略，彻底摒弃传统人工操作的滞后与误差</a:t>
            </a:r>
            <a:r>
              <a:rPr lang="en-US" b="0" i="0" u="none" strike="noStrike" dirty="0">
                <a:solidFill>
                  <a:srgbClr val="4B5563"/>
                </a:solidFill>
                <a:latin typeface="SimHei"/>
                <a:ea typeface="SimHei"/>
                <a:cs typeface="SimHei"/>
                <a:sym typeface="SimHei"/>
              </a:rPr>
              <a:t>。</a:t>
            </a:r>
            <a:endParaRPr lang="en-US" sz="1200" dirty="0"/>
          </a:p>
        </p:txBody>
      </p:sp>
      <p:sp>
        <p:nvSpPr>
          <p:cNvPr id="8" name="AutoShape 8"/>
          <p:cNvSpPr/>
          <p:nvPr/>
        </p:nvSpPr>
        <p:spPr>
          <a:xfrm>
            <a:off x="6286500" y="1651000"/>
            <a:ext cx="52705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841500"/>
            <a:ext cx="355600" cy="355600"/>
          </a:xfrm>
          <a:prstGeom prst="rect">
            <a:avLst/>
          </a:prstGeom>
        </p:spPr>
      </p:pic>
      <p:sp>
        <p:nvSpPr>
          <p:cNvPr id="10" name="AutoShape 10"/>
          <p:cNvSpPr/>
          <p:nvPr/>
        </p:nvSpPr>
        <p:spPr>
          <a:xfrm>
            <a:off x="6921500" y="18415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937"/>
                </a:solidFill>
                <a:latin typeface="SimHei"/>
                <a:ea typeface="SimHei"/>
                <a:cs typeface="SimHei"/>
                <a:sym typeface="SimHei"/>
              </a:rPr>
              <a:t>02 </a:t>
            </a:r>
            <a:r>
              <a:rPr lang="en-US" sz="1800" b="1" i="0" u="none" strike="noStrike" dirty="0" err="1">
                <a:solidFill>
                  <a:srgbClr val="1F2937"/>
                </a:solidFill>
                <a:latin typeface="SimHei"/>
                <a:ea typeface="SimHei"/>
                <a:cs typeface="SimHei"/>
                <a:sym typeface="SimHei"/>
              </a:rPr>
              <a:t>策略热切换，功率无缝衔接</a:t>
            </a:r>
            <a:endParaRPr lang="en-US" sz="1200" dirty="0"/>
          </a:p>
        </p:txBody>
      </p:sp>
      <p:sp>
        <p:nvSpPr>
          <p:cNvPr id="11" name="AutoShape 11"/>
          <p:cNvSpPr/>
          <p:nvPr/>
        </p:nvSpPr>
        <p:spPr>
          <a:xfrm>
            <a:off x="6477000" y="22225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err="1">
                <a:solidFill>
                  <a:srgbClr val="4B5563"/>
                </a:solidFill>
                <a:latin typeface="SimHei"/>
                <a:ea typeface="SimHei"/>
                <a:cs typeface="SimHei"/>
                <a:sym typeface="SimHei"/>
              </a:rPr>
              <a:t>策略切换无需系统重启或初始化，上一策略的输出直接作为下一策略的输入，确保功率输出连续平稳，无波动跳变</a:t>
            </a:r>
            <a:r>
              <a:rPr lang="en-US" b="0" i="0" u="none" strike="noStrike" dirty="0">
                <a:solidFill>
                  <a:srgbClr val="4B5563"/>
                </a:solidFill>
                <a:latin typeface="SimHei"/>
                <a:ea typeface="SimHei"/>
                <a:cs typeface="SimHei"/>
                <a:sym typeface="SimHei"/>
              </a:rPr>
              <a:t>。</a:t>
            </a:r>
            <a:endParaRPr lang="en-US" sz="1200" dirty="0"/>
          </a:p>
        </p:txBody>
      </p:sp>
      <p:sp>
        <p:nvSpPr>
          <p:cNvPr id="12" name="AutoShape 12"/>
          <p:cNvSpPr/>
          <p:nvPr/>
        </p:nvSpPr>
        <p:spPr>
          <a:xfrm>
            <a:off x="762000" y="3111500"/>
            <a:ext cx="52705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3302000"/>
            <a:ext cx="355600" cy="355600"/>
          </a:xfrm>
          <a:prstGeom prst="rect">
            <a:avLst/>
          </a:prstGeom>
        </p:spPr>
      </p:pic>
      <p:sp>
        <p:nvSpPr>
          <p:cNvPr id="14" name="AutoShape 14"/>
          <p:cNvSpPr/>
          <p:nvPr/>
        </p:nvSpPr>
        <p:spPr>
          <a:xfrm>
            <a:off x="1397000" y="33020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937"/>
                </a:solidFill>
                <a:latin typeface="SimHei"/>
                <a:ea typeface="SimHei"/>
                <a:cs typeface="SimHei"/>
                <a:sym typeface="SimHei"/>
              </a:rPr>
              <a:t>03 </a:t>
            </a:r>
            <a:r>
              <a:rPr lang="en-US" sz="1800" b="1" i="0" u="none" strike="noStrike" dirty="0" err="1">
                <a:solidFill>
                  <a:srgbClr val="1F2937"/>
                </a:solidFill>
                <a:latin typeface="SimHei"/>
                <a:ea typeface="SimHei"/>
                <a:cs typeface="SimHei"/>
                <a:sym typeface="SimHei"/>
              </a:rPr>
              <a:t>统一数据空间，全场景一张表</a:t>
            </a:r>
            <a:endParaRPr lang="en-US" sz="1200" dirty="0"/>
          </a:p>
        </p:txBody>
      </p:sp>
      <p:sp>
        <p:nvSpPr>
          <p:cNvPr id="15" name="AutoShape 15"/>
          <p:cNvSpPr/>
          <p:nvPr/>
        </p:nvSpPr>
        <p:spPr>
          <a:xfrm>
            <a:off x="952500" y="36830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a:solidFill>
                  <a:srgbClr val="4B5563"/>
                </a:solidFill>
                <a:latin typeface="SimHei"/>
                <a:ea typeface="SimHei"/>
                <a:cs typeface="SimHei"/>
                <a:sym typeface="SimHei"/>
              </a:rPr>
              <a:t>881个核心数据点统一映射至共享内存，为SCADA、HMI及数据分析系统提供单一、标准的权威数据源，消除数据孤岛。</a:t>
            </a:r>
            <a:endParaRPr lang="en-US" sz="1200" dirty="0"/>
          </a:p>
        </p:txBody>
      </p:sp>
      <p:sp>
        <p:nvSpPr>
          <p:cNvPr id="16" name="AutoShape 16"/>
          <p:cNvSpPr/>
          <p:nvPr/>
        </p:nvSpPr>
        <p:spPr>
          <a:xfrm>
            <a:off x="6286500" y="3111500"/>
            <a:ext cx="52705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302000"/>
            <a:ext cx="355600" cy="355600"/>
          </a:xfrm>
          <a:prstGeom prst="rect">
            <a:avLst/>
          </a:prstGeom>
        </p:spPr>
      </p:pic>
      <p:sp>
        <p:nvSpPr>
          <p:cNvPr id="18" name="AutoShape 18"/>
          <p:cNvSpPr/>
          <p:nvPr/>
        </p:nvSpPr>
        <p:spPr>
          <a:xfrm>
            <a:off x="6921500" y="33020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937"/>
                </a:solidFill>
                <a:latin typeface="SimHei"/>
                <a:ea typeface="SimHei"/>
                <a:cs typeface="SimHei"/>
                <a:sym typeface="SimHei"/>
              </a:rPr>
              <a:t>04 </a:t>
            </a:r>
            <a:r>
              <a:rPr lang="en-US" sz="1800" b="1" i="0" u="none" strike="noStrike" dirty="0" err="1">
                <a:solidFill>
                  <a:srgbClr val="1F2937"/>
                </a:solidFill>
                <a:latin typeface="SimHei"/>
                <a:ea typeface="SimHei"/>
                <a:cs typeface="SimHei"/>
                <a:sym typeface="SimHei"/>
              </a:rPr>
              <a:t>算法与通信分离，独立迭代演进</a:t>
            </a:r>
            <a:endParaRPr lang="en-US" sz="1200" dirty="0"/>
          </a:p>
        </p:txBody>
      </p:sp>
      <p:sp>
        <p:nvSpPr>
          <p:cNvPr id="19" name="AutoShape 19"/>
          <p:cNvSpPr/>
          <p:nvPr/>
        </p:nvSpPr>
        <p:spPr>
          <a:xfrm>
            <a:off x="6477000" y="36830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err="1">
                <a:solidFill>
                  <a:srgbClr val="4B5563"/>
                </a:solidFill>
                <a:latin typeface="SimHei"/>
                <a:ea typeface="SimHei"/>
                <a:cs typeface="SimHei"/>
                <a:sym typeface="SimHei"/>
              </a:rPr>
              <a:t>控制算法专注于策略逻辑，数据通信由Logger层统一调度，实现关注点彻底分离，支持算法与通信模块的独立升级与维护</a:t>
            </a:r>
            <a:r>
              <a:rPr lang="en-US" b="0" i="0" u="none" strike="noStrike" dirty="0">
                <a:solidFill>
                  <a:srgbClr val="4B5563"/>
                </a:solidFill>
                <a:latin typeface="SimHei"/>
                <a:ea typeface="SimHei"/>
                <a:cs typeface="SimHei"/>
                <a:sym typeface="SimHei"/>
              </a:rPr>
              <a:t>。</a:t>
            </a:r>
            <a:endParaRPr lang="en-US" sz="1200" dirty="0"/>
          </a:p>
        </p:txBody>
      </p:sp>
      <p:sp>
        <p:nvSpPr>
          <p:cNvPr id="20" name="AutoShape 20"/>
          <p:cNvSpPr/>
          <p:nvPr/>
        </p:nvSpPr>
        <p:spPr>
          <a:xfrm>
            <a:off x="762000" y="4572000"/>
            <a:ext cx="52705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4762500"/>
            <a:ext cx="355600" cy="355600"/>
          </a:xfrm>
          <a:prstGeom prst="rect">
            <a:avLst/>
          </a:prstGeom>
        </p:spPr>
      </p:pic>
      <p:sp>
        <p:nvSpPr>
          <p:cNvPr id="22" name="AutoShape 22"/>
          <p:cNvSpPr/>
          <p:nvPr/>
        </p:nvSpPr>
        <p:spPr>
          <a:xfrm>
            <a:off x="1397000" y="47625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937"/>
                </a:solidFill>
                <a:latin typeface="SimHei"/>
                <a:ea typeface="SimHei"/>
                <a:cs typeface="SimHei"/>
                <a:sym typeface="SimHei"/>
              </a:rPr>
              <a:t>05 </a:t>
            </a:r>
            <a:r>
              <a:rPr lang="en-US" sz="1800" b="1" i="0" u="none" strike="noStrike" dirty="0" err="1">
                <a:solidFill>
                  <a:srgbClr val="1F2937"/>
                </a:solidFill>
                <a:latin typeface="SimHei"/>
                <a:ea typeface="SimHei"/>
                <a:cs typeface="SimHei"/>
                <a:sym typeface="SimHei"/>
              </a:rPr>
              <a:t>架构灵活扩展，新场景即插即用</a:t>
            </a:r>
            <a:endParaRPr lang="en-US" sz="1200" dirty="0"/>
          </a:p>
        </p:txBody>
      </p:sp>
      <p:sp>
        <p:nvSpPr>
          <p:cNvPr id="23" name="AutoShape 23"/>
          <p:cNvSpPr/>
          <p:nvPr/>
        </p:nvSpPr>
        <p:spPr>
          <a:xfrm>
            <a:off x="952500" y="51435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err="1">
                <a:solidFill>
                  <a:srgbClr val="4B5563"/>
                </a:solidFill>
                <a:latin typeface="SimHei"/>
                <a:ea typeface="SimHei"/>
                <a:cs typeface="SimHei"/>
                <a:sym typeface="SimHei"/>
              </a:rPr>
              <a:t>遵循开闭原则，新增控制场景只需继承基类并实现核心方法，即可无缝接入系统，极大降低了功能扩展的开发成本</a:t>
            </a:r>
            <a:r>
              <a:rPr lang="en-US" b="0" i="0" u="none" strike="noStrike" dirty="0">
                <a:solidFill>
                  <a:srgbClr val="4B5563"/>
                </a:solidFill>
                <a:latin typeface="SimHei"/>
                <a:ea typeface="SimHei"/>
                <a:cs typeface="SimHei"/>
                <a:sym typeface="SimHei"/>
              </a:rPr>
              <a:t>。</a:t>
            </a:r>
            <a:endParaRPr lang="en-US" sz="1200" dirty="0"/>
          </a:p>
        </p:txBody>
      </p:sp>
      <p:sp>
        <p:nvSpPr>
          <p:cNvPr id="24" name="AutoShape 24"/>
          <p:cNvSpPr/>
          <p:nvPr/>
        </p:nvSpPr>
        <p:spPr>
          <a:xfrm>
            <a:off x="6286500" y="4572000"/>
            <a:ext cx="5270500" cy="1270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762500"/>
            <a:ext cx="355600" cy="355600"/>
          </a:xfrm>
          <a:prstGeom prst="rect">
            <a:avLst/>
          </a:prstGeom>
        </p:spPr>
      </p:pic>
      <p:sp>
        <p:nvSpPr>
          <p:cNvPr id="26" name="AutoShape 26"/>
          <p:cNvSpPr/>
          <p:nvPr/>
        </p:nvSpPr>
        <p:spPr>
          <a:xfrm>
            <a:off x="6921500" y="47625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937"/>
                </a:solidFill>
                <a:latin typeface="SimHei"/>
                <a:ea typeface="SimHei"/>
                <a:cs typeface="SimHei"/>
                <a:sym typeface="SimHei"/>
              </a:rPr>
              <a:t>06 </a:t>
            </a:r>
            <a:r>
              <a:rPr lang="en-US" sz="1800" b="1" i="0" u="none" strike="noStrike" dirty="0" err="1">
                <a:solidFill>
                  <a:srgbClr val="1F2937"/>
                </a:solidFill>
                <a:latin typeface="SimHei"/>
                <a:ea typeface="SimHei"/>
                <a:cs typeface="SimHei"/>
                <a:sym typeface="SimHei"/>
              </a:rPr>
              <a:t>智能容错降级，保障系统可用性</a:t>
            </a:r>
            <a:endParaRPr lang="en-US" sz="1200" dirty="0"/>
          </a:p>
        </p:txBody>
      </p:sp>
      <p:sp>
        <p:nvSpPr>
          <p:cNvPr id="27" name="AutoShape 27"/>
          <p:cNvSpPr/>
          <p:nvPr/>
        </p:nvSpPr>
        <p:spPr>
          <a:xfrm>
            <a:off x="6477000" y="51435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err="1">
                <a:solidFill>
                  <a:srgbClr val="4B5563"/>
                </a:solidFill>
                <a:latin typeface="SimHei"/>
                <a:ea typeface="SimHei"/>
                <a:cs typeface="SimHei"/>
                <a:sym typeface="SimHei"/>
              </a:rPr>
              <a:t>当共享内存不可用时，系统自动切换至Standalone独立运行模式，控制逻辑不受影响，展现出极高的鲁棒性与可靠性</a:t>
            </a:r>
            <a:r>
              <a:rPr lang="en-US" b="0" i="0" u="none" strike="noStrike" dirty="0">
                <a:solidFill>
                  <a:srgbClr val="4B5563"/>
                </a:solidFill>
                <a:latin typeface="SimHei"/>
                <a:ea typeface="SimHei"/>
                <a:cs typeface="SimHei"/>
                <a:sym typeface="SimHei"/>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1F2937"/>
                </a:solidFill>
                <a:latin typeface="SimHei"/>
                <a:ea typeface="SimHei"/>
                <a:cs typeface="SimHei"/>
                <a:sym typeface="SimHei"/>
              </a:rPr>
              <a:t>成果</a:t>
            </a:r>
            <a:r>
              <a:rPr lang="zh-CN" altLang="en-US" sz="3200" b="1" i="0" u="none" strike="noStrike" dirty="0">
                <a:solidFill>
                  <a:srgbClr val="1F2937"/>
                </a:solidFill>
                <a:latin typeface="SimHei"/>
                <a:ea typeface="SimHei"/>
                <a:cs typeface="SimHei"/>
                <a:sym typeface="SimHei"/>
              </a:rPr>
              <a:t>总结</a:t>
            </a:r>
            <a:r>
              <a:rPr lang="en-US" sz="3200" b="1" i="0" u="none" strike="noStrike" dirty="0" err="1">
                <a:solidFill>
                  <a:srgbClr val="1F2937"/>
                </a:solidFill>
                <a:latin typeface="SimHei"/>
                <a:ea typeface="SimHei"/>
                <a:cs typeface="SimHei"/>
                <a:sym typeface="SimHei"/>
              </a:rPr>
              <a:t>与后续规划</a:t>
            </a:r>
            <a:endParaRPr lang="en-US" sz="1100" dirty="0"/>
          </a:p>
        </p:txBody>
      </p:sp>
      <p:sp>
        <p:nvSpPr>
          <p:cNvPr id="4" name="AutoShape 4"/>
          <p:cNvSpPr/>
          <p:nvPr/>
        </p:nvSpPr>
        <p:spPr>
          <a:xfrm>
            <a:off x="762000" y="1651000"/>
            <a:ext cx="3784600" cy="1270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841500"/>
            <a:ext cx="304800" cy="304800"/>
          </a:xfrm>
          <a:prstGeom prst="rect">
            <a:avLst/>
          </a:prstGeom>
        </p:spPr>
      </p:pic>
      <p:sp>
        <p:nvSpPr>
          <p:cNvPr id="6" name="AutoShape 6"/>
          <p:cNvSpPr/>
          <p:nvPr/>
        </p:nvSpPr>
        <p:spPr>
          <a:xfrm>
            <a:off x="1333500" y="18034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1F2937"/>
                </a:solidFill>
                <a:latin typeface="SimHei"/>
                <a:ea typeface="SimHei"/>
                <a:cs typeface="SimHei"/>
                <a:sym typeface="SimHei"/>
              </a:rPr>
              <a:t>核心代码体系构建</a:t>
            </a:r>
            <a:endParaRPr lang="en-US" sz="1200" dirty="0"/>
          </a:p>
          <a:p>
            <a:pPr marL="0" indent="0" algn="l">
              <a:lnSpc>
                <a:spcPct val="116666"/>
              </a:lnSpc>
            </a:pPr>
            <a:r>
              <a:rPr lang="en-US" b="0" i="0" u="none" strike="noStrike" dirty="0">
                <a:solidFill>
                  <a:srgbClr val="4B5563"/>
                </a:solidFill>
                <a:latin typeface="SimHei"/>
                <a:ea typeface="SimHei"/>
                <a:cs typeface="SimHei"/>
                <a:sym typeface="SimHei"/>
              </a:rPr>
              <a:t>统一AGC系统与公共基础库代码全部编译运行通过，22项单元测试100%覆盖，代码质量达到上线标准。</a:t>
            </a:r>
          </a:p>
        </p:txBody>
      </p:sp>
      <p:sp>
        <p:nvSpPr>
          <p:cNvPr id="7" name="AutoShape 7"/>
          <p:cNvSpPr/>
          <p:nvPr/>
        </p:nvSpPr>
        <p:spPr>
          <a:xfrm>
            <a:off x="762000" y="3175000"/>
            <a:ext cx="3784600" cy="1270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365500"/>
            <a:ext cx="304800" cy="304800"/>
          </a:xfrm>
          <a:prstGeom prst="rect">
            <a:avLst/>
          </a:prstGeom>
        </p:spPr>
      </p:pic>
      <p:sp>
        <p:nvSpPr>
          <p:cNvPr id="9" name="AutoShape 9"/>
          <p:cNvSpPr/>
          <p:nvPr/>
        </p:nvSpPr>
        <p:spPr>
          <a:xfrm>
            <a:off x="1333500" y="33274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1F2937"/>
                </a:solidFill>
                <a:latin typeface="SimHei"/>
                <a:ea typeface="SimHei"/>
                <a:cs typeface="SimHei"/>
                <a:sym typeface="SimHei"/>
              </a:rPr>
              <a:t>场景改造与数据就绪</a:t>
            </a:r>
            <a:endParaRPr lang="en-US" sz="1200" dirty="0"/>
          </a:p>
          <a:p>
            <a:pPr marL="0" indent="0" algn="l">
              <a:lnSpc>
                <a:spcPct val="116666"/>
              </a:lnSpc>
            </a:pPr>
            <a:r>
              <a:rPr lang="en-US" b="0" i="0" u="none" strike="noStrike" dirty="0">
                <a:solidFill>
                  <a:srgbClr val="4B5563"/>
                </a:solidFill>
                <a:latin typeface="SimHei"/>
                <a:ea typeface="SimHei"/>
                <a:cs typeface="SimHei"/>
                <a:sym typeface="SimHei"/>
              </a:rPr>
              <a:t>完成6大核心场景的V2 Logger改造，实现0编译错误；881个RT_DB数据点成功注册，数据链路实时可查。</a:t>
            </a:r>
          </a:p>
        </p:txBody>
      </p:sp>
      <p:sp>
        <p:nvSpPr>
          <p:cNvPr id="10" name="AutoShape 10"/>
          <p:cNvSpPr/>
          <p:nvPr/>
        </p:nvSpPr>
        <p:spPr>
          <a:xfrm>
            <a:off x="762000" y="4699000"/>
            <a:ext cx="3784600" cy="1270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889500"/>
            <a:ext cx="304800" cy="304800"/>
          </a:xfrm>
          <a:prstGeom prst="rect">
            <a:avLst/>
          </a:prstGeom>
        </p:spPr>
      </p:pic>
      <p:sp>
        <p:nvSpPr>
          <p:cNvPr id="12" name="AutoShape 12"/>
          <p:cNvSpPr/>
          <p:nvPr/>
        </p:nvSpPr>
        <p:spPr>
          <a:xfrm>
            <a:off x="1333500" y="48514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1F2937"/>
                </a:solidFill>
                <a:latin typeface="SimHei"/>
                <a:ea typeface="SimHei"/>
                <a:cs typeface="SimHei"/>
                <a:sym typeface="SimHei"/>
              </a:rPr>
              <a:t>测试闭环与文档交付</a:t>
            </a:r>
            <a:endParaRPr lang="en-US" sz="1200" dirty="0"/>
          </a:p>
          <a:p>
            <a:pPr marL="0" indent="0" algn="l">
              <a:lnSpc>
                <a:spcPct val="116666"/>
              </a:lnSpc>
            </a:pPr>
            <a:r>
              <a:rPr lang="en-US" b="0" i="0" u="none" strike="noStrike" dirty="0">
                <a:solidFill>
                  <a:srgbClr val="4B5563"/>
                </a:solidFill>
                <a:latin typeface="SimHei"/>
                <a:ea typeface="SimHei"/>
                <a:cs typeface="SimHei"/>
                <a:sym typeface="SimHei"/>
              </a:rPr>
              <a:t>通过24小时连续仿真测试及RT_DB性能压测；完整交付项目计划、架构设计及数据字典等文档资产。</a:t>
            </a:r>
          </a:p>
        </p:txBody>
      </p:sp>
      <p:pic>
        <p:nvPicPr>
          <p:cNvPr id="14" name="Picture 14"/>
          <p:cNvPicPr>
            <a:picLocks noChangeAspect="1"/>
          </p:cNvPicPr>
          <p:nvPr/>
        </p:nvPicPr>
        <p:blipFill>
          <a:blip r:embed="rId5"/>
          <a:srcRect t="2380" b="2380"/>
          <a:stretch>
            <a:fillRect/>
          </a:stretch>
        </p:blipFill>
        <p:spPr>
          <a:xfrm>
            <a:off x="5878767" y="881787"/>
            <a:ext cx="4979733" cy="2489889"/>
          </a:xfrm>
          <a:prstGeom prst="roundRect">
            <a:avLst>
              <a:gd name="adj" fmla="val 8000"/>
            </a:avLst>
          </a:prstGeom>
          <a:noFill/>
          <a:ln w="25400" cap="flat" cmpd="sng">
            <a:solidFill>
              <a:srgbClr val="FFFFFF">
                <a:alpha val="90000"/>
              </a:srgbClr>
            </a:solidFill>
            <a:prstDash val="solid"/>
            <a:round/>
          </a:ln>
          <a:effectLst>
            <a:outerShdw blurRad="127000" dist="50800" dir="2700000" algn="tl" rotWithShape="0">
              <a:srgbClr val="000000">
                <a:alpha val="10000"/>
              </a:srgbClr>
            </a:outerShdw>
          </a:effectLst>
        </p:spPr>
      </p:pic>
      <p:sp>
        <p:nvSpPr>
          <p:cNvPr id="15" name="AutoShape 15"/>
          <p:cNvSpPr/>
          <p:nvPr/>
        </p:nvSpPr>
        <p:spPr>
          <a:xfrm>
            <a:off x="4826000" y="3775032"/>
            <a:ext cx="2349500" cy="2095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89749" y="3965532"/>
            <a:ext cx="355600" cy="355600"/>
          </a:xfrm>
          <a:prstGeom prst="rect">
            <a:avLst/>
          </a:prstGeom>
        </p:spPr>
      </p:pic>
      <p:sp>
        <p:nvSpPr>
          <p:cNvPr id="17" name="AutoShape 17"/>
          <p:cNvSpPr/>
          <p:nvPr/>
        </p:nvSpPr>
        <p:spPr>
          <a:xfrm>
            <a:off x="5016500" y="4422306"/>
            <a:ext cx="1968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1F2937"/>
                </a:solidFill>
                <a:latin typeface="SimHei"/>
                <a:ea typeface="SimHei"/>
                <a:cs typeface="SimHei"/>
                <a:sym typeface="SimHei"/>
              </a:rPr>
              <a:t>GUI </a:t>
            </a:r>
            <a:r>
              <a:rPr lang="en-US" sz="1600" b="1" i="0" u="none" strike="noStrike" dirty="0" err="1">
                <a:solidFill>
                  <a:srgbClr val="1F2937"/>
                </a:solidFill>
                <a:latin typeface="SimHei"/>
                <a:ea typeface="SimHei"/>
                <a:cs typeface="SimHei"/>
                <a:sym typeface="SimHei"/>
              </a:rPr>
              <a:t>实时监控面板</a:t>
            </a:r>
            <a:endParaRPr lang="en-US" sz="1200" dirty="0"/>
          </a:p>
          <a:p>
            <a:pPr marL="0" indent="0" algn="l">
              <a:lnSpc>
                <a:spcPct val="116666"/>
              </a:lnSpc>
            </a:pPr>
            <a:r>
              <a:rPr lang="en-US" b="0" i="0" u="none" strike="noStrike" dirty="0" err="1">
                <a:solidFill>
                  <a:srgbClr val="4B5563"/>
                </a:solidFill>
                <a:latin typeface="SimHei"/>
                <a:ea typeface="SimHei"/>
                <a:cs typeface="SimHei"/>
                <a:sym typeface="SimHei"/>
              </a:rPr>
              <a:t>开发可视化交互界面，动态呈现功率曲线、频率仪表及场景状态，打造“一眼即清”的智能运维窗口</a:t>
            </a:r>
            <a:r>
              <a:rPr lang="en-US" b="0" i="0" u="none" strike="noStrike" dirty="0">
                <a:solidFill>
                  <a:srgbClr val="4B5563"/>
                </a:solidFill>
                <a:latin typeface="SimHei"/>
                <a:ea typeface="SimHei"/>
                <a:cs typeface="SimHei"/>
                <a:sym typeface="SimHei"/>
              </a:rPr>
              <a:t>。</a:t>
            </a:r>
          </a:p>
        </p:txBody>
      </p:sp>
      <p:sp>
        <p:nvSpPr>
          <p:cNvPr id="18" name="AutoShape 18"/>
          <p:cNvSpPr/>
          <p:nvPr/>
        </p:nvSpPr>
        <p:spPr>
          <a:xfrm>
            <a:off x="7264400" y="3775032"/>
            <a:ext cx="2349500" cy="2095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28149" y="3965532"/>
            <a:ext cx="355600" cy="355600"/>
          </a:xfrm>
          <a:prstGeom prst="rect">
            <a:avLst/>
          </a:prstGeom>
        </p:spPr>
      </p:pic>
      <p:sp>
        <p:nvSpPr>
          <p:cNvPr id="20" name="AutoShape 20"/>
          <p:cNvSpPr/>
          <p:nvPr/>
        </p:nvSpPr>
        <p:spPr>
          <a:xfrm>
            <a:off x="7454900" y="4305703"/>
            <a:ext cx="1968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err="1">
                <a:solidFill>
                  <a:srgbClr val="1F2937"/>
                </a:solidFill>
                <a:latin typeface="SimHei"/>
                <a:ea typeface="SimHei"/>
                <a:cs typeface="SimHei"/>
                <a:sym typeface="SimHei"/>
              </a:rPr>
              <a:t>极限故障注入测试</a:t>
            </a:r>
            <a:endParaRPr lang="en-US" sz="1200" dirty="0"/>
          </a:p>
          <a:p>
            <a:pPr marL="0" indent="0" algn="l">
              <a:lnSpc>
                <a:spcPct val="116666"/>
              </a:lnSpc>
            </a:pPr>
            <a:r>
              <a:rPr lang="en-US" b="0" i="0" u="none" strike="noStrike" dirty="0" err="1">
                <a:solidFill>
                  <a:srgbClr val="4B5563"/>
                </a:solidFill>
                <a:latin typeface="SimHei"/>
                <a:ea typeface="SimHei"/>
                <a:cs typeface="SimHei"/>
                <a:sym typeface="SimHei"/>
              </a:rPr>
              <a:t>模拟通信中断、频率骤变等极端工况，全方位验证系统在复杂扰动下的鲁棒性与自愈恢复能力</a:t>
            </a:r>
            <a:r>
              <a:rPr lang="en-US" b="0" i="0" u="none" strike="noStrike" dirty="0">
                <a:solidFill>
                  <a:srgbClr val="4B5563"/>
                </a:solidFill>
                <a:latin typeface="SimHei"/>
                <a:ea typeface="SimHei"/>
                <a:cs typeface="SimHei"/>
                <a:sym typeface="SimHei"/>
              </a:rPr>
              <a:t>。</a:t>
            </a:r>
          </a:p>
        </p:txBody>
      </p:sp>
      <p:sp>
        <p:nvSpPr>
          <p:cNvPr id="21" name="AutoShape 21"/>
          <p:cNvSpPr/>
          <p:nvPr/>
        </p:nvSpPr>
        <p:spPr>
          <a:xfrm>
            <a:off x="9702800" y="3775032"/>
            <a:ext cx="2349500" cy="2095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6549" y="3965532"/>
            <a:ext cx="355600" cy="355600"/>
          </a:xfrm>
          <a:prstGeom prst="rect">
            <a:avLst/>
          </a:prstGeom>
        </p:spPr>
      </p:pic>
      <p:sp>
        <p:nvSpPr>
          <p:cNvPr id="23" name="AutoShape 23"/>
          <p:cNvSpPr/>
          <p:nvPr/>
        </p:nvSpPr>
        <p:spPr>
          <a:xfrm>
            <a:off x="9893300" y="4305703"/>
            <a:ext cx="1968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err="1">
                <a:solidFill>
                  <a:srgbClr val="1F2937"/>
                </a:solidFill>
                <a:latin typeface="SimHei"/>
                <a:ea typeface="SimHei"/>
                <a:cs typeface="SimHei"/>
                <a:sym typeface="SimHei"/>
              </a:rPr>
              <a:t>多场景并行仿真</a:t>
            </a:r>
            <a:endParaRPr lang="en-US" sz="1200" dirty="0"/>
          </a:p>
          <a:p>
            <a:pPr marL="0" indent="0" algn="l">
              <a:lnSpc>
                <a:spcPct val="116666"/>
              </a:lnSpc>
            </a:pPr>
            <a:r>
              <a:rPr lang="en-US" b="0" i="0" u="none" strike="noStrike" dirty="0" err="1">
                <a:solidFill>
                  <a:srgbClr val="4B5563"/>
                </a:solidFill>
                <a:latin typeface="SimHei"/>
                <a:ea typeface="SimHei"/>
                <a:cs typeface="SimHei"/>
                <a:sym typeface="SimHei"/>
              </a:rPr>
              <a:t>突破单场景运行限制，探索多场景协同调度机制，为复杂电网环境下的智能控制策略提供支撑</a:t>
            </a:r>
            <a:r>
              <a:rPr lang="en-US" b="0" i="0" u="none" strike="noStrike" dirty="0">
                <a:solidFill>
                  <a:srgbClr val="4B5563"/>
                </a:solidFill>
                <a:latin typeface="SimHei"/>
                <a:ea typeface="SimHei"/>
                <a:cs typeface="SimHei"/>
                <a:sym typeface="SimHei"/>
              </a:rPr>
              <a:t>。</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1970</Words>
  <Application>Microsoft Office PowerPoint</Application>
  <PresentationFormat>宽屏</PresentationFormat>
  <Paragraphs>261</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12</vt:i4>
      </vt:variant>
    </vt:vector>
  </HeadingPairs>
  <TitlesOfParts>
    <vt:vector size="17" baseType="lpstr">
      <vt:lpstr>黑体</vt:lpstr>
      <vt:lpstr>黑体</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 KUN</cp:lastModifiedBy>
  <cp:revision>9</cp:revision>
  <dcterms:modified xsi:type="dcterms:W3CDTF">2026-07-27T15:53:42Z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{"Label":"1","ContentProducer":"001191110102MACQD9K64010000","ProduceID":"7667130922898230252","ReservedCode1":"","ContentPropagator":"","PropagateID":"","ReservedCode2":""}</vt:lpwstr>
  </property>
</Properties>
</file>